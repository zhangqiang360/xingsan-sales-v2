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4" r:id="rId1"/>
    <p:sldMasterId id="2147483657" r:id="rId2"/>
  </p:sldMasterIdLst>
  <p:notesMasterIdLst>
    <p:notesMasterId r:id="rId36"/>
  </p:notesMasterIdLst>
  <p:handoutMasterIdLst>
    <p:handoutMasterId r:id="rId37"/>
  </p:handoutMasterIdLst>
  <p:sldIdLst>
    <p:sldId id="1349" r:id="rId3"/>
    <p:sldId id="1332" r:id="rId4"/>
    <p:sldId id="1389" r:id="rId5"/>
    <p:sldId id="1351" r:id="rId6"/>
    <p:sldId id="1352" r:id="rId7"/>
    <p:sldId id="1353" r:id="rId8"/>
    <p:sldId id="1356" r:id="rId9"/>
    <p:sldId id="1358" r:id="rId10"/>
    <p:sldId id="1333" r:id="rId11"/>
    <p:sldId id="1362" r:id="rId12"/>
    <p:sldId id="1360" r:id="rId13"/>
    <p:sldId id="1363" r:id="rId14"/>
    <p:sldId id="1364" r:id="rId15"/>
    <p:sldId id="1365" r:id="rId16"/>
    <p:sldId id="1368" r:id="rId17"/>
    <p:sldId id="1370" r:id="rId18"/>
    <p:sldId id="1371" r:id="rId19"/>
    <p:sldId id="1369" r:id="rId20"/>
    <p:sldId id="1372" r:id="rId21"/>
    <p:sldId id="1334" r:id="rId22"/>
    <p:sldId id="1373" r:id="rId23"/>
    <p:sldId id="1374" r:id="rId24"/>
    <p:sldId id="1375" r:id="rId25"/>
    <p:sldId id="1377" r:id="rId26"/>
    <p:sldId id="1379" r:id="rId27"/>
    <p:sldId id="1378" r:id="rId28"/>
    <p:sldId id="1380" r:id="rId29"/>
    <p:sldId id="1381" r:id="rId30"/>
    <p:sldId id="1382" r:id="rId31"/>
    <p:sldId id="1385" r:id="rId32"/>
    <p:sldId id="1386" r:id="rId33"/>
    <p:sldId id="1387" r:id="rId34"/>
    <p:sldId id="1388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8C5B"/>
    <a:srgbClr val="548B5B"/>
    <a:srgbClr val="4E81B6"/>
    <a:srgbClr val="132C85"/>
    <a:srgbClr val="122C86"/>
    <a:srgbClr val="FFFFFF"/>
    <a:srgbClr val="313131"/>
    <a:srgbClr val="FCD215"/>
    <a:srgbClr val="FEE637"/>
    <a:srgbClr val="333E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45" autoAdjust="0"/>
    <p:restoredTop sz="96405"/>
  </p:normalViewPr>
  <p:slideViewPr>
    <p:cSldViewPr snapToGrid="0">
      <p:cViewPr varScale="1">
        <p:scale>
          <a:sx n="67" d="100"/>
          <a:sy n="67" d="100"/>
        </p:scale>
        <p:origin x="6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126" d="100"/>
          <a:sy n="126" d="100"/>
        </p:scale>
        <p:origin x="2824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EE2A180-9FFD-C344-F48F-0D3C550E0D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8B99BA-D297-758E-8AB2-BEC81F8F93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4D2DA2-9374-114E-A97F-35EE9D4C8980}" type="datetimeFigureOut">
              <a:rPr kumimoji="1" lang="zh-CN" altLang="en-US" smtClean="0"/>
              <a:t>2025/6/11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D62D9E6-D2B4-4A38-7B80-0AD99BEC455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14C7F78-51C7-DB8A-E140-D393C48343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CC3339-C6D8-1247-988F-35301621139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391969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8D64EC-A23C-F149-9FED-1D5D1C07941E}" type="datetimeFigureOut">
              <a:rPr kumimoji="1" lang="zh-CN" altLang="en-US" smtClean="0"/>
              <a:t>2025/6/11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C0FCA4-1C8F-2A43-8B24-F92CA1456C1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82070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4D50E7-40AC-41D2-B743-C60EE86BC1B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1045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4D50E7-40AC-41D2-B743-C60EE86BC1B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46586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4D50E7-40AC-41D2-B743-C60EE86BC1B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96694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4D50E7-40AC-41D2-B743-C60EE86BC1B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3630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4D50E7-40AC-41D2-B743-C60EE86BC1B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15979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4D50E7-40AC-41D2-B743-C60EE86BC1B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charset="-122"/>
                <a:cs typeface="+mn-cs"/>
              </a:r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38000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4D50E7-40AC-41D2-B743-C60EE86BC1B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charset="-122"/>
                <a:cs typeface="+mn-cs"/>
              </a:r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79068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4D50E7-40AC-41D2-B743-C60EE86BC1B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charset="-122"/>
                <a:cs typeface="+mn-cs"/>
              </a:r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04532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4D50E7-40AC-41D2-B743-C60EE86BC1B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charset="-122"/>
                <a:cs typeface="+mn-cs"/>
              </a:r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72776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4D50E7-40AC-41D2-B743-C60EE86BC1B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charset="-122"/>
                <a:cs typeface="+mn-cs"/>
              </a:r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82677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4D50E7-40AC-41D2-B743-C60EE86BC1B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charset="-122"/>
                <a:cs typeface="+mn-cs"/>
              </a:r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96724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4D50E7-40AC-41D2-B743-C60EE86BC1B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charset="-122"/>
                <a:cs typeface="+mn-cs"/>
              </a:r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52644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4D50E7-40AC-41D2-B743-C60EE86BC1B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charset="-122"/>
                <a:cs typeface="+mn-cs"/>
              </a:r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49898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4D50E7-40AC-41D2-B743-C60EE86BC1B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charset="-122"/>
                <a:cs typeface="+mn-cs"/>
              </a:r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96900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4D50E7-40AC-41D2-B743-C60EE86BC1B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charset="-122"/>
                <a:cs typeface="+mn-cs"/>
              </a:r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55384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4D50E7-40AC-41D2-B743-C60EE86BC1B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charset="-122"/>
                <a:cs typeface="+mn-cs"/>
              </a:r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12783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4D50E7-40AC-41D2-B743-C60EE86BC1B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charset="-122"/>
                <a:cs typeface="+mn-cs"/>
              </a:r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60065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4D50E7-40AC-41D2-B743-C60EE86BC1B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charset="-122"/>
                <a:cs typeface="+mn-cs"/>
              </a:rPr>
              <a:t>25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94188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4D50E7-40AC-41D2-B743-C60EE86BC1B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charset="-122"/>
                <a:cs typeface="+mn-cs"/>
              </a:r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69669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4D50E7-40AC-41D2-B743-C60EE86BC1B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charset="-122"/>
                <a:cs typeface="+mn-cs"/>
              </a:rPr>
              <a:t>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5681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4D50E7-40AC-41D2-B743-C60EE86BC1B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charset="-122"/>
                <a:cs typeface="+mn-cs"/>
              </a:rPr>
              <a:t>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26887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E4D50E7-40AC-41D2-B743-C60EE86BC1B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charset="-122"/>
                <a:cs typeface="+mn-cs"/>
              </a:rPr>
              <a:t>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1260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9956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590377-9AEB-323B-C307-F64E9A98B98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40488" y="304272"/>
            <a:ext cx="6510815" cy="253980"/>
          </a:xfrm>
          <a:noFill/>
        </p:spPr>
        <p:txBody>
          <a:bodyPr vert="horz" wrap="square" lIns="0" tIns="0" rIns="0" bIns="0" rtlCol="0" anchor="ctr">
            <a:spAutoFit/>
          </a:bodyPr>
          <a:lstStyle>
            <a:lvl1pPr>
              <a:defRPr lang="zh-CN" altLang="en-US" dirty="0"/>
            </a:lvl1pPr>
          </a:lstStyle>
          <a:p>
            <a:pPr marL="0" lvl="0"/>
            <a:r>
              <a:rPr kumimoji="1" lang="zh-CN" altLang="en-US" dirty="0"/>
              <a:t>单击此处编辑标题样式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5A386BC-38E5-2313-E8C7-95CEAF5644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40488" y="581209"/>
            <a:ext cx="2786955" cy="1384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kumimoji="0" lang="zh-CN" altLang="en-US" sz="900" u="none" strike="noStrike" cap="all" spc="0" normalizeH="0">
                <a:ln>
                  <a:noFill/>
                </a:ln>
                <a:effectLst/>
                <a:uLnTx/>
                <a:uFillTx/>
                <a:latin typeface="OPPOSans M" pitchFamily="18" charset="-122"/>
                <a:ea typeface="OPPOSans M" pitchFamily="18" charset="-122"/>
                <a:cs typeface="OPPOSans M" pitchFamily="18" charset="-122"/>
              </a:defRPr>
            </a:lvl1pPr>
          </a:lstStyle>
          <a:p>
            <a:r>
              <a:rPr lang="en-US" altLang="zh-CN" dirty="0"/>
              <a:t>Current problems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DC5235-DA08-4430-F922-C891D2B74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6015" y="270311"/>
            <a:ext cx="1005688" cy="5232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>
              <a:defRPr lang="en-US" altLang="zh-CN" sz="34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en-US" altLang="zh-CN" dirty="0"/>
              <a:t>001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729988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4865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590377-9AEB-323B-C307-F64E9A98B98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40488" y="304272"/>
            <a:ext cx="6510815" cy="253980"/>
          </a:xfrm>
          <a:noFill/>
        </p:spPr>
        <p:txBody>
          <a:bodyPr vert="horz" wrap="square" lIns="0" tIns="0" rIns="0" bIns="0" rtlCol="0" anchor="ctr">
            <a:spAutoFit/>
          </a:bodyPr>
          <a:lstStyle>
            <a:lvl1pPr>
              <a:defRPr lang="zh-CN" altLang="en-US" dirty="0"/>
            </a:lvl1pPr>
          </a:lstStyle>
          <a:p>
            <a:pPr marL="0" lvl="0"/>
            <a:r>
              <a:rPr kumimoji="1" lang="zh-CN" altLang="en-US" dirty="0"/>
              <a:t>单击此处编辑标题样式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5A386BC-38E5-2313-E8C7-95CEAF5644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40488" y="581209"/>
            <a:ext cx="2786955" cy="1384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kumimoji="0" lang="zh-CN" altLang="en-US" sz="900" u="none" strike="noStrike" cap="all" spc="0" normalizeH="0">
                <a:ln>
                  <a:noFill/>
                </a:ln>
                <a:effectLst/>
                <a:uLnTx/>
                <a:uFillTx/>
                <a:latin typeface="OPPOSans M" pitchFamily="18" charset="-122"/>
                <a:ea typeface="OPPOSans M" pitchFamily="18" charset="-122"/>
                <a:cs typeface="OPPOSans M" pitchFamily="18" charset="-122"/>
              </a:defRPr>
            </a:lvl1pPr>
          </a:lstStyle>
          <a:p>
            <a:r>
              <a:rPr lang="en-US" altLang="zh-CN" dirty="0"/>
              <a:t>Current problems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DC5235-DA08-4430-F922-C891D2B74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6015" y="270311"/>
            <a:ext cx="1005688" cy="5232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>
              <a:defRPr lang="en-US" altLang="zh-CN" sz="34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en-US" altLang="zh-CN" dirty="0"/>
              <a:t>001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57688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0365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9404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2668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A900F78-C588-FF3C-AFC1-6D6EF98DA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7580" y="1327101"/>
            <a:ext cx="9896220" cy="2539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0" lvl="0"/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EB6040-422D-FE12-00C5-ACF7666CB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03A4F6EB-4857-6061-DE16-376C68F32C26}"/>
              </a:ext>
            </a:extLst>
          </p:cNvPr>
          <p:cNvCxnSpPr>
            <a:cxnSpLocks/>
          </p:cNvCxnSpPr>
          <p:nvPr/>
        </p:nvCxnSpPr>
        <p:spPr>
          <a:xfrm>
            <a:off x="369165" y="839204"/>
            <a:ext cx="114598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E3E753F3-6570-0954-6CBB-21B0B59DE84B}"/>
              </a:ext>
            </a:extLst>
          </p:cNvPr>
          <p:cNvCxnSpPr>
            <a:cxnSpLocks/>
          </p:cNvCxnSpPr>
          <p:nvPr userDrawn="1"/>
        </p:nvCxnSpPr>
        <p:spPr>
          <a:xfrm>
            <a:off x="369165" y="839204"/>
            <a:ext cx="1145984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31">
            <a:extLst>
              <a:ext uri="{FF2B5EF4-FFF2-40B4-BE49-F238E27FC236}">
                <a16:creationId xmlns:a16="http://schemas.microsoft.com/office/drawing/2014/main" id="{5FBD1CE9-F817-295E-694D-09117882D8D2}"/>
              </a:ext>
            </a:extLst>
          </p:cNvPr>
          <p:cNvSpPr/>
          <p:nvPr userDrawn="1"/>
        </p:nvSpPr>
        <p:spPr>
          <a:xfrm rot="2700000">
            <a:off x="10779267" y="627238"/>
            <a:ext cx="61680" cy="61680"/>
          </a:xfrm>
          <a:custGeom>
            <a:avLst/>
            <a:gdLst>
              <a:gd name="connsiteX0" fmla="*/ 0 w 1017355"/>
              <a:gd name="connsiteY0" fmla="*/ 0 h 1017355"/>
              <a:gd name="connsiteX1" fmla="*/ 1017355 w 1017355"/>
              <a:gd name="connsiteY1" fmla="*/ 0 h 1017355"/>
              <a:gd name="connsiteX2" fmla="*/ 1017355 w 1017355"/>
              <a:gd name="connsiteY2" fmla="*/ 1017355 h 1017355"/>
              <a:gd name="connsiteX3" fmla="*/ 0 w 1017355"/>
              <a:gd name="connsiteY3" fmla="*/ 1017355 h 1017355"/>
              <a:gd name="connsiteX4" fmla="*/ 0 w 1017355"/>
              <a:gd name="connsiteY4" fmla="*/ 0 h 1017355"/>
              <a:gd name="connsiteX0" fmla="*/ 0 w 1017355"/>
              <a:gd name="connsiteY0" fmla="*/ 1017355 h 1108795"/>
              <a:gd name="connsiteX1" fmla="*/ 0 w 1017355"/>
              <a:gd name="connsiteY1" fmla="*/ 0 h 1108795"/>
              <a:gd name="connsiteX2" fmla="*/ 1017355 w 1017355"/>
              <a:gd name="connsiteY2" fmla="*/ 0 h 1108795"/>
              <a:gd name="connsiteX3" fmla="*/ 1017355 w 1017355"/>
              <a:gd name="connsiteY3" fmla="*/ 1017355 h 1108795"/>
              <a:gd name="connsiteX4" fmla="*/ 91440 w 1017355"/>
              <a:gd name="connsiteY4" fmla="*/ 1108795 h 1108795"/>
              <a:gd name="connsiteX0" fmla="*/ 0 w 1017355"/>
              <a:gd name="connsiteY0" fmla="*/ 1017355 h 1017355"/>
              <a:gd name="connsiteX1" fmla="*/ 0 w 1017355"/>
              <a:gd name="connsiteY1" fmla="*/ 0 h 1017355"/>
              <a:gd name="connsiteX2" fmla="*/ 1017355 w 1017355"/>
              <a:gd name="connsiteY2" fmla="*/ 0 h 1017355"/>
              <a:gd name="connsiteX3" fmla="*/ 1017355 w 1017355"/>
              <a:gd name="connsiteY3" fmla="*/ 1017355 h 1017355"/>
              <a:gd name="connsiteX0" fmla="*/ 0 w 1017355"/>
              <a:gd name="connsiteY0" fmla="*/ 0 h 1017355"/>
              <a:gd name="connsiteX1" fmla="*/ 1017355 w 1017355"/>
              <a:gd name="connsiteY1" fmla="*/ 0 h 1017355"/>
              <a:gd name="connsiteX2" fmla="*/ 1017355 w 1017355"/>
              <a:gd name="connsiteY2" fmla="*/ 1017355 h 1017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7355" h="1017355">
                <a:moveTo>
                  <a:pt x="0" y="0"/>
                </a:moveTo>
                <a:lnTo>
                  <a:pt x="1017355" y="0"/>
                </a:lnTo>
                <a:lnTo>
                  <a:pt x="1017355" y="1017355"/>
                </a:lnTo>
              </a:path>
            </a:pathLst>
          </a:custGeom>
          <a:noFill/>
          <a:ln w="19050" cap="rnd">
            <a:solidFill>
              <a:schemeClr val="bg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2"/>
              </a:solidFill>
            </a:endParaRPr>
          </a:p>
        </p:txBody>
      </p:sp>
      <p:pic>
        <p:nvPicPr>
          <p:cNvPr id="11" name="图片 10" descr="营销学苑-单色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100300" y="-72390"/>
            <a:ext cx="2645498" cy="1240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9715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0" r:id="rId3"/>
    <p:sldLayoutId id="2147483649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lang="zh-CN" altLang="en-US" sz="1800" kern="1200" smtClean="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4088">
          <p15:clr>
            <a:srgbClr val="F26B43"/>
          </p15:clr>
        </p15:guide>
        <p15:guide id="2" pos="234">
          <p15:clr>
            <a:srgbClr val="F26B43"/>
          </p15:clr>
        </p15:guide>
        <p15:guide id="3" pos="744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766646" y="2993573"/>
            <a:ext cx="7563060" cy="2325355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marL="990575" lvl="1" indent="-380990" algn="l" defTabSz="609585">
              <a:spcBef>
                <a:spcPct val="20000"/>
              </a:spcBef>
              <a:buFont typeface="Arial" panose="020B0604020202020204"/>
              <a:buChar char="–"/>
            </a:pPr>
            <a:r>
              <a:rPr lang="zh-CN"/>
              <a:t>二级</a:t>
            </a:r>
          </a:p>
          <a:p>
            <a:pPr lvl="2"/>
            <a:r>
              <a:rPr lang="zh-CN"/>
              <a:t>三级</a:t>
            </a:r>
          </a:p>
          <a:p>
            <a:pPr lvl="3"/>
            <a:r>
              <a:rPr lang="zh-CN"/>
              <a:t>四级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1" y="4213707"/>
            <a:ext cx="12292553" cy="2647139"/>
          </a:xfrm>
          <a:prstGeom prst="rect">
            <a:avLst/>
          </a:prstGeom>
        </p:spPr>
      </p:pic>
      <p:pic>
        <p:nvPicPr>
          <p:cNvPr id="5" name="图片 4" descr="营销学苑-单色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60680" y="0"/>
            <a:ext cx="2481580" cy="1240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402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xStyles>
    <p:titleStyle>
      <a:lvl1pPr lvl="0" algn="ctr" defTabSz="609585">
        <a:spcBef>
          <a:spcPct val="0"/>
        </a:spcBef>
        <a:buNone/>
        <a:defRPr sz="5867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1pPr>
    </p:titleStyle>
    <p:bodyStyle>
      <a:lvl1pPr marL="457189" lvl="0" indent="-457189" algn="l" defTabSz="609585">
        <a:spcBef>
          <a:spcPct val="20000"/>
        </a:spcBef>
        <a:buFont typeface="Arial" panose="020B0604020202020204"/>
        <a:buChar char="•"/>
        <a:defRPr sz="3733" kern="1200">
          <a:solidFill>
            <a:schemeClr val="bg1"/>
          </a:solidFill>
          <a:latin typeface="方正兰亭粗黑简体"/>
          <a:ea typeface="方正兰亭粗黑简体"/>
        </a:defRPr>
      </a:lvl1pPr>
      <a:lvl2pPr marL="990575" lvl="1" indent="-380990" algn="l" defTabSz="609585">
        <a:spcBef>
          <a:spcPct val="20000"/>
        </a:spcBef>
        <a:buFont typeface="Arial" panose="020B0604020202020204"/>
        <a:buChar char="–"/>
        <a:defRPr lang="zh-CN" sz="2667" kern="1200">
          <a:solidFill>
            <a:schemeClr val="bg1"/>
          </a:solidFill>
          <a:latin typeface="方正兰亭粗黑简体"/>
          <a:ea typeface="方正兰亭粗黑简体"/>
        </a:defRPr>
      </a:lvl2pPr>
      <a:lvl3pPr marL="1523962" lvl="2" indent="-304792" algn="l" defTabSz="609585">
        <a:spcBef>
          <a:spcPct val="20000"/>
        </a:spcBef>
        <a:buFont typeface="Arial" panose="020B0604020202020204"/>
        <a:buChar char="•"/>
        <a:defRPr sz="2133" kern="1200">
          <a:solidFill>
            <a:schemeClr val="bg1"/>
          </a:solidFill>
          <a:latin typeface="方正兰亭粗黑简体"/>
          <a:ea typeface="方正兰亭粗黑简体"/>
        </a:defRPr>
      </a:lvl3pPr>
      <a:lvl4pPr marL="2133547" lvl="3" indent="-304792" algn="l" defTabSz="609585">
        <a:spcBef>
          <a:spcPct val="20000"/>
        </a:spcBef>
        <a:buFont typeface="Arial" panose="020B0604020202020204"/>
        <a:buChar char="–"/>
        <a:defRPr sz="1600" kern="1200">
          <a:solidFill>
            <a:schemeClr val="bg1"/>
          </a:solidFill>
          <a:latin typeface="方正兰亭粗黑简体"/>
          <a:ea typeface="方正兰亭粗黑简体"/>
        </a:defRPr>
      </a:lvl4pPr>
      <a:lvl5pPr marL="2743131" lvl="4" indent="-304792" algn="l" defTabSz="609585">
        <a:spcBef>
          <a:spcPct val="20000"/>
        </a:spcBef>
        <a:buFont typeface="Arial" panose="020B0604020202020204"/>
        <a:buChar char="»"/>
        <a:defRPr sz="2667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5pPr>
      <a:lvl6pPr marL="3352716" lvl="5" indent="-304792" algn="l" defTabSz="609585">
        <a:spcBef>
          <a:spcPct val="20000"/>
        </a:spcBef>
        <a:buFont typeface="Arial" panose="020B0604020202020204"/>
        <a:buChar char="•"/>
        <a:defRPr sz="2667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6pPr>
      <a:lvl7pPr marL="3962301" lvl="6" indent="-304792" algn="l" defTabSz="609585">
        <a:spcBef>
          <a:spcPct val="20000"/>
        </a:spcBef>
        <a:buFont typeface="Arial" panose="020B0604020202020204"/>
        <a:buChar char="•"/>
        <a:defRPr sz="2667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7pPr>
      <a:lvl8pPr marL="4571886" lvl="7" indent="-304792" algn="l" defTabSz="609585">
        <a:spcBef>
          <a:spcPct val="20000"/>
        </a:spcBef>
        <a:buFont typeface="Arial" panose="020B0604020202020204"/>
        <a:buChar char="•"/>
        <a:defRPr sz="2667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8pPr>
      <a:lvl9pPr marL="5181470" lvl="8" indent="-304792" algn="l" defTabSz="609585">
        <a:spcBef>
          <a:spcPct val="20000"/>
        </a:spcBef>
        <a:buFont typeface="Arial" panose="020B0604020202020204"/>
        <a:buChar char="•"/>
        <a:defRPr sz="2667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9pPr>
    </p:bodyStyle>
    <p:otherStyle>
      <a:lvl1pPr marL="0" lvl="0" algn="l" defTabSz="609585">
        <a:defRPr sz="24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1pPr>
      <a:lvl2pPr marL="609585" lvl="1" algn="l" defTabSz="609585">
        <a:defRPr sz="24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2pPr>
      <a:lvl3pPr marL="1219170" lvl="2" algn="l" defTabSz="609585">
        <a:defRPr sz="24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3pPr>
      <a:lvl4pPr marL="1828754" lvl="3" algn="l" defTabSz="609585">
        <a:defRPr sz="24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4pPr>
      <a:lvl5pPr marL="2438339" lvl="4" algn="l" defTabSz="609585">
        <a:defRPr sz="24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5pPr>
      <a:lvl6pPr marL="3047924" lvl="5" algn="l" defTabSz="609585">
        <a:defRPr sz="24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6pPr>
      <a:lvl7pPr marL="3657509" lvl="6" algn="l" defTabSz="609585">
        <a:defRPr sz="24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7pPr>
      <a:lvl8pPr marL="4267093" lvl="7" algn="l" defTabSz="609585">
        <a:defRPr sz="24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8pPr>
      <a:lvl9pPr marL="4876678" lvl="8" algn="l" defTabSz="609585">
        <a:defRPr sz="24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pifox.coxxxxxxxxxxxx5c3f6b45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qq.com/sheet/DQlNhbWFJSExqcmhz?tab=vcvz6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mailto:31XXX@qq.com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1652270" y="1901190"/>
            <a:ext cx="888746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8000" b="1" dirty="0" smtClean="0">
                <a:latin typeface="360 守护体" panose="02000500000000000000" pitchFamily="50" charset="-122"/>
                <a:ea typeface="360 守护体" panose="02000500000000000000" pitchFamily="50" charset="-122"/>
              </a:rPr>
              <a:t>如何正确提工单</a:t>
            </a:r>
            <a:endParaRPr lang="zh-CN" altLang="en-US" sz="8000" b="1" dirty="0" smtClean="0">
              <a:latin typeface="360 守护体" panose="02000500000000000000" pitchFamily="50" charset="-122"/>
              <a:ea typeface="360 守护体" panose="02000500000000000000" pitchFamily="50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360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初级认证系列课程</a:t>
            </a:r>
            <a:endParaRPr lang="en-US" altLang="zh-CN" sz="3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76791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158" y="1072692"/>
            <a:ext cx="7053683" cy="471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624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17ABDA7-73D5-43B7-DD73-48E035B48323}"/>
              </a:ext>
            </a:extLst>
          </p:cNvPr>
          <p:cNvSpPr txBox="1"/>
          <p:nvPr/>
        </p:nvSpPr>
        <p:spPr>
          <a:xfrm>
            <a:off x="4194496" y="1192057"/>
            <a:ext cx="32381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000" dirty="0">
                <a:ea typeface="微软雅黑" panose="020B0503020204020204" pitchFamily="34" charset="-122"/>
              </a:rPr>
              <a:t>产品需求类型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19B49BD-0AD7-2D37-B5DF-884CBA0855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8366612"/>
              </p:ext>
            </p:extLst>
          </p:nvPr>
        </p:nvGraphicFramePr>
        <p:xfrm>
          <a:off x="1133562" y="2060517"/>
          <a:ext cx="9924876" cy="33615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8292">
                  <a:extLst>
                    <a:ext uri="{9D8B030D-6E8A-4147-A177-3AD203B41FA5}">
                      <a16:colId xmlns:a16="http://schemas.microsoft.com/office/drawing/2014/main" val="4061455078"/>
                    </a:ext>
                  </a:extLst>
                </a:gridCol>
                <a:gridCol w="3308292">
                  <a:extLst>
                    <a:ext uri="{9D8B030D-6E8A-4147-A177-3AD203B41FA5}">
                      <a16:colId xmlns:a16="http://schemas.microsoft.com/office/drawing/2014/main" val="1670978778"/>
                    </a:ext>
                  </a:extLst>
                </a:gridCol>
                <a:gridCol w="3308292">
                  <a:extLst>
                    <a:ext uri="{9D8B030D-6E8A-4147-A177-3AD203B41FA5}">
                      <a16:colId xmlns:a16="http://schemas.microsoft.com/office/drawing/2014/main" val="800570822"/>
                    </a:ext>
                  </a:extLst>
                </a:gridCol>
              </a:tblGrid>
              <a:tr h="587906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dirty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</a:t>
                      </a:r>
                      <a:r>
                        <a:rPr lang="zh-CN" altLang="en-US" sz="1600" b="0" dirty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非常规需求</a:t>
                      </a:r>
                      <a:endParaRPr lang="en-US" altLang="zh-CN" sz="1600" b="0" dirty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/>
                      <a:r>
                        <a:rPr lang="zh-CN" altLang="en-US" sz="1600" b="0" dirty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  工单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81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dirty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02</a:t>
                      </a:r>
                      <a:r>
                        <a:rPr lang="zh-CN" altLang="en-US" sz="1600" b="0" dirty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开通类</a:t>
                      </a:r>
                      <a:endParaRPr lang="en-US" altLang="zh-CN" sz="1600" b="0" dirty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/>
                      <a:r>
                        <a:rPr lang="zh-CN" altLang="en-US" sz="1600" b="0" dirty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工单</a:t>
                      </a:r>
                      <a:r>
                        <a:rPr lang="en-US" altLang="zh-CN" sz="1600" b="0" dirty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600" b="0" dirty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文档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81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dirty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03</a:t>
                      </a:r>
                      <a:r>
                        <a:rPr lang="zh-CN" altLang="en-US" sz="1600" b="0" dirty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下线类  </a:t>
                      </a:r>
                      <a:endParaRPr lang="en-US" altLang="zh-CN" sz="1600" b="0" dirty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/>
                      <a:r>
                        <a:rPr lang="zh-CN" altLang="en-US" sz="1600" b="0" dirty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工单</a:t>
                      </a:r>
                      <a:r>
                        <a:rPr lang="en-US" altLang="zh-CN" sz="1600" b="0" dirty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600" b="0" dirty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文档</a:t>
                      </a:r>
                      <a:endParaRPr lang="en-US" altLang="zh-CN" sz="1600" b="0" dirty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81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52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行业热词拓展</a:t>
                      </a:r>
                      <a:endParaRPr lang="en-US" altLang="zh-CN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Api</a:t>
                      </a: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对接支持</a:t>
                      </a:r>
                      <a:endParaRPr lang="en-US" altLang="zh-CN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360</a:t>
                      </a: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分析联调失败</a:t>
                      </a:r>
                      <a:endParaRPr lang="en-US" altLang="zh-CN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咨询工具联调失败</a:t>
                      </a:r>
                      <a:endParaRPr lang="en-US" altLang="zh-CN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数据支持</a:t>
                      </a:r>
                      <a:endParaRPr lang="en-US" altLang="zh-CN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endParaRPr lang="en-US" altLang="zh-CN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常规开通</a:t>
                      </a:r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工单</a:t>
                      </a:r>
                      <a:endParaRPr lang="en-US" altLang="zh-CN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超级账户</a:t>
                      </a:r>
                      <a:endParaRPr lang="en-US" altLang="zh-CN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en-US" altLang="zh-CN" sz="16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en-US" altLang="zh-CN" sz="16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常规开通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线上文档</a:t>
                      </a:r>
                      <a:endParaRPr lang="en-US" altLang="zh-CN" sz="16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标题</a:t>
                      </a:r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logo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品牌活动凤舞</a:t>
                      </a:r>
                      <a:endParaRPr lang="en-US" altLang="zh-CN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同台展现</a:t>
                      </a:r>
                      <a:endParaRPr lang="en-US" altLang="zh-CN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仅移动端</a:t>
                      </a:r>
                      <a:endParaRPr lang="en-US" altLang="zh-CN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移动</a:t>
                      </a:r>
                      <a:r>
                        <a:rPr lang="en-US" altLang="zh-CN" sz="1600" dirty="0" err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url</a:t>
                      </a: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加白</a:t>
                      </a:r>
                      <a:endParaRPr lang="en-US" altLang="zh-CN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账户提级 文档</a:t>
                      </a:r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邮件</a:t>
                      </a:r>
                      <a:endParaRPr lang="en-US" altLang="zh-CN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Wingdings" panose="05000000000000000000" pitchFamily="2" charset="2"/>
                        <a:buChar char="ü"/>
                      </a:pPr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常规样式下线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工单</a:t>
                      </a:r>
                      <a:endParaRPr lang="en-US" altLang="zh-CN" sz="16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智能子链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标题扩展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PC</a:t>
                      </a: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问答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移动问答</a:t>
                      </a:r>
                      <a:endParaRPr lang="en-US" altLang="zh-CN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endParaRPr lang="en-US" altLang="zh-CN" sz="16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ü"/>
                      </a:pPr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常规样式下线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文档</a:t>
                      </a:r>
                      <a:endParaRPr lang="en-US" altLang="zh-CN" sz="16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智能配图</a:t>
                      </a:r>
                      <a:endParaRPr lang="en-US" altLang="zh-CN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同台展现</a:t>
                      </a:r>
                      <a:endParaRPr lang="en-US" altLang="zh-CN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endParaRPr lang="en-US" altLang="zh-CN" sz="16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ü"/>
                      </a:pPr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特殊样式下线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264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0448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1522721" y="407271"/>
            <a:ext cx="6510815" cy="249299"/>
          </a:xfrm>
        </p:spPr>
        <p:txBody>
          <a:bodyPr/>
          <a:lstStyle/>
          <a:p>
            <a:r>
              <a:rPr kumimoji="1" lang="zh-CN" altLang="en-US" dirty="0"/>
              <a:t>非常规需求</a:t>
            </a:r>
            <a:r>
              <a:rPr kumimoji="1" lang="en-US" altLang="zh-CN" dirty="0"/>
              <a:t>  </a:t>
            </a:r>
            <a:r>
              <a:rPr kumimoji="1" lang="zh-CN" altLang="en-US" sz="1400" dirty="0"/>
              <a:t>行业热词</a:t>
            </a:r>
            <a:r>
              <a:rPr kumimoji="1" lang="en-US" altLang="zh-CN" sz="1400" dirty="0"/>
              <a:t>/</a:t>
            </a:r>
            <a:r>
              <a:rPr kumimoji="1" lang="zh-CN" altLang="en-US" sz="1400" dirty="0"/>
              <a:t>高转化词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595668" y="362643"/>
            <a:ext cx="612347" cy="33855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>
              <a:defRPr lang="en-US" altLang="zh-CN" sz="3400" smtClean="0">
                <a:solidFill>
                  <a:schemeClr val="tx2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r>
              <a:rPr kumimoji="0" lang="en-US" altLang="zh-Han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5F29582-2177-11A9-F4D6-27AA699FF592}"/>
              </a:ext>
            </a:extLst>
          </p:cNvPr>
          <p:cNvSpPr txBox="1"/>
          <p:nvPr/>
        </p:nvSpPr>
        <p:spPr>
          <a:xfrm>
            <a:off x="515742" y="1103938"/>
            <a:ext cx="8312571" cy="1347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zh-CN" sz="1200" b="1" kern="10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工单分类：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【产品需求】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【搜索推广】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支持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账户拓词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zh-CN" altLang="zh-CN" sz="1200" b="1" kern="10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工单主题：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区域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【代理商】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搜索推广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行业热词拓展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账户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ID+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一级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二级行业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示例：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华中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成都龙擎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搜索推广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行业热词拓展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1200" b="0" i="0" dirty="0">
                <a:solidFill>
                  <a:srgbClr val="6062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84xxx192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商务服务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华中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成都龙擎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搜索推广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高转化词申请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1200" b="0" i="0" dirty="0">
                <a:solidFill>
                  <a:srgbClr val="6062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84xxx192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商务服务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7C40175-BA36-50FB-3A36-3AA8E84A5B21}"/>
              </a:ext>
            </a:extLst>
          </p:cNvPr>
          <p:cNvGrpSpPr/>
          <p:nvPr/>
        </p:nvGrpSpPr>
        <p:grpSpPr>
          <a:xfrm>
            <a:off x="595668" y="2747945"/>
            <a:ext cx="4491203" cy="4166819"/>
            <a:chOff x="521160" y="4129999"/>
            <a:chExt cx="4491203" cy="2925297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5619D855-12BA-10E7-4AA6-537D66B90EE6}"/>
                </a:ext>
              </a:extLst>
            </p:cNvPr>
            <p:cNvSpPr/>
            <p:nvPr/>
          </p:nvSpPr>
          <p:spPr>
            <a:xfrm>
              <a:off x="521160" y="4256457"/>
              <a:ext cx="4491203" cy="2409035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6350">
              <a:prstDash val="dash"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F71EF8D7-38E0-9964-5985-C74002456964}"/>
                </a:ext>
              </a:extLst>
            </p:cNvPr>
            <p:cNvSpPr txBox="1"/>
            <p:nvPr/>
          </p:nvSpPr>
          <p:spPr>
            <a:xfrm>
              <a:off x="521160" y="4397596"/>
              <a:ext cx="4491203" cy="26577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、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需求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类型及描述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：</a:t>
              </a: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171450" indent="-171450">
                <a:lnSpc>
                  <a:spcPct val="200000"/>
                </a:lnSpc>
                <a:buFont typeface="Wingdings" panose="05000000000000000000" pitchFamily="2" charset="2"/>
                <a:buChar char="l"/>
              </a:pP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行业热词：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客户主营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业务，预算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，日消费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，有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XXX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消费空间；账户主要消费词：词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,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词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2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,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词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3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（用英文逗号隔开）；现申请拓展行业热词，提升消费</a:t>
              </a: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171450" indent="-171450">
                <a:lnSpc>
                  <a:spcPct val="200000"/>
                </a:lnSpc>
                <a:buFont typeface="Wingdings" panose="05000000000000000000" pitchFamily="2" charset="2"/>
                <a:buChar char="l"/>
              </a:pP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高转化词：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客户主营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业务，日消费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，账户主要消费词：词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,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词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2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,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词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3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；现申请业务高转化词，提升效果，谢谢</a:t>
              </a: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>
                <a:lnSpc>
                  <a:spcPct val="200000"/>
                </a:lnSpc>
              </a:pP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2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、补充说明必写内容</a:t>
              </a:r>
              <a:endPara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>
                <a:lnSpc>
                  <a:spcPct val="200000"/>
                </a:lnSpc>
              </a:pP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账户业务与如下竞品客户业务一致，可结合业务场景拓词：</a:t>
              </a: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客户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及网址</a:t>
              </a:r>
              <a:endPara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客户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及网址</a:t>
              </a:r>
              <a:endPara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客户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及网址</a:t>
              </a:r>
              <a:endPara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endPara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endPara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endPara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>
                <a:lnSpc>
                  <a:spcPct val="200000"/>
                </a:lnSpc>
              </a:pP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36B9A30-13A8-9CAD-5115-FFBF960E070D}"/>
                </a:ext>
              </a:extLst>
            </p:cNvPr>
            <p:cNvSpPr/>
            <p:nvPr/>
          </p:nvSpPr>
          <p:spPr>
            <a:xfrm>
              <a:off x="521160" y="4129999"/>
              <a:ext cx="1654629" cy="214097"/>
            </a:xfrm>
            <a:prstGeom prst="rect">
              <a:avLst/>
            </a:prstGeom>
            <a:solidFill>
              <a:srgbClr val="548B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 单 内 容</a:t>
              </a:r>
            </a:p>
          </p:txBody>
        </p: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3308471D-496F-B32C-B663-03082396EC82}"/>
              </a:ext>
            </a:extLst>
          </p:cNvPr>
          <p:cNvSpPr/>
          <p:nvPr/>
        </p:nvSpPr>
        <p:spPr>
          <a:xfrm>
            <a:off x="5682925" y="2900112"/>
            <a:ext cx="5638220" cy="3459411"/>
          </a:xfrm>
          <a:prstGeom prst="rect">
            <a:avLst/>
          </a:prstGeom>
          <a:solidFill>
            <a:schemeClr val="bg2">
              <a:lumMod val="95000"/>
            </a:schemeClr>
          </a:solidFill>
          <a:ln w="6350">
            <a:prstDash val="dash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BBEA868-358D-378C-A7CF-D3334A62D0A8}"/>
              </a:ext>
            </a:extLst>
          </p:cNvPr>
          <p:cNvSpPr txBox="1"/>
          <p:nvPr/>
        </p:nvSpPr>
        <p:spPr>
          <a:xfrm>
            <a:off x="5682925" y="3129113"/>
            <a:ext cx="5638220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华中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成都龙擎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搜索推广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行业热词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1000" b="0" i="0" dirty="0">
                <a:solidFill>
                  <a:srgbClr val="6062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84xxx192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商务服务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展会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0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已选模板：产品需求 </a:t>
            </a:r>
            <a:r>
              <a:rPr lang="en-US" altLang="zh-CN" sz="1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搜索推广 </a:t>
            </a:r>
            <a:r>
              <a:rPr lang="en-US" altLang="zh-CN" sz="1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支持 </a:t>
            </a:r>
            <a:r>
              <a:rPr lang="en-US" altLang="zh-CN" sz="1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账户拓词</a:t>
            </a:r>
            <a:endParaRPr lang="en-US" altLang="zh-CN" sz="1000" b="0" i="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000" b="0" i="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1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问题描述：</a:t>
            </a:r>
            <a:endParaRPr lang="en-US" altLang="zh-CN" sz="10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行业热词：</a:t>
            </a:r>
            <a:endParaRPr lang="en-US" altLang="zh-CN" sz="10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老师好，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客户主营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XXX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业务，预算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XXX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，日消费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XX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，有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XXX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消费空间；</a:t>
            </a:r>
            <a:endParaRPr lang="en-US" altLang="zh-CN" sz="10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账户主要消费词：词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词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词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；现申请拓展行业热词，提升消费，烦请协助处理，谢谢</a:t>
            </a:r>
            <a:endParaRPr lang="en-US" altLang="zh-CN" sz="10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高转化词：</a:t>
            </a:r>
            <a:endParaRPr lang="en-US" altLang="zh-CN" sz="1000" kern="1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老师好，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客户主营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XXX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业务，日消费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XX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，账户主要消费词：词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词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词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；现申请业务高转化词，提升效果，烦请协助处理，谢谢</a:t>
            </a:r>
            <a:endParaRPr lang="en-US" altLang="zh-CN" sz="10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 sz="10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0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0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、补充说明必写内容</a:t>
            </a:r>
            <a:endParaRPr lang="en-US" altLang="zh-CN" sz="10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账户业务与如下竞品客户业务一致，可结合业务场景拓词：</a:t>
            </a:r>
            <a:endParaRPr lang="en-US" altLang="zh-CN" sz="10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客户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及网址：</a:t>
            </a:r>
            <a:r>
              <a: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AAAA   www.1723.com</a:t>
            </a:r>
          </a:p>
          <a:p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客户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及网址：</a:t>
            </a:r>
            <a:r>
              <a: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BBBB    www.1663.com</a:t>
            </a:r>
          </a:p>
          <a:p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客户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及网址：</a:t>
            </a:r>
            <a:r>
              <a: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CCCC    www.1456.com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AD756C6-0845-23A3-2855-8F4908FCEEF2}"/>
              </a:ext>
            </a:extLst>
          </p:cNvPr>
          <p:cNvSpPr/>
          <p:nvPr/>
        </p:nvSpPr>
        <p:spPr>
          <a:xfrm>
            <a:off x="5682925" y="2747949"/>
            <a:ext cx="2105495" cy="304962"/>
          </a:xfrm>
          <a:prstGeom prst="rect">
            <a:avLst/>
          </a:prstGeom>
          <a:solidFill>
            <a:srgbClr val="54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 单 </a:t>
            </a:r>
            <a:r>
              <a:rPr lang="zh-CN" altLang="en-US" sz="1200" b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详 情</a:t>
            </a:r>
            <a:r>
              <a:rPr lang="en-US" altLang="zh-CN" sz="12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示范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2B575A88-D86B-8A78-0BA1-A3D1F45D7E12}"/>
              </a:ext>
            </a:extLst>
          </p:cNvPr>
          <p:cNvSpPr/>
          <p:nvPr/>
        </p:nvSpPr>
        <p:spPr>
          <a:xfrm>
            <a:off x="8458200" y="1491343"/>
            <a:ext cx="2612571" cy="963737"/>
          </a:xfrm>
          <a:prstGeom prst="ellipse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标题写错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直接驳回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84D571F6-9D91-41B5-BF66-8898C791FE0B}"/>
              </a:ext>
            </a:extLst>
          </p:cNvPr>
          <p:cNvGrpSpPr/>
          <p:nvPr/>
        </p:nvGrpSpPr>
        <p:grpSpPr>
          <a:xfrm>
            <a:off x="8379843" y="1376025"/>
            <a:ext cx="1027391" cy="575770"/>
            <a:chOff x="8379843" y="1376025"/>
            <a:chExt cx="1027391" cy="575770"/>
          </a:xfrm>
        </p:grpSpPr>
        <p:sp>
          <p:nvSpPr>
            <p:cNvPr id="15" name="对话气泡: 椭圆形 14">
              <a:extLst>
                <a:ext uri="{FF2B5EF4-FFF2-40B4-BE49-F238E27FC236}">
                  <a16:creationId xmlns:a16="http://schemas.microsoft.com/office/drawing/2014/main" id="{209B2E33-137B-5480-7F4E-8721569D07EF}"/>
                </a:ext>
              </a:extLst>
            </p:cNvPr>
            <p:cNvSpPr/>
            <p:nvPr/>
          </p:nvSpPr>
          <p:spPr>
            <a:xfrm rot="16694791">
              <a:off x="8544373" y="1316833"/>
              <a:ext cx="401257" cy="730317"/>
            </a:xfrm>
            <a:prstGeom prst="wedgeEllipseCallout">
              <a:avLst/>
            </a:prstGeom>
            <a:solidFill>
              <a:schemeClr val="bg2"/>
            </a:solidFill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7E83534B-474B-A44C-6F96-D8E1DCC3C455}"/>
                </a:ext>
              </a:extLst>
            </p:cNvPr>
            <p:cNvSpPr txBox="1"/>
            <p:nvPr/>
          </p:nvSpPr>
          <p:spPr>
            <a:xfrm rot="20688172">
              <a:off x="8436484" y="1376025"/>
              <a:ext cx="78365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！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2754C326-BA91-A35D-1DD5-B0D4B4DF215F}"/>
                </a:ext>
              </a:extLst>
            </p:cNvPr>
            <p:cNvSpPr txBox="1"/>
            <p:nvPr/>
          </p:nvSpPr>
          <p:spPr>
            <a:xfrm rot="20688172">
              <a:off x="8531770" y="1386911"/>
              <a:ext cx="78365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！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5D0842B2-724C-35A0-782A-4935BD48587E}"/>
                </a:ext>
              </a:extLst>
            </p:cNvPr>
            <p:cNvSpPr txBox="1"/>
            <p:nvPr/>
          </p:nvSpPr>
          <p:spPr>
            <a:xfrm rot="20688172">
              <a:off x="8623575" y="1397797"/>
              <a:ext cx="78365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5399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1522721" y="407271"/>
            <a:ext cx="6510815" cy="249299"/>
          </a:xfrm>
        </p:spPr>
        <p:txBody>
          <a:bodyPr/>
          <a:lstStyle/>
          <a:p>
            <a:r>
              <a:rPr kumimoji="1" lang="zh-CN" altLang="en-US" dirty="0"/>
              <a:t>非常规需求</a:t>
            </a:r>
            <a:r>
              <a:rPr kumimoji="1" lang="en-US" altLang="zh-CN" dirty="0"/>
              <a:t>—</a:t>
            </a:r>
            <a:r>
              <a:rPr kumimoji="1" lang="en-US" altLang="zh-CN" sz="1400" dirty="0"/>
              <a:t>360</a:t>
            </a:r>
            <a:r>
              <a:rPr kumimoji="1" lang="zh-CN" altLang="en-US" sz="1400" dirty="0"/>
              <a:t>分析</a:t>
            </a:r>
            <a:r>
              <a:rPr kumimoji="1" lang="en-US" altLang="zh-CN" sz="1400" dirty="0"/>
              <a:t>/API</a:t>
            </a:r>
            <a:r>
              <a:rPr kumimoji="1" lang="zh-CN" altLang="en-US" sz="1400" dirty="0"/>
              <a:t>支持</a:t>
            </a:r>
            <a:r>
              <a:rPr kumimoji="1" lang="en-US" altLang="zh-CN" sz="1400" dirty="0"/>
              <a:t>/</a:t>
            </a:r>
            <a:r>
              <a:rPr kumimoji="1" lang="zh-CN" altLang="en-US" sz="1400" dirty="0"/>
              <a:t>其他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6F0E319-9076-E7E8-BAF4-AD2FA461F445}"/>
              </a:ext>
            </a:extLst>
          </p:cNvPr>
          <p:cNvSpPr txBox="1"/>
          <p:nvPr/>
        </p:nvSpPr>
        <p:spPr>
          <a:xfrm>
            <a:off x="542665" y="1122445"/>
            <a:ext cx="8312571" cy="1603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工单分类：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【产品需求】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【搜索推广】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支持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API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相关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工单主题：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区域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【代理商】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搜索推广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360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API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对接支持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账户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ID+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一级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二级行业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示例：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华中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成都龙擎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搜索推广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API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对接支持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1200" b="0" i="0" dirty="0">
                <a:solidFill>
                  <a:srgbClr val="6062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84xxx192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商务服务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华中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成都龙擎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搜索推广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咨询工具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360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分析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/API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联调失败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1200" b="0" i="0" dirty="0">
                <a:solidFill>
                  <a:srgbClr val="6062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84xxx192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商务服务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EDDB502-89CA-87B9-E323-AE79562F10DC}"/>
              </a:ext>
            </a:extLst>
          </p:cNvPr>
          <p:cNvSpPr/>
          <p:nvPr/>
        </p:nvSpPr>
        <p:spPr>
          <a:xfrm>
            <a:off x="542665" y="3024751"/>
            <a:ext cx="3528584" cy="3459411"/>
          </a:xfrm>
          <a:prstGeom prst="rect">
            <a:avLst/>
          </a:prstGeom>
          <a:solidFill>
            <a:schemeClr val="bg2">
              <a:lumMod val="95000"/>
            </a:schemeClr>
          </a:solidFill>
          <a:ln w="6350">
            <a:prstDash val="dash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1C263FB-90E1-9D66-A1B7-45317DDAC438}"/>
              </a:ext>
            </a:extLst>
          </p:cNvPr>
          <p:cNvSpPr txBox="1"/>
          <p:nvPr/>
        </p:nvSpPr>
        <p:spPr>
          <a:xfrm>
            <a:off x="544587" y="3111839"/>
            <a:ext cx="3393921" cy="1911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-【</a:t>
            </a: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把表单线索对接到第三方系统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sz="1000" kern="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华中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成都龙擎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搜索推广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en-US" altLang="zh-CN" sz="1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API </a:t>
            </a:r>
            <a:r>
              <a:rPr lang="zh-CN" altLang="en-US" sz="1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对接支持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1000" b="0" i="0" dirty="0">
                <a:solidFill>
                  <a:srgbClr val="6062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84xxx192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商务服务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展会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000" b="0" i="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000" kern="1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问题描述：</a:t>
            </a:r>
            <a:endParaRPr lang="en-US" altLang="zh-CN" sz="10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老师好，客户投放业务：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XXXX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，目前进行</a:t>
            </a:r>
            <a:r>
              <a:rPr lang="en-US" altLang="zh-CN" sz="10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api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对接，希望做易托管落地页的</a:t>
            </a:r>
            <a:r>
              <a:rPr lang="en-US" altLang="zh-CN" sz="10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api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数据回传接口，</a:t>
            </a: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把表单线索对接到第三方系统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，烦请老师协助处理，感谢支持</a:t>
            </a:r>
            <a:endParaRPr lang="zh-CN" altLang="en-US" sz="10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AFF5521-0528-F6DF-0B5C-757FFBA360B3}"/>
              </a:ext>
            </a:extLst>
          </p:cNvPr>
          <p:cNvSpPr/>
          <p:nvPr/>
        </p:nvSpPr>
        <p:spPr>
          <a:xfrm>
            <a:off x="542665" y="2726154"/>
            <a:ext cx="3541323" cy="357293"/>
          </a:xfrm>
          <a:prstGeom prst="rect">
            <a:avLst/>
          </a:prstGeom>
          <a:solidFill>
            <a:srgbClr val="54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工单详情</a:t>
            </a:r>
            <a:r>
              <a:rPr lang="en-US" altLang="zh-CN" sz="12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易托管建站</a:t>
            </a:r>
            <a:r>
              <a:rPr lang="en-US" altLang="zh-CN" sz="12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lang="zh-CN" altLang="en-US" sz="12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</a:t>
            </a:r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E3FE1588-E84E-8B6F-5E33-E5296FD455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665" y="5302706"/>
            <a:ext cx="3232465" cy="815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000" b="1" i="0" u="none" strike="noStrike" cap="none" normalizeH="0" baseline="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回复内容：</a:t>
            </a:r>
            <a:endParaRPr kumimoji="0" lang="en-US" altLang="zh-CN" sz="1000" b="1" i="0" u="none" strike="noStrike" cap="none" normalizeH="0" baseline="0" dirty="0">
              <a:ln>
                <a:noFill/>
              </a:ln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对接文档如下：具体密钥见邮件下文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rgbClr val="0563C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ahoma" panose="020B060403050404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https://apifox.coXXXXXXXXXXXX</a:t>
            </a:r>
            <a:r>
              <a:rPr kumimoji="0" lang="en-US" altLang="zh-CN" sz="1000" b="0" i="0" u="none" strike="noStrike" cap="none" normalizeH="0" baseline="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ahoma" panose="020B060403050404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5c3f6b45</a:t>
            </a:r>
            <a:endParaRPr kumimoji="0" lang="en-US" altLang="zh-CN" sz="1000" b="0" i="0" u="none" strike="noStrike" cap="none" normalizeH="0" baseline="0" dirty="0">
              <a:ln>
                <a:noFill/>
              </a:ln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YOUR_USER_ID</a:t>
            </a:r>
            <a:r>
              <a:rPr kumimoji="0" lang="zh-CN" altLang="en-US" sz="1000" b="0" i="0" u="none" strike="noStrike" cap="none" normalizeH="0" baseline="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：</a:t>
            </a:r>
            <a:r>
              <a:rPr kumimoji="0" lang="en-US" altLang="zh-CN" sz="1000" b="0" i="0" u="none" strike="noStrike" cap="none" normalizeH="0" baseline="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15XXXXX72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YOUR_SECRET</a:t>
            </a:r>
            <a:r>
              <a:rPr kumimoji="0" lang="zh-CN" altLang="en-US" sz="1000" b="0" i="0" u="none" strike="noStrike" cap="none" normalizeH="0" baseline="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：</a:t>
            </a:r>
            <a:r>
              <a:rPr kumimoji="0" lang="en-US" altLang="zh-CN" sz="1000" b="0" i="0" u="none" strike="noStrike" cap="none" normalizeH="0" baseline="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68XXXXXXXXXXX1b</a:t>
            </a:r>
            <a:r>
              <a:rPr kumimoji="0" lang="en-US" altLang="zh-CN" sz="1000" b="0" i="0" u="none" strike="noStrike" cap="none" normalizeH="0" baseline="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68EA708-04BA-2CB2-40A3-1CE8AFB7AB94}"/>
              </a:ext>
            </a:extLst>
          </p:cNvPr>
          <p:cNvSpPr/>
          <p:nvPr/>
        </p:nvSpPr>
        <p:spPr>
          <a:xfrm>
            <a:off x="4276465" y="3024751"/>
            <a:ext cx="3506818" cy="3459411"/>
          </a:xfrm>
          <a:prstGeom prst="rect">
            <a:avLst/>
          </a:prstGeom>
          <a:solidFill>
            <a:schemeClr val="bg2">
              <a:lumMod val="95000"/>
            </a:schemeClr>
          </a:solidFill>
          <a:ln w="6350">
            <a:prstDash val="dash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123EC0B-11CC-74B0-E9EE-5B170A49C4E7}"/>
              </a:ext>
            </a:extLst>
          </p:cNvPr>
          <p:cNvSpPr txBox="1"/>
          <p:nvPr/>
        </p:nvSpPr>
        <p:spPr>
          <a:xfrm>
            <a:off x="4263726" y="3043059"/>
            <a:ext cx="3504896" cy="35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-【</a:t>
            </a: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客户技术对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360API</a:t>
            </a: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对接有卡点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sz="1000" kern="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华中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成都龙擎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搜索推广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en-US" altLang="zh-CN" sz="1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API </a:t>
            </a:r>
            <a:r>
              <a:rPr lang="zh-CN" altLang="en-US" sz="1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对接支持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1000" b="0" i="0" dirty="0">
                <a:solidFill>
                  <a:srgbClr val="6062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84xxx192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商务服务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展会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000" b="0" i="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000" kern="1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问题描述：</a:t>
            </a:r>
            <a:endParaRPr lang="en-US" altLang="zh-CN" sz="10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老师好，客户：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XXX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，投放业务：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XXXX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，目前进行</a:t>
            </a:r>
            <a:r>
              <a:rPr lang="en-US" altLang="zh-CN" sz="10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api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对接，目前遇到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XXX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卡点</a:t>
            </a:r>
            <a:endParaRPr lang="en-US" altLang="zh-CN" sz="10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000" kern="100" dirty="0">
                <a:solidFill>
                  <a:schemeClr val="bg2"/>
                </a:solidFill>
                <a:effectLst/>
                <a:highlight>
                  <a:srgbClr val="808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（客户在做搜索</a:t>
            </a:r>
            <a:r>
              <a:rPr lang="en-US" altLang="zh-CN" sz="1000" kern="100" dirty="0">
                <a:solidFill>
                  <a:schemeClr val="bg2"/>
                </a:solidFill>
                <a:effectLst/>
                <a:highlight>
                  <a:srgbClr val="808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API</a:t>
            </a:r>
            <a:r>
              <a:rPr lang="zh-CN" altLang="en-US" sz="1000" kern="100" dirty="0">
                <a:solidFill>
                  <a:schemeClr val="bg2"/>
                </a:solidFill>
                <a:effectLst/>
                <a:highlight>
                  <a:srgbClr val="808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对接的过程中，一直报错：</a:t>
            </a:r>
            <a:r>
              <a:rPr lang="en-US" altLang="zh-CN" sz="1000" kern="100" dirty="0">
                <a:solidFill>
                  <a:schemeClr val="bg2"/>
                </a:solidFill>
                <a:effectLst/>
                <a:highlight>
                  <a:srgbClr val="808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{"</a:t>
            </a:r>
            <a:r>
              <a:rPr lang="en-US" altLang="zh-CN" sz="1000" kern="100" dirty="0" err="1">
                <a:solidFill>
                  <a:schemeClr val="bg2"/>
                </a:solidFill>
                <a:effectLst/>
                <a:highlight>
                  <a:srgbClr val="808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fai</a:t>
            </a:r>
            <a:r>
              <a:rPr lang="en-US" altLang="zh-CN" sz="1000" kern="100" dirty="0">
                <a:solidFill>
                  <a:schemeClr val="bg2"/>
                </a:solidFill>
                <a:effectLst/>
                <a:highlight>
                  <a:srgbClr val="808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***res":[{"code":80109,"de</a:t>
            </a:r>
            <a:r>
              <a:rPr lang="en-US" altLang="zh-CN" sz="1000" kern="100" dirty="0">
                <a:solidFill>
                  <a:schemeClr val="bg2"/>
                </a:solidFill>
                <a:highlight>
                  <a:srgbClr val="808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*******</a:t>
            </a:r>
            <a:r>
              <a:rPr lang="en-US" altLang="zh-CN" sz="1000" kern="100" dirty="0" err="1">
                <a:solidFill>
                  <a:schemeClr val="bg2"/>
                </a:solidFill>
                <a:effectLst/>
                <a:highlight>
                  <a:srgbClr val="808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tion</a:t>
            </a:r>
            <a:r>
              <a:rPr lang="en-US" altLang="zh-CN" sz="1000" kern="100" dirty="0">
                <a:solidFill>
                  <a:schemeClr val="bg2"/>
                </a:solidFill>
                <a:effectLst/>
                <a:highlight>
                  <a:srgbClr val="808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":"","message":"APIKEY</a:t>
            </a:r>
            <a:r>
              <a:rPr lang="zh-CN" altLang="en-US" sz="1000" kern="100" dirty="0">
                <a:solidFill>
                  <a:schemeClr val="bg2"/>
                </a:solidFill>
                <a:effectLst/>
                <a:highlight>
                  <a:srgbClr val="808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错误；</a:t>
            </a:r>
            <a:r>
              <a:rPr lang="en-US" altLang="zh-CN" sz="1000" kern="100" dirty="0" err="1">
                <a:solidFill>
                  <a:schemeClr val="bg2"/>
                </a:solidFill>
                <a:effectLst/>
                <a:highlight>
                  <a:srgbClr val="808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ApiKey</a:t>
            </a:r>
            <a:r>
              <a:rPr lang="zh-CN" altLang="en-US" sz="1000" kern="100" dirty="0">
                <a:solidFill>
                  <a:schemeClr val="bg2"/>
                </a:solidFill>
                <a:effectLst/>
                <a:highlight>
                  <a:srgbClr val="808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长度应为</a:t>
            </a:r>
            <a:r>
              <a:rPr lang="en-US" altLang="zh-CN" sz="1000" kern="100" dirty="0">
                <a:solidFill>
                  <a:schemeClr val="bg2"/>
                </a:solidFill>
                <a:effectLst/>
                <a:highlight>
                  <a:srgbClr val="808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32</a:t>
            </a:r>
            <a:r>
              <a:rPr lang="zh-CN" altLang="en-US" sz="1000" kern="100" dirty="0">
                <a:solidFill>
                  <a:schemeClr val="bg2"/>
                </a:solidFill>
                <a:effectLst/>
                <a:highlight>
                  <a:srgbClr val="808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个字符；</a:t>
            </a:r>
            <a:r>
              <a:rPr lang="en-US" altLang="zh-CN" sz="1000" kern="100" dirty="0">
                <a:solidFill>
                  <a:schemeClr val="bg2"/>
                </a:solidFill>
                <a:effectLst/>
                <a:highlight>
                  <a:srgbClr val="808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"}]}</a:t>
            </a:r>
            <a:r>
              <a:rPr lang="zh-CN" altLang="en-US" sz="1000" kern="100" dirty="0">
                <a:solidFill>
                  <a:schemeClr val="bg2"/>
                </a:solidFill>
                <a:effectLst/>
                <a:highlight>
                  <a:srgbClr val="808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，无法获取</a:t>
            </a:r>
            <a:r>
              <a:rPr lang="en-US" altLang="zh-CN" sz="1000" kern="100" dirty="0">
                <a:solidFill>
                  <a:schemeClr val="bg2"/>
                </a:solidFill>
                <a:effectLst/>
                <a:highlight>
                  <a:srgbClr val="808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token </a:t>
            </a:r>
            <a:r>
              <a:rPr lang="zh-CN" altLang="en-US" sz="1000" kern="100" dirty="0">
                <a:solidFill>
                  <a:schemeClr val="bg2"/>
                </a:solidFill>
                <a:effectLst/>
                <a:highlight>
                  <a:srgbClr val="808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），</a:t>
            </a:r>
            <a:endParaRPr lang="en-US" altLang="zh-CN" sz="1000" kern="100" dirty="0">
              <a:solidFill>
                <a:schemeClr val="bg2"/>
              </a:solidFill>
              <a:effectLst/>
              <a:highlight>
                <a:srgbClr val="80808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需要老师微信群协助处理，感谢支持，谢谢</a:t>
            </a:r>
            <a:endParaRPr lang="en-US" altLang="zh-CN" sz="10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10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截图如有：</a:t>
            </a:r>
            <a:endParaRPr lang="en-US" altLang="zh-CN" sz="10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zh-CN" altLang="en-US" sz="10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AF04061-E78A-6C07-5696-A42BCDCF3B89}"/>
              </a:ext>
            </a:extLst>
          </p:cNvPr>
          <p:cNvSpPr/>
          <p:nvPr/>
        </p:nvSpPr>
        <p:spPr>
          <a:xfrm>
            <a:off x="4276465" y="2726154"/>
            <a:ext cx="3519478" cy="357293"/>
          </a:xfrm>
          <a:prstGeom prst="rect">
            <a:avLst/>
          </a:prstGeom>
          <a:solidFill>
            <a:srgbClr val="54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</a:t>
            </a:r>
            <a:r>
              <a:rPr lang="zh-CN" altLang="en-US" sz="1200" b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单详情</a:t>
            </a:r>
            <a:r>
              <a:rPr lang="en-US" altLang="zh-CN" sz="12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-API</a:t>
            </a:r>
            <a:r>
              <a:rPr lang="zh-CN" altLang="en-US" sz="12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拉群指导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0F2A258-6141-B369-09B8-4999B72C1A22}"/>
              </a:ext>
            </a:extLst>
          </p:cNvPr>
          <p:cNvSpPr/>
          <p:nvPr/>
        </p:nvSpPr>
        <p:spPr>
          <a:xfrm>
            <a:off x="7988499" y="3024751"/>
            <a:ext cx="3506818" cy="3459411"/>
          </a:xfrm>
          <a:prstGeom prst="rect">
            <a:avLst/>
          </a:prstGeom>
          <a:solidFill>
            <a:schemeClr val="bg2">
              <a:lumMod val="95000"/>
            </a:schemeClr>
          </a:solidFill>
          <a:ln w="6350">
            <a:prstDash val="dash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CECB190-FEA9-E756-07A6-97463B982F09}"/>
              </a:ext>
            </a:extLst>
          </p:cNvPr>
          <p:cNvSpPr txBox="1"/>
          <p:nvPr/>
        </p:nvSpPr>
        <p:spPr>
          <a:xfrm>
            <a:off x="8055610" y="3083447"/>
            <a:ext cx="3372986" cy="306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-【</a:t>
            </a: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数据联调失败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sz="1000" kern="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华中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成都龙擎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搜索推广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咨询工具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360</a:t>
            </a:r>
            <a:r>
              <a:rPr lang="zh-CN" altLang="en-US" sz="1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分析</a:t>
            </a:r>
            <a:r>
              <a:rPr lang="en-US" altLang="zh-CN" sz="1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/API</a:t>
            </a:r>
            <a:r>
              <a:rPr lang="zh-CN" altLang="en-US" sz="1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联调失败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1000" b="0" i="0" dirty="0">
                <a:solidFill>
                  <a:srgbClr val="6062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84xxx192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商务服务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展会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000" b="0" i="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000" kern="1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问题描述：</a:t>
            </a:r>
            <a:endParaRPr lang="en-US" altLang="zh-CN" sz="10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老师好，客户投放业务：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XXXX</a:t>
            </a:r>
            <a:endParaRPr lang="en-US" altLang="zh-CN" sz="10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账户</a:t>
            </a:r>
            <a:r>
              <a: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id</a:t>
            </a: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XXXXXXX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投放设备：</a:t>
            </a:r>
            <a:r>
              <a: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pc/</a:t>
            </a: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移动</a:t>
            </a:r>
            <a:endParaRPr lang="en-US" altLang="zh-CN" sz="10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对接类型：</a:t>
            </a:r>
            <a:r>
              <a:rPr lang="zh-CN" altLang="en-US" sz="1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咨询工具</a:t>
            </a:r>
            <a:r>
              <a:rPr lang="en-US" altLang="zh-CN" sz="1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1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明确何种咨询工具</a:t>
            </a:r>
            <a:r>
              <a:rPr lang="en-US" altLang="zh-CN" sz="1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)/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360</a:t>
            </a:r>
            <a:r>
              <a:rPr lang="zh-CN" altLang="en-US" sz="1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分析</a:t>
            </a:r>
            <a:r>
              <a:rPr lang="en-US" altLang="zh-CN" sz="1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/API</a:t>
            </a:r>
            <a:r>
              <a:rPr lang="zh-CN" altLang="en-US" sz="1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对接</a:t>
            </a:r>
            <a:endParaRPr lang="en-US" altLang="zh-CN" sz="10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转化类型：一句话咨询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咨询按钮点击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下载按钮点击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表单提交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注册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激活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……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问题：</a:t>
            </a:r>
            <a:r>
              <a:rPr lang="en-US" altLang="zh-CN" sz="10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XX</a:t>
            </a:r>
            <a:r>
              <a:rPr lang="zh-CN" altLang="en-US" sz="10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0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360</a:t>
            </a:r>
            <a:r>
              <a:rPr lang="zh-CN" altLang="en-US" sz="10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分析需提供转化设置详情及投放链接</a:t>
            </a:r>
            <a:endParaRPr lang="zh-CN" altLang="en-US" sz="10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D0E1D7C-118D-16AC-5CA6-AD65675848FB}"/>
              </a:ext>
            </a:extLst>
          </p:cNvPr>
          <p:cNvSpPr/>
          <p:nvPr/>
        </p:nvSpPr>
        <p:spPr>
          <a:xfrm>
            <a:off x="7988498" y="2726154"/>
            <a:ext cx="3519479" cy="357293"/>
          </a:xfrm>
          <a:prstGeom prst="rect">
            <a:avLst/>
          </a:prstGeom>
          <a:solidFill>
            <a:srgbClr val="54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</a:t>
            </a:r>
            <a:r>
              <a:rPr lang="zh-CN" altLang="en-US" sz="1200" b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单详情</a:t>
            </a:r>
            <a:r>
              <a:rPr lang="en-US" altLang="zh-CN" sz="12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联调失败</a:t>
            </a:r>
            <a:r>
              <a:rPr lang="zh-CN" altLang="en-US" sz="1200" b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（咨询</a:t>
            </a:r>
            <a:r>
              <a:rPr lang="en-US" altLang="zh-CN" sz="1200" b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/api</a:t>
            </a:r>
            <a:r>
              <a:rPr lang="en-US" altLang="zh-CN" sz="12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/360</a:t>
            </a:r>
            <a:r>
              <a:rPr lang="zh-CN" altLang="en-US" sz="12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分析）</a:t>
            </a:r>
          </a:p>
        </p:txBody>
      </p:sp>
      <p:sp>
        <p:nvSpPr>
          <p:cNvPr id="2" name="灯片编号占位符 7">
            <a:extLst>
              <a:ext uri="{FF2B5EF4-FFF2-40B4-BE49-F238E27FC236}">
                <a16:creationId xmlns:a16="http://schemas.microsoft.com/office/drawing/2014/main" id="{FC04D683-974C-B840-8DA8-069212792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668" y="362643"/>
            <a:ext cx="612347" cy="33855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>
              <a:defRPr lang="en-US" altLang="zh-CN" sz="3400" smtClean="0">
                <a:solidFill>
                  <a:schemeClr val="tx2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r>
              <a:rPr kumimoji="0" lang="en-US" altLang="zh-Han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41356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1522721" y="407271"/>
            <a:ext cx="6510815" cy="249299"/>
          </a:xfrm>
        </p:spPr>
        <p:txBody>
          <a:bodyPr/>
          <a:lstStyle/>
          <a:p>
            <a:r>
              <a:rPr kumimoji="1" lang="zh-CN" altLang="en-US" dirty="0"/>
              <a:t>开通类</a:t>
            </a:r>
            <a:r>
              <a:rPr kumimoji="1" lang="en-US" altLang="zh-CN" dirty="0"/>
              <a:t>—</a:t>
            </a:r>
            <a:r>
              <a:rPr kumimoji="1" lang="zh-CN" altLang="en-US" sz="1400" dirty="0"/>
              <a:t>常规开通</a:t>
            </a:r>
            <a:r>
              <a:rPr kumimoji="1" lang="en-US" altLang="zh-CN" sz="1400" dirty="0"/>
              <a:t>—</a:t>
            </a:r>
            <a:r>
              <a:rPr kumimoji="1" lang="zh-CN" altLang="en-US" sz="1400" dirty="0"/>
              <a:t>超级账户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8747467-DDC5-24B6-639F-FF7E26F1147D}"/>
              </a:ext>
            </a:extLst>
          </p:cNvPr>
          <p:cNvSpPr txBox="1"/>
          <p:nvPr/>
        </p:nvSpPr>
        <p:spPr>
          <a:xfrm>
            <a:off x="515743" y="1305312"/>
            <a:ext cx="7572343" cy="1090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工单分类：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【产品需求】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【搜索推广】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修改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超级账户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工单主题：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区域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【代理商】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搜索推广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开通超级账户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账户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ID+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一级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二级行业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示例：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华中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成都龙擎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搜索推广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开通超级账户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1200" b="0" i="0" dirty="0">
                <a:solidFill>
                  <a:srgbClr val="6062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84xxx192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商务服务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994E0E8-A7EE-7D57-42F4-F07736312BDF}"/>
              </a:ext>
            </a:extLst>
          </p:cNvPr>
          <p:cNvSpPr/>
          <p:nvPr/>
        </p:nvSpPr>
        <p:spPr>
          <a:xfrm>
            <a:off x="615623" y="2761881"/>
            <a:ext cx="10378947" cy="3067858"/>
          </a:xfrm>
          <a:prstGeom prst="rect">
            <a:avLst/>
          </a:prstGeom>
          <a:solidFill>
            <a:schemeClr val="bg2">
              <a:lumMod val="95000"/>
            </a:schemeClr>
          </a:solidFill>
          <a:ln w="6350">
            <a:prstDash val="dash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B110700-8A90-E4ED-D667-A18D0202C82D}"/>
              </a:ext>
            </a:extLst>
          </p:cNvPr>
          <p:cNvSpPr txBox="1"/>
          <p:nvPr/>
        </p:nvSpPr>
        <p:spPr>
          <a:xfrm>
            <a:off x="615622" y="2970624"/>
            <a:ext cx="5638220" cy="1450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华中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成都龙擎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搜索推广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开通超级账户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1000" b="0" i="0" dirty="0">
                <a:solidFill>
                  <a:srgbClr val="6062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84x192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商务服务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展会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0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已选模板：产品需求 </a:t>
            </a:r>
            <a:r>
              <a:rPr lang="en-US" altLang="zh-CN" sz="1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搜索推广 </a:t>
            </a:r>
            <a:r>
              <a:rPr lang="en-US" altLang="zh-CN" sz="1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修改 </a:t>
            </a:r>
            <a:r>
              <a:rPr lang="en-US" altLang="zh-CN" sz="1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超级账户</a:t>
            </a:r>
            <a:endParaRPr lang="en-US" altLang="zh-CN" sz="1000" b="0" i="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000" b="0" i="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问题描述：</a:t>
            </a:r>
            <a:endParaRPr lang="en-US" altLang="zh-CN" sz="10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、老师好，客户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为方便管理账户，申请开通超级账户，烦请处理，谢谢</a:t>
            </a:r>
            <a:endParaRPr lang="en-US" altLang="zh-CN" sz="1000" kern="100" dirty="0">
              <a:solidFill>
                <a:schemeClr val="accent1">
                  <a:lumMod val="7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0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10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、超级账户申请表如下：</a:t>
            </a:r>
            <a:endParaRPr lang="zh-CN" altLang="en-US" sz="10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9824CC3A-76A4-EEED-5C99-72EFB4A329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640973"/>
              </p:ext>
            </p:extLst>
          </p:nvPr>
        </p:nvGraphicFramePr>
        <p:xfrm>
          <a:off x="711034" y="4420765"/>
          <a:ext cx="9983532" cy="13414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74240">
                  <a:extLst>
                    <a:ext uri="{9D8B030D-6E8A-4147-A177-3AD203B41FA5}">
                      <a16:colId xmlns:a16="http://schemas.microsoft.com/office/drawing/2014/main" val="737175065"/>
                    </a:ext>
                  </a:extLst>
                </a:gridCol>
                <a:gridCol w="1830959">
                  <a:extLst>
                    <a:ext uri="{9D8B030D-6E8A-4147-A177-3AD203B41FA5}">
                      <a16:colId xmlns:a16="http://schemas.microsoft.com/office/drawing/2014/main" val="588052008"/>
                    </a:ext>
                  </a:extLst>
                </a:gridCol>
                <a:gridCol w="2948802">
                  <a:extLst>
                    <a:ext uri="{9D8B030D-6E8A-4147-A177-3AD203B41FA5}">
                      <a16:colId xmlns:a16="http://schemas.microsoft.com/office/drawing/2014/main" val="3078207834"/>
                    </a:ext>
                  </a:extLst>
                </a:gridCol>
                <a:gridCol w="2929531">
                  <a:extLst>
                    <a:ext uri="{9D8B030D-6E8A-4147-A177-3AD203B41FA5}">
                      <a16:colId xmlns:a16="http://schemas.microsoft.com/office/drawing/2014/main" val="4102543117"/>
                    </a:ext>
                  </a:extLst>
                </a:gridCol>
              </a:tblGrid>
              <a:tr h="223583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超级账户开通申请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0157180"/>
                  </a:ext>
                </a:extLst>
              </a:tr>
              <a:tr h="223583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超级账户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需统一管理的账户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9135448"/>
                  </a:ext>
                </a:extLst>
              </a:tr>
              <a:tr h="223583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</a:rPr>
                        <a:t>公司名称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所属代理商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用户名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公司名称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975403"/>
                  </a:ext>
                </a:extLst>
              </a:tr>
              <a:tr h="223583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广州</a:t>
                      </a:r>
                      <a:r>
                        <a:rPr lang="en-US" altLang="zh-CN" sz="9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</a:t>
                      </a:r>
                      <a:r>
                        <a:rPr lang="zh-CN" altLang="en-US" sz="9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有限公司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bg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广州国通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123456@qq.com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广州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</a:t>
                      </a:r>
                      <a:r>
                        <a:rPr lang="zh-CN" altLang="en-US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有限公司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620514"/>
                  </a:ext>
                </a:extLst>
              </a:tr>
              <a:tr h="22358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67890@qq.com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广州</a:t>
                      </a:r>
                      <a:r>
                        <a:rPr lang="en-US" altLang="zh-CN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</a:t>
                      </a:r>
                      <a:r>
                        <a:rPr lang="zh-CN" altLang="en-US" sz="9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有限公司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1514425"/>
                  </a:ext>
                </a:extLst>
              </a:tr>
              <a:tr h="22358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456789@qq.com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广州</a:t>
                      </a:r>
                      <a:r>
                        <a:rPr lang="en-US" altLang="zh-CN" sz="9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</a:t>
                      </a:r>
                      <a:r>
                        <a:rPr lang="zh-CN" altLang="en-US" sz="9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有限公司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879265"/>
                  </a:ext>
                </a:extLst>
              </a:tr>
            </a:tbl>
          </a:graphicData>
        </a:graphic>
      </p:graphicFrame>
      <p:sp>
        <p:nvSpPr>
          <p:cNvPr id="22" name="文本框 21">
            <a:extLst>
              <a:ext uri="{FF2B5EF4-FFF2-40B4-BE49-F238E27FC236}">
                <a16:creationId xmlns:a16="http://schemas.microsoft.com/office/drawing/2014/main" id="{59268A7B-27FF-5970-B90C-32F15665F7FC}"/>
              </a:ext>
            </a:extLst>
          </p:cNvPr>
          <p:cNvSpPr txBox="1"/>
          <p:nvPr/>
        </p:nvSpPr>
        <p:spPr>
          <a:xfrm>
            <a:off x="615622" y="6061405"/>
            <a:ext cx="11619919" cy="31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0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常规流程</a:t>
            </a:r>
            <a:r>
              <a:rPr lang="en-US" altLang="zh-CN" sz="10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0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文档：</a:t>
            </a:r>
            <a:r>
              <a:rPr lang="zh-CN" altLang="en-US" sz="10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品牌活动凤舞、仅移动端、同台展现  </a:t>
            </a:r>
            <a:r>
              <a:rPr lang="zh-CN" altLang="en-US" sz="10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走线上文档：</a:t>
            </a:r>
            <a:r>
              <a:rPr lang="zh-CN" altLang="en-US" sz="1000" dirty="0">
                <a:solidFill>
                  <a:srgbClr val="0563C1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产品需求日收集 </a:t>
            </a:r>
            <a:r>
              <a:rPr lang="en-US" altLang="zh-CN" sz="1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(qq.com)</a:t>
            </a:r>
            <a:r>
              <a:rPr lang="en-US" altLang="zh-CN" sz="1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https://docs.qq.com/sheet/DQlNhbWFJSExqcmhz?tab=vcvz6l</a:t>
            </a:r>
            <a:endParaRPr lang="en-US" altLang="zh-CN" sz="1000" b="1" kern="100" dirty="0">
              <a:solidFill>
                <a:srgbClr val="FF0000"/>
              </a:solidFill>
              <a:effectLst/>
              <a:highlight>
                <a:srgbClr val="13C172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0988F1C-79EC-6BE0-FCA2-2D984F919C64}"/>
              </a:ext>
            </a:extLst>
          </p:cNvPr>
          <p:cNvSpPr/>
          <p:nvPr/>
        </p:nvSpPr>
        <p:spPr>
          <a:xfrm>
            <a:off x="615624" y="2609717"/>
            <a:ext cx="2105495" cy="304962"/>
          </a:xfrm>
          <a:prstGeom prst="rect">
            <a:avLst/>
          </a:prstGeom>
          <a:solidFill>
            <a:srgbClr val="538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 单 详 情</a:t>
            </a:r>
            <a:r>
              <a:rPr lang="en-US" altLang="zh-CN" sz="12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开通超级账户</a:t>
            </a:r>
          </a:p>
        </p:txBody>
      </p:sp>
      <p:sp>
        <p:nvSpPr>
          <p:cNvPr id="2" name="灯片编号占位符 7">
            <a:extLst>
              <a:ext uri="{FF2B5EF4-FFF2-40B4-BE49-F238E27FC236}">
                <a16:creationId xmlns:a16="http://schemas.microsoft.com/office/drawing/2014/main" id="{96EFC7F9-684F-08FE-3414-D93C109EE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668" y="362643"/>
            <a:ext cx="612347" cy="33855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>
              <a:defRPr lang="en-US" altLang="zh-CN" sz="3400" smtClean="0">
                <a:solidFill>
                  <a:schemeClr val="tx2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r>
              <a:rPr lang="en-US" altLang="zh-CN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65191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1522721" y="407271"/>
            <a:ext cx="6510815" cy="249299"/>
          </a:xfrm>
        </p:spPr>
        <p:txBody>
          <a:bodyPr/>
          <a:lstStyle/>
          <a:p>
            <a:r>
              <a:rPr lang="zh-CN" altLang="en-US" dirty="0"/>
              <a:t>下线</a:t>
            </a:r>
            <a:r>
              <a:rPr kumimoji="1" lang="zh-CN" altLang="en-US" dirty="0"/>
              <a:t>类</a:t>
            </a:r>
            <a:r>
              <a:rPr kumimoji="1" lang="en-US" altLang="zh-CN" dirty="0"/>
              <a:t>—</a:t>
            </a:r>
            <a:r>
              <a:rPr kumimoji="1" lang="zh-CN" altLang="en-US" sz="1400" dirty="0"/>
              <a:t>常规样式下线</a:t>
            </a:r>
            <a:r>
              <a:rPr kumimoji="1" lang="en-US" altLang="zh-CN" sz="1400" dirty="0"/>
              <a:t>—</a:t>
            </a:r>
            <a:r>
              <a:rPr kumimoji="1" lang="zh-CN" altLang="en-US" sz="1400" dirty="0"/>
              <a:t>智能子链</a:t>
            </a:r>
            <a:r>
              <a:rPr kumimoji="1" lang="en-US" altLang="zh-CN" sz="1400" dirty="0"/>
              <a:t>/</a:t>
            </a:r>
            <a:r>
              <a:rPr kumimoji="1" lang="zh-CN" altLang="en-US" sz="1400" dirty="0"/>
              <a:t>标题扩展</a:t>
            </a:r>
            <a:r>
              <a:rPr kumimoji="1" lang="en-US" altLang="zh-CN" sz="1400" dirty="0"/>
              <a:t>/</a:t>
            </a:r>
            <a:r>
              <a:rPr kumimoji="1" lang="zh-CN" altLang="en-US" sz="1400" dirty="0"/>
              <a:t>问答样式</a:t>
            </a:r>
          </a:p>
        </p:txBody>
      </p:sp>
      <p:pic>
        <p:nvPicPr>
          <p:cNvPr id="2" name="PA_图片 480">
            <a:extLst>
              <a:ext uri="{FF2B5EF4-FFF2-40B4-BE49-F238E27FC236}">
                <a16:creationId xmlns:a16="http://schemas.microsoft.com/office/drawing/2014/main" id="{3ABB249C-A399-08FB-3409-779B8DAD2B8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699789" y="1082315"/>
            <a:ext cx="5597214" cy="24552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FB9DC61-DBE1-32E7-6310-177B1B5FC45E}"/>
              </a:ext>
            </a:extLst>
          </p:cNvPr>
          <p:cNvSpPr txBox="1"/>
          <p:nvPr/>
        </p:nvSpPr>
        <p:spPr>
          <a:xfrm>
            <a:off x="443267" y="1134764"/>
            <a:ext cx="10972799" cy="1603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工单分类：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【产品需求】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【搜索推广】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【删除】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长子链样式</a:t>
            </a:r>
            <a:r>
              <a:rPr lang="en-US" altLang="zh-CN" sz="1200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200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标题扩展与改写</a:t>
            </a:r>
            <a:r>
              <a:rPr lang="en-US" altLang="zh-CN" sz="1200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zh-CN" sz="1200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移动问答</a:t>
            </a:r>
            <a:r>
              <a:rPr lang="zh-CN" altLang="en-US" sz="1200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样式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en-US" altLang="zh-CN" sz="1200" kern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pc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问答</a:t>
            </a:r>
            <a:r>
              <a:rPr lang="en-US" altLang="zh-CN" sz="12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工单主题：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区域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【代理商】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搜索推广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【问题简述】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账户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ID+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一级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二级行业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示例：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华中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成都龙擎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搜索推广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下线智能子链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1200" b="0" i="0" dirty="0">
                <a:solidFill>
                  <a:srgbClr val="6062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84xxx192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商务服务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华中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成都龙擎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搜索推广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下线标题扩展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1200" b="0" i="0" dirty="0">
                <a:solidFill>
                  <a:srgbClr val="6062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84xxx192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商务服务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华中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成都龙擎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搜索推广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下线移动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/pc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问答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1200" b="0" i="0" dirty="0">
                <a:solidFill>
                  <a:srgbClr val="6062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84xxx192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商务服务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37E8E8-3D41-B06D-31F7-0B992B33C866}"/>
              </a:ext>
            </a:extLst>
          </p:cNvPr>
          <p:cNvGrpSpPr/>
          <p:nvPr/>
        </p:nvGrpSpPr>
        <p:grpSpPr>
          <a:xfrm>
            <a:off x="443267" y="3147373"/>
            <a:ext cx="4569096" cy="2169247"/>
            <a:chOff x="521160" y="4129634"/>
            <a:chExt cx="4569096" cy="2169247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F9267FE9-8D90-ADCF-46D2-DE3922ABE05C}"/>
                </a:ext>
              </a:extLst>
            </p:cNvPr>
            <p:cNvSpPr/>
            <p:nvPr/>
          </p:nvSpPr>
          <p:spPr>
            <a:xfrm>
              <a:off x="521160" y="4348168"/>
              <a:ext cx="4491203" cy="1706015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6350">
              <a:prstDash val="dash"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10A32152-3050-EEFA-EE32-66860406E648}"/>
                </a:ext>
              </a:extLst>
            </p:cNvPr>
            <p:cNvSpPr txBox="1"/>
            <p:nvPr/>
          </p:nvSpPr>
          <p:spPr>
            <a:xfrm>
              <a:off x="599053" y="4710754"/>
              <a:ext cx="4491203" cy="15881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zh-CN" sz="100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rPr>
                <a:t>1</a:t>
              </a:r>
              <a:r>
                <a:rPr lang="zh-CN" altLang="en-US" sz="100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rPr>
                <a:t>、明确要删除的样式：智能子链</a:t>
              </a:r>
              <a:r>
                <a:rPr lang="en-US" altLang="zh-CN" sz="100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标题扩展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移动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&amp;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pc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问答</a:t>
              </a: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200000"/>
                </a:lnSpc>
              </a:pP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2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、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下线原因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：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因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XXXXXXXX</a:t>
              </a:r>
              <a:r>
                <a:rPr lang="en-US" altLang="zh-CN" sz="1000" kern="1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(</a:t>
              </a:r>
              <a:r>
                <a:rPr lang="zh-CN" altLang="zh-CN" sz="1000" kern="100" dirty="0">
                  <a:solidFill>
                    <a:srgbClr val="FF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文案、图片错误或不符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)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原因</a:t>
              </a:r>
              <a:r>
                <a:rPr lang="zh-CN" altLang="zh-CN" sz="1000" dirty="0"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要求</a:t>
              </a:r>
              <a:r>
                <a:rPr lang="zh-CN" altLang="en-US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下线该样式</a:t>
              </a:r>
              <a:endParaRPr lang="en-US" altLang="zh-CN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>
                <a:lnSpc>
                  <a:spcPct val="200000"/>
                </a:lnSpc>
              </a:pPr>
              <a:r>
                <a:rPr lang="en-US" altLang="zh-CN" sz="1000" kern="0" dirty="0"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3</a:t>
              </a:r>
              <a:r>
                <a:rPr lang="zh-CN" altLang="zh-CN" sz="1000" kern="0" dirty="0"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、</a:t>
              </a:r>
              <a:r>
                <a:rPr lang="zh-CN" altLang="en-US" sz="1000" kern="0" dirty="0"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要求下线的样式</a:t>
              </a:r>
              <a:r>
                <a:rPr lang="zh-CN" altLang="zh-CN" sz="1000" kern="0" dirty="0"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截图</a:t>
              </a:r>
              <a:r>
                <a:rPr lang="zh-CN" altLang="en-US" sz="1000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（</a:t>
              </a:r>
              <a:r>
                <a:rPr lang="zh-CN" altLang="en-US" sz="1000" kern="0" dirty="0"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放正文</a:t>
              </a:r>
              <a:r>
                <a:rPr lang="zh-CN" altLang="en-US" sz="1000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）</a:t>
              </a:r>
              <a:endParaRPr lang="en-US" altLang="zh-CN" sz="1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>
                <a:lnSpc>
                  <a:spcPct val="200000"/>
                </a:lnSpc>
              </a:pPr>
              <a:r>
                <a:rPr lang="en-US" altLang="zh-CN" sz="1000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4</a:t>
              </a:r>
              <a:r>
                <a:rPr lang="zh-CN" altLang="en-US" sz="1000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、</a:t>
              </a:r>
              <a:r>
                <a:rPr lang="zh-CN" altLang="en-US" sz="1000" kern="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如多次反馈 放点击串</a:t>
              </a:r>
              <a:endParaRPr lang="en-US" altLang="zh-CN" sz="10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>
                <a:lnSpc>
                  <a:spcPct val="200000"/>
                </a:lnSpc>
              </a:pPr>
              <a:endParaRPr lang="zh-CN" altLang="zh-CN" sz="1000" kern="100" dirty="0"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0C28BB42-3674-BB18-A89E-F3DE6BE84FE0}"/>
                </a:ext>
              </a:extLst>
            </p:cNvPr>
            <p:cNvSpPr/>
            <p:nvPr/>
          </p:nvSpPr>
          <p:spPr>
            <a:xfrm>
              <a:off x="521160" y="4129634"/>
              <a:ext cx="1654629" cy="304962"/>
            </a:xfrm>
            <a:prstGeom prst="rect">
              <a:avLst/>
            </a:prstGeom>
            <a:solidFill>
              <a:srgbClr val="538C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 单 内 容</a:t>
              </a:r>
            </a:p>
          </p:txBody>
        </p: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EFBF3DDB-2BBA-FDA3-5D3E-BDBF6C7A5396}"/>
              </a:ext>
            </a:extLst>
          </p:cNvPr>
          <p:cNvSpPr/>
          <p:nvPr/>
        </p:nvSpPr>
        <p:spPr>
          <a:xfrm>
            <a:off x="5530524" y="3324514"/>
            <a:ext cx="5715000" cy="2923886"/>
          </a:xfrm>
          <a:prstGeom prst="rect">
            <a:avLst/>
          </a:prstGeom>
          <a:solidFill>
            <a:schemeClr val="bg2">
              <a:lumMod val="95000"/>
            </a:schemeClr>
          </a:solidFill>
          <a:ln w="6350">
            <a:prstDash val="dash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9F62F22-A36E-E07E-FA1E-CFB8A556997D}"/>
              </a:ext>
            </a:extLst>
          </p:cNvPr>
          <p:cNvSpPr txBox="1"/>
          <p:nvPr/>
        </p:nvSpPr>
        <p:spPr>
          <a:xfrm>
            <a:off x="5530524" y="3553514"/>
            <a:ext cx="5715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华中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成都龙擎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搜索推广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下线智能子链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1000" b="0" i="0" dirty="0">
                <a:solidFill>
                  <a:srgbClr val="6062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84xxx192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商务服务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展会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0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已选模板：</a:t>
            </a:r>
            <a:r>
              <a:rPr lang="zh-CN" altLang="en-US" sz="1000" b="0" i="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产品需求 </a:t>
            </a:r>
            <a:r>
              <a:rPr lang="en-US" altLang="zh-CN" sz="1000" b="0" i="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000" b="0" i="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搜索推广 </a:t>
            </a:r>
            <a:r>
              <a:rPr lang="en-US" altLang="zh-CN" sz="1000" b="0" i="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000" b="0" i="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删除 </a:t>
            </a:r>
            <a:r>
              <a:rPr lang="en-US" altLang="zh-CN" sz="1000" b="0" i="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000" b="0" i="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长子链样式</a:t>
            </a:r>
            <a:endParaRPr lang="en-US" altLang="zh-CN" sz="1000" b="0" i="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sz="1000" kern="1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1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问题描述：</a:t>
            </a:r>
            <a:endParaRPr lang="en-US" altLang="zh-CN" sz="1000" kern="1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、明确要删除的样式：智能子链</a:t>
            </a:r>
            <a:endParaRPr lang="en-US" altLang="zh-CN" sz="1000" kern="1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1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、描述：老师好，客户搜索“</a:t>
            </a:r>
            <a:r>
              <a:rPr lang="en-US" altLang="zh-CN" sz="1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XXX</a:t>
            </a:r>
            <a:r>
              <a:rPr lang="zh-CN" altLang="en-US" sz="1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en-US" sz="1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词，</a:t>
            </a:r>
            <a:r>
              <a:rPr lang="zh-CN" altLang="en-US" sz="1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展现的智能子链与客户推广业务不相关，申请删除智能子链，烦请协助处理，谢谢</a:t>
            </a:r>
            <a:endParaRPr lang="en-US" altLang="zh-CN" sz="1000" kern="100" dirty="0">
              <a:solidFill>
                <a:schemeClr val="accent1">
                  <a:lumMod val="75000"/>
                </a:schemeClr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、截图：截图直接贴正文 并圈出问题点</a:t>
            </a:r>
            <a:endParaRPr lang="en-US" altLang="zh-CN" sz="1000" kern="1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76DAF64-8D19-D478-C95B-A76085A5EEC7}"/>
              </a:ext>
            </a:extLst>
          </p:cNvPr>
          <p:cNvSpPr/>
          <p:nvPr/>
        </p:nvSpPr>
        <p:spPr>
          <a:xfrm>
            <a:off x="5528247" y="3207473"/>
            <a:ext cx="2105495" cy="304962"/>
          </a:xfrm>
          <a:prstGeom prst="rect">
            <a:avLst/>
          </a:prstGeom>
          <a:solidFill>
            <a:srgbClr val="538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 单 </a:t>
            </a:r>
            <a:r>
              <a:rPr lang="zh-CN" altLang="en-US" sz="1200" b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详 情</a:t>
            </a:r>
            <a:r>
              <a:rPr lang="en-US" altLang="zh-CN" sz="12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示范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F3A2CF5-27E0-5049-D30A-6D481EE2EA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1791" y="5050148"/>
            <a:ext cx="5561435" cy="1176479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C50F90E4-0AD0-58D1-E115-4A18D1538833}"/>
              </a:ext>
            </a:extLst>
          </p:cNvPr>
          <p:cNvSpPr/>
          <p:nvPr/>
        </p:nvSpPr>
        <p:spPr>
          <a:xfrm>
            <a:off x="443267" y="5290457"/>
            <a:ext cx="4491203" cy="957943"/>
          </a:xfrm>
          <a:prstGeom prst="rect">
            <a:avLst/>
          </a:prstGeom>
          <a:solidFill>
            <a:srgbClr val="4E81B6">
              <a:alpha val="61000"/>
            </a:srgbClr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特别注意：如同账户二次或是多次反馈同问题，</a:t>
            </a:r>
            <a:r>
              <a:rPr lang="zh-CN" altLang="en-US" sz="1200" kern="100" dirty="0">
                <a:solidFill>
                  <a:schemeClr val="bg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需提供点击串  （</a:t>
            </a:r>
            <a:r>
              <a:rPr lang="zh-CN" altLang="en-US" sz="1200" kern="100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获取方式：鼠标放置实时创意上，右键</a:t>
            </a:r>
            <a:r>
              <a:rPr lang="en-US" altLang="zh-CN" sz="1200" kern="100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复制链接地址即可</a:t>
            </a:r>
            <a:r>
              <a:rPr lang="zh-CN" altLang="en-US" sz="1200" kern="100" dirty="0">
                <a:solidFill>
                  <a:schemeClr val="bg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1200" kern="100" dirty="0">
              <a:solidFill>
                <a:schemeClr val="bg2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灯片编号占位符 7">
            <a:extLst>
              <a:ext uri="{FF2B5EF4-FFF2-40B4-BE49-F238E27FC236}">
                <a16:creationId xmlns:a16="http://schemas.microsoft.com/office/drawing/2014/main" id="{1CF8BE4C-9985-8043-A410-DA8CB75B2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668" y="362643"/>
            <a:ext cx="612347" cy="33855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>
              <a:defRPr lang="en-US" altLang="zh-CN" sz="3400" smtClean="0">
                <a:solidFill>
                  <a:schemeClr val="tx2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r>
              <a:rPr lang="en-US" altLang="zh-CN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2748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1522721" y="407271"/>
            <a:ext cx="6510815" cy="249299"/>
          </a:xfrm>
        </p:spPr>
        <p:txBody>
          <a:bodyPr/>
          <a:lstStyle/>
          <a:p>
            <a:r>
              <a:rPr lang="zh-CN" altLang="en-US" dirty="0"/>
              <a:t>下线</a:t>
            </a:r>
            <a:r>
              <a:rPr kumimoji="1" lang="zh-CN" altLang="en-US" dirty="0"/>
              <a:t>类</a:t>
            </a:r>
            <a:r>
              <a:rPr kumimoji="1" lang="en-US" altLang="zh-CN" dirty="0"/>
              <a:t>—</a:t>
            </a:r>
            <a:r>
              <a:rPr kumimoji="1" lang="zh-CN" altLang="en-US" sz="1400" dirty="0"/>
              <a:t>特殊样式下线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D99150D-1FC7-41A1-2569-38F8A761214D}"/>
              </a:ext>
            </a:extLst>
          </p:cNvPr>
          <p:cNvSpPr txBox="1"/>
          <p:nvPr/>
        </p:nvSpPr>
        <p:spPr>
          <a:xfrm>
            <a:off x="412300" y="1283511"/>
            <a:ext cx="10972799" cy="1090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工单分类：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【产品需求】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【搜索推广】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删除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XXXX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工单主题：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区域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【代理商】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搜索推广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下线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XXX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样式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账户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ID+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一级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二级行业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示例：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华中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成都龙擎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搜索推广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下线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XX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样式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1200" b="0" i="0" dirty="0">
                <a:solidFill>
                  <a:srgbClr val="6062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84xxx192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商务服务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88B8DA3-56E8-C82B-2B2C-B2E9ED13DF89}"/>
              </a:ext>
            </a:extLst>
          </p:cNvPr>
          <p:cNvGrpSpPr/>
          <p:nvPr/>
        </p:nvGrpSpPr>
        <p:grpSpPr>
          <a:xfrm>
            <a:off x="443267" y="2951260"/>
            <a:ext cx="4532470" cy="3067857"/>
            <a:chOff x="521160" y="4256457"/>
            <a:chExt cx="4532470" cy="2153775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40AAA815-B2A0-3E2B-EA28-7322910ED737}"/>
                </a:ext>
              </a:extLst>
            </p:cNvPr>
            <p:cNvSpPr/>
            <p:nvPr/>
          </p:nvSpPr>
          <p:spPr>
            <a:xfrm>
              <a:off x="521160" y="4256457"/>
              <a:ext cx="4491203" cy="2153775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6350">
              <a:prstDash val="dash"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AF78FE8A-F064-894C-2EE2-A276535A8713}"/>
                </a:ext>
              </a:extLst>
            </p:cNvPr>
            <p:cNvSpPr txBox="1"/>
            <p:nvPr/>
          </p:nvSpPr>
          <p:spPr>
            <a:xfrm>
              <a:off x="562427" y="4494696"/>
              <a:ext cx="4491203" cy="13310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zh-CN" sz="100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rPr>
                <a:t>1</a:t>
              </a:r>
              <a:r>
                <a:rPr lang="zh-CN" altLang="en-US" sz="1000" kern="1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rPr>
                <a:t>、明确要删除的样式：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下线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广告</a:t>
              </a: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200000"/>
                </a:lnSpc>
              </a:pP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2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、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下线原因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：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客户做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XX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业务，今日检索关键词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“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XXX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”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,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在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XX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位置发现自己广告，客户不想再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XX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展示自己的广告，申请下线该位置，烦请处理，谢谢</a:t>
              </a:r>
              <a:endParaRPr lang="en-US" altLang="zh-CN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>
                <a:lnSpc>
                  <a:spcPct val="200000"/>
                </a:lnSpc>
              </a:pPr>
              <a:r>
                <a:rPr lang="en-US" altLang="zh-CN" sz="1000" kern="0" dirty="0"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3</a:t>
              </a:r>
              <a:r>
                <a:rPr lang="zh-CN" altLang="zh-CN" sz="1000" kern="0" dirty="0"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、</a:t>
              </a:r>
              <a:r>
                <a:rPr lang="zh-CN" altLang="en-US" sz="1000" kern="100" dirty="0">
                  <a:solidFill>
                    <a:srgbClr val="FF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需提供点击串  （</a:t>
              </a:r>
              <a:r>
                <a:rPr lang="zh-CN" altLang="en-US" sz="1000" kern="1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获取方式：鼠标放置实时创意上，右键</a:t>
              </a:r>
              <a:r>
                <a:rPr lang="en-US" altLang="zh-CN" sz="1000" kern="1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-</a:t>
              </a:r>
              <a:r>
                <a:rPr lang="zh-CN" altLang="en-US" sz="1000" kern="1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复制链接地址</a:t>
              </a:r>
              <a:r>
                <a:rPr lang="zh-CN" altLang="en-US" sz="1000" kern="100" dirty="0">
                  <a:solidFill>
                    <a:srgbClr val="FF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）</a:t>
              </a:r>
              <a:endParaRPr lang="en-US" altLang="zh-CN" sz="1000" kern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>
                <a:lnSpc>
                  <a:spcPct val="200000"/>
                </a:lnSpc>
              </a:pPr>
              <a:r>
                <a:rPr lang="en-US" altLang="zh-CN" sz="1000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4</a:t>
              </a:r>
              <a:r>
                <a:rPr lang="zh-CN" altLang="en-US" sz="1000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、</a:t>
              </a:r>
              <a:r>
                <a:rPr lang="zh-CN" altLang="en-US" sz="1000" kern="0" dirty="0"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要求下线的样式</a:t>
              </a:r>
              <a:r>
                <a:rPr lang="zh-CN" altLang="zh-CN" sz="1000" kern="0" dirty="0"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截图</a:t>
              </a:r>
              <a:r>
                <a:rPr lang="zh-CN" altLang="en-US" sz="1000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（</a:t>
              </a:r>
              <a:r>
                <a:rPr lang="zh-CN" altLang="en-US" sz="1000" b="1" kern="0" dirty="0"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放正文</a:t>
              </a:r>
              <a:r>
                <a:rPr lang="zh-CN" altLang="en-US" sz="1000" b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）</a:t>
              </a:r>
              <a:endParaRPr lang="en-US" altLang="zh-CN" sz="10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>
                <a:lnSpc>
                  <a:spcPct val="200000"/>
                </a:lnSpc>
              </a:pPr>
              <a:endParaRPr lang="zh-CN" altLang="zh-CN" sz="1000" kern="100" dirty="0"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B927FD5D-2600-8A77-4838-245102F02BB4}"/>
              </a:ext>
            </a:extLst>
          </p:cNvPr>
          <p:cNvSpPr/>
          <p:nvPr/>
        </p:nvSpPr>
        <p:spPr>
          <a:xfrm>
            <a:off x="5530523" y="2923297"/>
            <a:ext cx="6084533" cy="3067858"/>
          </a:xfrm>
          <a:prstGeom prst="rect">
            <a:avLst/>
          </a:prstGeom>
          <a:solidFill>
            <a:schemeClr val="bg2">
              <a:lumMod val="95000"/>
            </a:schemeClr>
          </a:solidFill>
          <a:ln w="6350">
            <a:prstDash val="dash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3A80824-EC6E-CDC3-EC70-88B052FA3B28}"/>
              </a:ext>
            </a:extLst>
          </p:cNvPr>
          <p:cNvSpPr txBox="1"/>
          <p:nvPr/>
        </p:nvSpPr>
        <p:spPr>
          <a:xfrm>
            <a:off x="5530523" y="3152297"/>
            <a:ext cx="5963435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华中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成都龙擎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搜索推广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下线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XXX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广告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1000" b="0" i="0" dirty="0">
                <a:solidFill>
                  <a:srgbClr val="6062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84xxx192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商务服务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展会</a:t>
            </a:r>
            <a:r>
              <a:rPr lang="zh-CN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0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已选模板：产品需求 </a:t>
            </a:r>
            <a:r>
              <a:rPr lang="en-US" altLang="zh-CN" sz="1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搜索推广 </a:t>
            </a:r>
            <a:r>
              <a:rPr lang="en-US" altLang="zh-CN" sz="1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支持 </a:t>
            </a:r>
            <a:r>
              <a:rPr lang="en-US" altLang="zh-CN" sz="1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其他支持</a:t>
            </a:r>
            <a:endParaRPr lang="en-US" altLang="zh-CN" sz="1000" b="0" i="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000" b="0" i="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1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问题描述：</a:t>
            </a:r>
            <a:endParaRPr lang="en-US" altLang="zh-CN" sz="1000" kern="1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、明确要删除的样式：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下线</a:t>
            </a:r>
            <a:r>
              <a: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XXX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广告</a:t>
            </a:r>
            <a:endParaRPr lang="en-US" altLang="zh-CN" sz="10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1000" kern="1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1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、描述：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客户做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XX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业务，今日检索关键词“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XXX”,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XX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位置发现自己广告，</a:t>
            </a:r>
            <a:endParaRPr lang="en-US" altLang="zh-CN" sz="10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客户不想再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XX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展示自己的广告，申请下线该位置，烦请处理，谢谢</a:t>
            </a:r>
            <a:endParaRPr lang="en-US" altLang="zh-CN" sz="10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 sz="1000" kern="100" dirty="0">
              <a:solidFill>
                <a:schemeClr val="accent1">
                  <a:lumMod val="75000"/>
                </a:schemeClr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10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、需提供点击串  （获取方式：鼠标放置实时创意上，右键</a:t>
            </a:r>
            <a:r>
              <a:rPr lang="en-US" altLang="zh-CN" sz="10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0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复制链接地址）</a:t>
            </a:r>
            <a:endParaRPr lang="en-US" altLang="zh-CN" sz="1000" kern="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zh-CN" altLang="en-US" sz="1000" kern="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、要求下线的样式截图（放正文）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931CAB8-4F45-7AD6-1DF6-D3CD6D7CFA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8860" y="3622967"/>
            <a:ext cx="1585097" cy="2320524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90ABF219-9D99-E7AC-7CB3-67718D1497F8}"/>
              </a:ext>
            </a:extLst>
          </p:cNvPr>
          <p:cNvSpPr/>
          <p:nvPr/>
        </p:nvSpPr>
        <p:spPr>
          <a:xfrm>
            <a:off x="443267" y="2770816"/>
            <a:ext cx="2105495" cy="304962"/>
          </a:xfrm>
          <a:prstGeom prst="rect">
            <a:avLst/>
          </a:prstGeom>
          <a:solidFill>
            <a:srgbClr val="538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 单 内 容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66256E9-2CCF-812D-EE66-5A15FF7CEFCE}"/>
              </a:ext>
            </a:extLst>
          </p:cNvPr>
          <p:cNvSpPr/>
          <p:nvPr/>
        </p:nvSpPr>
        <p:spPr>
          <a:xfrm>
            <a:off x="5528247" y="2806256"/>
            <a:ext cx="2105495" cy="304962"/>
          </a:xfrm>
          <a:prstGeom prst="rect">
            <a:avLst/>
          </a:prstGeom>
          <a:solidFill>
            <a:srgbClr val="538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 单 详 情</a:t>
            </a:r>
            <a:r>
              <a:rPr lang="en-US" altLang="zh-CN" sz="12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示范</a:t>
            </a:r>
          </a:p>
        </p:txBody>
      </p:sp>
      <p:sp>
        <p:nvSpPr>
          <p:cNvPr id="13" name="灯片编号占位符 7">
            <a:extLst>
              <a:ext uri="{FF2B5EF4-FFF2-40B4-BE49-F238E27FC236}">
                <a16:creationId xmlns:a16="http://schemas.microsoft.com/office/drawing/2014/main" id="{AB4F98CA-755D-E105-5AE1-3F28A3455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668" y="362643"/>
            <a:ext cx="612347" cy="33855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>
              <a:defRPr lang="en-US" altLang="zh-CN" sz="3400" smtClean="0">
                <a:solidFill>
                  <a:schemeClr val="tx2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r>
              <a:rPr lang="en-US" altLang="zh-CN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2301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8743" y="1072692"/>
            <a:ext cx="6474513" cy="471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157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95D68C9-0094-9F67-CB97-18C747FFAA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718781"/>
              </p:ext>
            </p:extLst>
          </p:nvPr>
        </p:nvGraphicFramePr>
        <p:xfrm>
          <a:off x="1268836" y="2009985"/>
          <a:ext cx="9524998" cy="3024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3410">
                  <a:extLst>
                    <a:ext uri="{9D8B030D-6E8A-4147-A177-3AD203B41FA5}">
                      <a16:colId xmlns:a16="http://schemas.microsoft.com/office/drawing/2014/main" val="3944910906"/>
                    </a:ext>
                  </a:extLst>
                </a:gridCol>
                <a:gridCol w="2127398">
                  <a:extLst>
                    <a:ext uri="{9D8B030D-6E8A-4147-A177-3AD203B41FA5}">
                      <a16:colId xmlns:a16="http://schemas.microsoft.com/office/drawing/2014/main" val="1309548706"/>
                    </a:ext>
                  </a:extLst>
                </a:gridCol>
                <a:gridCol w="2712790">
                  <a:extLst>
                    <a:ext uri="{9D8B030D-6E8A-4147-A177-3AD203B41FA5}">
                      <a16:colId xmlns:a16="http://schemas.microsoft.com/office/drawing/2014/main" val="988107879"/>
                    </a:ext>
                  </a:extLst>
                </a:gridCol>
                <a:gridCol w="2641400">
                  <a:extLst>
                    <a:ext uri="{9D8B030D-6E8A-4147-A177-3AD203B41FA5}">
                      <a16:colId xmlns:a16="http://schemas.microsoft.com/office/drawing/2014/main" val="3764016808"/>
                    </a:ext>
                  </a:extLst>
                </a:gridCol>
              </a:tblGrid>
              <a:tr h="494728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</a:t>
                      </a:r>
                      <a:r>
                        <a:rPr lang="zh-CN" altLang="en-US" sz="1600" dirty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数据异常</a:t>
                      </a:r>
                      <a:endParaRPr lang="en-US" altLang="zh-CN" sz="1600" dirty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81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2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02</a:t>
                      </a:r>
                      <a:r>
                        <a:rPr lang="zh-CN" altLang="en-US" sz="1600" dirty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搜索</a:t>
                      </a:r>
                      <a:r>
                        <a:rPr lang="en-US" altLang="zh-CN" sz="1600" dirty="0" err="1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cpc</a:t>
                      </a:r>
                      <a:r>
                        <a:rPr lang="zh-CN" altLang="en-US" sz="1600" dirty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81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03</a:t>
                      </a:r>
                      <a:r>
                        <a:rPr lang="zh-CN" altLang="en-US" sz="1600" dirty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搜索</a:t>
                      </a:r>
                      <a:r>
                        <a:rPr lang="en-US" altLang="zh-CN" sz="1600" dirty="0" err="1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ocpc</a:t>
                      </a:r>
                      <a:r>
                        <a:rPr lang="zh-CN" altLang="en-US" sz="1600" dirty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常规问题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81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04</a:t>
                      </a:r>
                      <a:r>
                        <a:rPr lang="zh-CN" altLang="en-US" sz="1600" dirty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搜索</a:t>
                      </a:r>
                      <a:r>
                        <a:rPr lang="en-US" altLang="zh-CN" sz="1600" dirty="0" err="1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ocpc</a:t>
                      </a:r>
                      <a:r>
                        <a:rPr lang="zh-CN" altLang="en-US" sz="1600" dirty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效果问题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81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9907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lvl="0" indent="-285750">
                        <a:buFont typeface="Wingdings" panose="05000000000000000000" pitchFamily="2" charset="2"/>
                        <a:buChar char="ü"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展现异常</a:t>
                      </a:r>
                      <a:endParaRPr lang="en-US" altLang="zh-CN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ü"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点击异常</a:t>
                      </a:r>
                      <a:endParaRPr lang="en-US" altLang="zh-CN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ü"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匹配异常</a:t>
                      </a:r>
                      <a:endParaRPr lang="en-US" altLang="zh-CN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ü"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消费超投</a:t>
                      </a:r>
                      <a:endParaRPr lang="en-US" altLang="zh-CN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ü"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非投放地域异常</a:t>
                      </a:r>
                      <a:endParaRPr lang="en-US" altLang="zh-CN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Ip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</a:t>
                      </a:r>
                      <a:endParaRPr lang="en-US" altLang="zh-CN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altLang="zh-CN"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Cpc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异常</a:t>
                      </a:r>
                      <a:endParaRPr lang="en-US" altLang="zh-CN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lvl="0" indent="0">
                        <a:buFont typeface="Wingdings" panose="05000000000000000000" pitchFamily="2" charset="2"/>
                        <a:buNone/>
                      </a:pPr>
                      <a:endParaRPr lang="en-US" altLang="zh-CN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ü"/>
                      </a:pP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ü"/>
                      </a:pPr>
                      <a:endParaRPr lang="en-US" altLang="zh-CN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CPC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投放关键词效果突降</a:t>
                      </a:r>
                      <a:endParaRPr lang="en-US" altLang="zh-CN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ü"/>
                      </a:pPr>
                      <a:endParaRPr lang="en-US" altLang="zh-CN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CPC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投放，浅层转化正常，深层效果突降</a:t>
                      </a: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无无效增多等</a:t>
                      </a: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altLang="zh-CN"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ocpc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数据清洗</a:t>
                      </a:r>
                      <a:endParaRPr lang="en-US" altLang="zh-CN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ü"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转化数据不一</a:t>
                      </a:r>
                      <a:endParaRPr lang="en-US" altLang="zh-CN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ü"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强制学习成功</a:t>
                      </a:r>
                      <a:endParaRPr lang="en-US" altLang="zh-CN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altLang="zh-CN"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ocpc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扩触发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altLang="zh-CN"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oCPC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学习成功阶段超目标成本</a:t>
                      </a: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倍</a:t>
                      </a:r>
                      <a:endParaRPr lang="en-US" altLang="zh-CN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altLang="zh-CN"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oCPC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学习成功阶段展点消突增</a:t>
                      </a: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突降</a:t>
                      </a:r>
                      <a:endParaRPr lang="en-US" altLang="zh-CN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US" altLang="zh-CN"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oCPC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学习成功阶段浅层转化正常，深层效果突降（如后端无效多）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0426758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717ABDA7-73D5-43B7-DD73-48E035B48323}"/>
              </a:ext>
            </a:extLst>
          </p:cNvPr>
          <p:cNvSpPr txBox="1"/>
          <p:nvPr/>
        </p:nvSpPr>
        <p:spPr>
          <a:xfrm>
            <a:off x="4068661" y="1132513"/>
            <a:ext cx="32381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dirty="0">
                <a:ea typeface="微软雅黑" panose="020B0503020204020204" pitchFamily="34" charset="-122"/>
              </a:rPr>
              <a:t>搜索常见问题类型</a:t>
            </a:r>
          </a:p>
        </p:txBody>
      </p:sp>
    </p:spTree>
    <p:extLst>
      <p:ext uri="{BB962C8B-B14F-4D97-AF65-F5344CB8AC3E}">
        <p14:creationId xmlns:p14="http://schemas.microsoft.com/office/powerpoint/2010/main" val="2526196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1522721" y="407271"/>
            <a:ext cx="8166563" cy="249299"/>
          </a:xfrm>
        </p:spPr>
        <p:txBody>
          <a:bodyPr/>
          <a:lstStyle/>
          <a:p>
            <a:r>
              <a:rPr kumimoji="1" lang="zh-CN" altLang="en-US" dirty="0"/>
              <a:t>数据异常</a:t>
            </a:r>
            <a:r>
              <a:rPr kumimoji="1" lang="en-US" altLang="zh-CN" dirty="0"/>
              <a:t>—</a:t>
            </a:r>
            <a:r>
              <a:rPr kumimoji="1" lang="zh-CN" altLang="en-US" sz="1400" dirty="0"/>
              <a:t>展现异常</a:t>
            </a:r>
            <a:r>
              <a:rPr kumimoji="1" lang="en-US" altLang="zh-CN" sz="1400" dirty="0"/>
              <a:t>/</a:t>
            </a:r>
            <a:r>
              <a:rPr kumimoji="1" lang="zh-CN" altLang="en-US" sz="1400" dirty="0"/>
              <a:t>点击异常</a:t>
            </a:r>
            <a:r>
              <a:rPr kumimoji="1" lang="en-US" altLang="zh-CN" sz="1400" dirty="0">
                <a:solidFill>
                  <a:schemeClr val="bg2">
                    <a:lumMod val="75000"/>
                  </a:schemeClr>
                </a:solidFill>
              </a:rPr>
              <a:t>/</a:t>
            </a:r>
            <a:r>
              <a:rPr kumimoji="1" lang="zh-CN" altLang="en-US" sz="1400" dirty="0">
                <a:solidFill>
                  <a:schemeClr val="bg2">
                    <a:lumMod val="75000"/>
                  </a:schemeClr>
                </a:solidFill>
              </a:rPr>
              <a:t>匹配异常</a:t>
            </a:r>
            <a:r>
              <a:rPr kumimoji="1" lang="en-US" altLang="zh-CN" sz="1400" dirty="0">
                <a:solidFill>
                  <a:schemeClr val="bg2">
                    <a:lumMod val="75000"/>
                  </a:schemeClr>
                </a:solidFill>
              </a:rPr>
              <a:t>/</a:t>
            </a:r>
            <a:r>
              <a:rPr kumimoji="1" lang="zh-CN" altLang="en-US" sz="1400" dirty="0">
                <a:solidFill>
                  <a:schemeClr val="bg2">
                    <a:lumMod val="75000"/>
                  </a:schemeClr>
                </a:solidFill>
              </a:rPr>
              <a:t>报表异常</a:t>
            </a:r>
            <a:r>
              <a:rPr kumimoji="1" lang="en-US" altLang="zh-CN" sz="1400" dirty="0">
                <a:solidFill>
                  <a:schemeClr val="bg2">
                    <a:lumMod val="75000"/>
                  </a:schemeClr>
                </a:solidFill>
              </a:rPr>
              <a:t>/</a:t>
            </a:r>
            <a:r>
              <a:rPr kumimoji="1" lang="zh-CN" altLang="en-US" sz="1400" dirty="0">
                <a:solidFill>
                  <a:schemeClr val="bg2">
                    <a:lumMod val="75000"/>
                  </a:schemeClr>
                </a:solidFill>
              </a:rPr>
              <a:t>消费超投</a:t>
            </a:r>
            <a:r>
              <a:rPr kumimoji="1" lang="en-US" altLang="zh-CN" sz="1400" dirty="0">
                <a:solidFill>
                  <a:schemeClr val="bg2">
                    <a:lumMod val="75000"/>
                  </a:schemeClr>
                </a:solidFill>
              </a:rPr>
              <a:t>/</a:t>
            </a:r>
            <a:r>
              <a:rPr kumimoji="1" lang="zh-CN" altLang="en-US" sz="1400" dirty="0">
                <a:solidFill>
                  <a:schemeClr val="bg2">
                    <a:lumMod val="75000"/>
                  </a:schemeClr>
                </a:solidFill>
              </a:rPr>
              <a:t>非投放地域异常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DAB3495-5DA5-A683-CD3E-B2ABF7F0524F}"/>
              </a:ext>
            </a:extLst>
          </p:cNvPr>
          <p:cNvSpPr txBox="1"/>
          <p:nvPr/>
        </p:nvSpPr>
        <p:spPr>
          <a:xfrm>
            <a:off x="519180" y="1073015"/>
            <a:ext cx="11104748" cy="1090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工单分类：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系统问题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点睛平台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数据异常</a:t>
            </a:r>
            <a:r>
              <a:rPr lang="zh-CN" altLang="zh-CN" sz="1200" kern="100" dirty="0">
                <a:effectLst/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highlight>
                  <a:srgbClr val="FFFF00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其他</a:t>
            </a:r>
            <a:r>
              <a:rPr lang="zh-CN" altLang="zh-CN" sz="1200" kern="100" dirty="0">
                <a:effectLst/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工单主题：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区域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【代理商】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搜索推广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点击异常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展现异常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匹配异常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消费异常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报表异常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账户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ID+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一级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二级行业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示例：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华中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成都龙擎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搜索推广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点击异常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1200" b="0" i="0" dirty="0">
                <a:solidFill>
                  <a:srgbClr val="6062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84xxx192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商务服务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4766ABE-AD56-4978-3705-580923B32D79}"/>
              </a:ext>
            </a:extLst>
          </p:cNvPr>
          <p:cNvSpPr/>
          <p:nvPr/>
        </p:nvSpPr>
        <p:spPr>
          <a:xfrm>
            <a:off x="456005" y="2693057"/>
            <a:ext cx="3528584" cy="3804800"/>
          </a:xfrm>
          <a:prstGeom prst="rect">
            <a:avLst/>
          </a:prstGeom>
          <a:solidFill>
            <a:schemeClr val="bg2">
              <a:lumMod val="95000"/>
            </a:schemeClr>
          </a:solidFill>
          <a:ln w="6350">
            <a:prstDash val="dash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AFD60C8-080F-BC26-B0EE-7D59ECA04B16}"/>
              </a:ext>
            </a:extLst>
          </p:cNvPr>
          <p:cNvSpPr txBox="1"/>
          <p:nvPr/>
        </p:nvSpPr>
        <p:spPr>
          <a:xfrm>
            <a:off x="443266" y="2739392"/>
            <a:ext cx="3393921" cy="3758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-【</a:t>
            </a: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账户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关键词展现增加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减少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/0</a:t>
            </a: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展现</a:t>
            </a:r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sz="1000" kern="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华中</a:t>
            </a:r>
            <a:r>
              <a: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】+【</a:t>
            </a: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成都龙擎</a:t>
            </a:r>
            <a:r>
              <a: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】+【</a:t>
            </a: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搜索推广</a:t>
            </a:r>
            <a:r>
              <a: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】+【</a:t>
            </a: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展现异常</a:t>
            </a:r>
            <a:r>
              <a: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】+84xxx192+【</a:t>
            </a: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商务服务</a:t>
            </a:r>
            <a:r>
              <a: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展会</a:t>
            </a:r>
            <a:r>
              <a: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000" kern="1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一、问题描述：</a:t>
            </a:r>
            <a:endParaRPr lang="en-US" altLang="zh-CN" sz="10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老师好，客户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全称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/</a:t>
            </a: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简称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，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投放业务：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XXXX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，近期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某天</a:t>
            </a: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账户</a:t>
            </a:r>
            <a:r>
              <a: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000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Xxx</a:t>
            </a: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词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展现异常，从</a:t>
            </a:r>
            <a:r>
              <a:rPr lang="en-US" altLang="zh-CN" sz="10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zh-CN" altLang="en-US" sz="10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日</a:t>
            </a:r>
            <a:r>
              <a:rPr lang="en-US" altLang="zh-CN" sz="1000" kern="100" dirty="0" err="1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XXw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增加到</a:t>
            </a:r>
            <a:r>
              <a:rPr lang="en-US" altLang="zh-CN" sz="1000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zh-CN" altLang="en-US" sz="1000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日</a:t>
            </a:r>
            <a:r>
              <a:rPr lang="en-US" altLang="zh-CN" sz="1000" kern="100" dirty="0" err="1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XXXXw</a:t>
            </a: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烦请老师协助处理，感谢支持</a:t>
            </a:r>
            <a:endParaRPr lang="en-US" altLang="zh-CN" sz="10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①：异常时间：</a:t>
            </a:r>
            <a:r>
              <a:rPr lang="en-US" altLang="zh-CN" sz="1000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ddd-ddd</a:t>
            </a:r>
            <a:endParaRPr lang="en-US" altLang="zh-CN" sz="10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②：异常端口：</a:t>
            </a:r>
            <a:r>
              <a: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PC</a:t>
            </a:r>
            <a:r>
              <a: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移动 （两个端口均涉及  请反馈比例）</a:t>
            </a:r>
            <a:endParaRPr lang="en-US" altLang="zh-CN" sz="10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③：操作记录：操作自查及描述</a:t>
            </a:r>
            <a:r>
              <a: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(0</a:t>
            </a: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展现需物料正常截图</a:t>
            </a:r>
            <a:r>
              <a: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④：热点事件：营销</a:t>
            </a:r>
            <a:r>
              <a: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考试等节点影响</a:t>
            </a:r>
            <a:endParaRPr lang="en-US" altLang="zh-CN" sz="10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⑤：异常关键词</a:t>
            </a:r>
            <a:r>
              <a: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搜索词：时间要对等，涉及词</a:t>
            </a:r>
            <a:r>
              <a: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2-5</a:t>
            </a:r>
            <a:r>
              <a:rPr lang="zh-CN" altLang="en-US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</a:t>
            </a:r>
            <a:r>
              <a:rPr lang="zh-CN" altLang="en-US" sz="1000" kern="1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请正文，较多附件表格 命名：</a:t>
            </a:r>
            <a:r>
              <a:rPr lang="zh-CN" altLang="en-US" sz="1000" kern="10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账户</a:t>
            </a:r>
            <a:r>
              <a:rPr lang="en-US" altLang="zh-CN" sz="1000" kern="10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id+</a:t>
            </a:r>
            <a:r>
              <a:rPr lang="zh-CN" altLang="en-US" sz="1000" kern="10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关键</a:t>
            </a:r>
            <a:r>
              <a:rPr lang="en-US" altLang="zh-CN" sz="1000" kern="10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000" kern="10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搜索词展现异常</a:t>
            </a:r>
            <a:endParaRPr lang="en-US" altLang="zh-CN" sz="1000" kern="100" dirty="0">
              <a:solidFill>
                <a:srgbClr val="FF000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10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10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0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二、诉求：</a:t>
            </a:r>
            <a:r>
              <a:rPr lang="en-US" altLang="zh-CN" sz="10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XXXXXXXXXX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0A6BE15-6DBF-103F-2EB9-CCBD9F6931E4}"/>
              </a:ext>
            </a:extLst>
          </p:cNvPr>
          <p:cNvSpPr/>
          <p:nvPr/>
        </p:nvSpPr>
        <p:spPr>
          <a:xfrm>
            <a:off x="456005" y="2394460"/>
            <a:ext cx="3541323" cy="357293"/>
          </a:xfrm>
          <a:prstGeom prst="rect">
            <a:avLst/>
          </a:prstGeom>
          <a:solidFill>
            <a:srgbClr val="538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工单详情</a:t>
            </a:r>
            <a:r>
              <a:rPr lang="en-US" altLang="zh-CN" sz="12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展现异常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4EF03CF-D154-E0D9-3228-859D1CEADB3C}"/>
              </a:ext>
            </a:extLst>
          </p:cNvPr>
          <p:cNvSpPr/>
          <p:nvPr/>
        </p:nvSpPr>
        <p:spPr>
          <a:xfrm>
            <a:off x="4189805" y="2693057"/>
            <a:ext cx="3506818" cy="3804800"/>
          </a:xfrm>
          <a:prstGeom prst="rect">
            <a:avLst/>
          </a:prstGeom>
          <a:solidFill>
            <a:schemeClr val="bg2">
              <a:lumMod val="95000"/>
            </a:schemeClr>
          </a:solidFill>
          <a:ln w="6350">
            <a:prstDash val="dash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E0FC5CC8-7F73-A226-AA19-AF0B5ABF7133}"/>
              </a:ext>
            </a:extLst>
          </p:cNvPr>
          <p:cNvGrpSpPr/>
          <p:nvPr/>
        </p:nvGrpSpPr>
        <p:grpSpPr>
          <a:xfrm>
            <a:off x="4142609" y="2394460"/>
            <a:ext cx="3566674" cy="3899751"/>
            <a:chOff x="4142609" y="2394460"/>
            <a:chExt cx="3566674" cy="3899751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4016D2C9-957D-7D73-F1CE-CF9AAB6ED5C5}"/>
                </a:ext>
              </a:extLst>
            </p:cNvPr>
            <p:cNvSpPr txBox="1"/>
            <p:nvPr/>
          </p:nvSpPr>
          <p:spPr>
            <a:xfrm>
              <a:off x="4142609" y="2739392"/>
              <a:ext cx="3504896" cy="35548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场景</a:t>
              </a:r>
              <a:r>
                <a:rPr lang="en-US" altLang="zh-CN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-【</a:t>
              </a: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账户</a:t>
              </a:r>
              <a:r>
                <a:rPr lang="en-US" altLang="zh-CN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关键词</a:t>
              </a:r>
              <a:r>
                <a:rPr lang="en-US" altLang="zh-CN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展现</a:t>
              </a:r>
              <a:r>
                <a:rPr lang="en-US" altLang="zh-CN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】</a:t>
              </a:r>
              <a:endParaRPr lang="en-US" altLang="zh-CN" sz="10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华中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】+【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成都龙擎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】+【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搜索推广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】+【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点击异常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】+84xxx192+【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商务服务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-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展会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endParaRPr lang="en-US" altLang="zh-CN" sz="1000" kern="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b="1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一、问题描述：</a:t>
              </a:r>
              <a:endParaRPr lang="en-US" altLang="zh-CN" sz="1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老师好，客户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(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全称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/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简称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)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Wingdings" panose="05000000000000000000" pitchFamily="2" charset="2"/>
                </a:rPr>
                <a:t>，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投放业务：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XXXX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</a:t>
              </a:r>
              <a:r>
                <a:rPr lang="zh-CN" altLang="en-US" sz="1000" kern="100" dirty="0">
                  <a:solidFill>
                    <a:srgbClr val="FF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投放地域：</a:t>
              </a:r>
              <a:r>
                <a:rPr lang="en-US" altLang="zh-CN" sz="1000" kern="100" dirty="0">
                  <a:solidFill>
                    <a:srgbClr val="FF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</a:t>
              </a:r>
              <a:r>
                <a:rPr lang="zh-CN" altLang="en-US" sz="1000" kern="100" dirty="0">
                  <a:solidFill>
                    <a:srgbClr val="FF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，投放时段：</a:t>
              </a:r>
              <a:r>
                <a:rPr lang="en-US" altLang="zh-CN" sz="1000" kern="100" dirty="0">
                  <a:solidFill>
                    <a:srgbClr val="FF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</a:t>
              </a:r>
              <a:r>
                <a:rPr lang="zh-CN" altLang="en-US" sz="1000" kern="100" dirty="0">
                  <a:solidFill>
                    <a:srgbClr val="FF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。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某天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账户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/</a:t>
              </a:r>
              <a:r>
                <a:rPr lang="en-US" altLang="zh-CN" sz="1000" kern="100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词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0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展现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烦请老师协助处理，感谢支持；</a:t>
              </a:r>
              <a:endParaRPr lang="en-US" altLang="zh-CN" sz="10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endParaRPr lang="en-US" altLang="zh-CN" sz="10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endParaRPr lang="en-US" altLang="zh-CN" sz="10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endParaRPr lang="en-US" altLang="zh-CN" sz="10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endParaRPr lang="en-US" altLang="zh-CN" sz="10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endParaRPr lang="en-US" altLang="zh-CN" sz="10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endParaRPr lang="en-US" altLang="zh-CN" sz="10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endParaRPr lang="en-US" altLang="zh-CN" sz="10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b="1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二、诉求：①</a:t>
              </a:r>
              <a:r>
                <a:rPr lang="en-US" altLang="zh-CN" sz="1000" b="1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XXXXXXX</a:t>
              </a:r>
              <a:r>
                <a:rPr lang="zh-CN" altLang="en-US" sz="1000" b="1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；②如有赔付需求请一次性说明</a:t>
              </a:r>
              <a:endParaRPr lang="en-US" altLang="zh-CN" sz="10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2A1AFFD6-A2AF-8F00-CB38-61E03CD186BF}"/>
                </a:ext>
              </a:extLst>
            </p:cNvPr>
            <p:cNvSpPr/>
            <p:nvPr/>
          </p:nvSpPr>
          <p:spPr>
            <a:xfrm>
              <a:off x="4189805" y="2394460"/>
              <a:ext cx="3519478" cy="357293"/>
            </a:xfrm>
            <a:prstGeom prst="rect">
              <a:avLst/>
            </a:prstGeom>
            <a:solidFill>
              <a:srgbClr val="538C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工单详情</a:t>
              </a:r>
              <a:r>
                <a:rPr lang="en-US" altLang="zh-CN" sz="1200" b="1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-0</a:t>
              </a:r>
              <a:r>
                <a:rPr lang="zh-CN" altLang="en-US" sz="1200" b="1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展现</a:t>
              </a:r>
              <a:endParaRPr lang="zh-CN" altLang="en-US" sz="12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D1E27A44-3707-AC85-4466-8C957D1775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0893630"/>
              </p:ext>
            </p:extLst>
          </p:nvPr>
        </p:nvGraphicFramePr>
        <p:xfrm>
          <a:off x="519313" y="5785114"/>
          <a:ext cx="3241825" cy="5067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5546">
                  <a:extLst>
                    <a:ext uri="{9D8B030D-6E8A-4147-A177-3AD203B41FA5}">
                      <a16:colId xmlns:a16="http://schemas.microsoft.com/office/drawing/2014/main" val="109902345"/>
                    </a:ext>
                  </a:extLst>
                </a:gridCol>
                <a:gridCol w="889526">
                  <a:extLst>
                    <a:ext uri="{9D8B030D-6E8A-4147-A177-3AD203B41FA5}">
                      <a16:colId xmlns:a16="http://schemas.microsoft.com/office/drawing/2014/main" val="1949305429"/>
                    </a:ext>
                  </a:extLst>
                </a:gridCol>
                <a:gridCol w="805159">
                  <a:extLst>
                    <a:ext uri="{9D8B030D-6E8A-4147-A177-3AD203B41FA5}">
                      <a16:colId xmlns:a16="http://schemas.microsoft.com/office/drawing/2014/main" val="463181980"/>
                    </a:ext>
                  </a:extLst>
                </a:gridCol>
                <a:gridCol w="741594">
                  <a:extLst>
                    <a:ext uri="{9D8B030D-6E8A-4147-A177-3AD203B41FA5}">
                      <a16:colId xmlns:a16="http://schemas.microsoft.com/office/drawing/2014/main" val="2070722873"/>
                    </a:ext>
                  </a:extLst>
                </a:gridCol>
              </a:tblGrid>
              <a:tr h="178647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搜索词</a:t>
                      </a:r>
                      <a:r>
                        <a:rPr lang="en-US" altLang="zh-CN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关键词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正常</a:t>
                      </a:r>
                      <a:b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1.1-1.3</a:t>
                      </a: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日均展现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异常</a:t>
                      </a:r>
                      <a:b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1.4-1.6</a:t>
                      </a: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日均展现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增幅</a:t>
                      </a:r>
                      <a:r>
                        <a:rPr lang="en-US" altLang="zh-CN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降幅比例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8593737"/>
                  </a:ext>
                </a:extLst>
              </a:tr>
              <a:tr h="8932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异常关键词</a:t>
                      </a:r>
                      <a:r>
                        <a:rPr lang="en-US" altLang="zh-CN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693942267"/>
                  </a:ext>
                </a:extLst>
              </a:tr>
              <a:tr h="89323">
                <a:tc>
                  <a:txBody>
                    <a:bodyPr/>
                    <a:lstStyle/>
                    <a:p>
                      <a:pPr algn="l" fontAlgn="ctr"/>
                      <a:endParaRPr lang="en-US" altLang="zh-CN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63692720"/>
                  </a:ext>
                </a:extLst>
              </a:tr>
            </a:tbl>
          </a:graphicData>
        </a:graphic>
      </p:graphicFrame>
      <p:grpSp>
        <p:nvGrpSpPr>
          <p:cNvPr id="13" name="组合 12">
            <a:extLst>
              <a:ext uri="{FF2B5EF4-FFF2-40B4-BE49-F238E27FC236}">
                <a16:creationId xmlns:a16="http://schemas.microsoft.com/office/drawing/2014/main" id="{DDB2ED9D-B5B5-88C4-200B-63217900E1E2}"/>
              </a:ext>
            </a:extLst>
          </p:cNvPr>
          <p:cNvGrpSpPr/>
          <p:nvPr/>
        </p:nvGrpSpPr>
        <p:grpSpPr>
          <a:xfrm>
            <a:off x="7836443" y="2411447"/>
            <a:ext cx="3899551" cy="4086410"/>
            <a:chOff x="7836444" y="2411447"/>
            <a:chExt cx="3570212" cy="4086410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94565A16-94AE-C938-6333-03C9CF697892}"/>
                </a:ext>
              </a:extLst>
            </p:cNvPr>
            <p:cNvSpPr/>
            <p:nvPr/>
          </p:nvSpPr>
          <p:spPr>
            <a:xfrm>
              <a:off x="7880067" y="2773536"/>
              <a:ext cx="3506818" cy="3724321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6350">
              <a:prstDash val="dash"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AA958932-D161-D4C5-8F38-C99171EB716E}"/>
                </a:ext>
              </a:extLst>
            </p:cNvPr>
            <p:cNvGrpSpPr/>
            <p:nvPr/>
          </p:nvGrpSpPr>
          <p:grpSpPr>
            <a:xfrm>
              <a:off x="7836444" y="2411447"/>
              <a:ext cx="3570212" cy="4086410"/>
              <a:chOff x="4139071" y="2394460"/>
              <a:chExt cx="3570212" cy="4086410"/>
            </a:xfrm>
          </p:grpSpPr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311993C-3AE2-0408-EB59-52B8A6CE3C87}"/>
                  </a:ext>
                </a:extLst>
              </p:cNvPr>
              <p:cNvSpPr txBox="1"/>
              <p:nvPr/>
            </p:nvSpPr>
            <p:spPr>
              <a:xfrm>
                <a:off x="4139071" y="2722405"/>
                <a:ext cx="3504896" cy="37584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场景</a:t>
                </a:r>
                <a:r>
                  <a:rPr lang="en-US" altLang="zh-CN" sz="1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-【</a:t>
                </a:r>
                <a:r>
                  <a:rPr lang="zh-CN" altLang="en-US" sz="1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账户</a:t>
                </a:r>
                <a:r>
                  <a:rPr lang="en-US" altLang="zh-CN" sz="1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sz="1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关键词点击增加</a:t>
                </a:r>
                <a:r>
                  <a:rPr lang="en-US" altLang="zh-CN" sz="1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sz="1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减少</a:t>
                </a:r>
                <a:r>
                  <a:rPr lang="en-US" altLang="zh-CN" sz="10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】</a:t>
                </a:r>
                <a:endParaRPr lang="en-US" altLang="zh-CN" sz="1000" kern="1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000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【</a:t>
                </a:r>
                <a:r>
                  <a:rPr lang="zh-CN" altLang="en-US" sz="1000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华中</a:t>
                </a:r>
                <a:r>
                  <a:rPr lang="en-US" altLang="zh-CN" sz="1000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】+【</a:t>
                </a:r>
                <a:r>
                  <a:rPr lang="zh-CN" altLang="en-US" sz="1000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成都龙擎</a:t>
                </a:r>
                <a:r>
                  <a:rPr lang="en-US" altLang="zh-CN" sz="1000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】+【</a:t>
                </a:r>
                <a:r>
                  <a:rPr lang="zh-CN" altLang="en-US" sz="1000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搜索推广</a:t>
                </a:r>
                <a:r>
                  <a:rPr lang="en-US" altLang="zh-CN" sz="1000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】+【</a:t>
                </a:r>
                <a:r>
                  <a:rPr lang="zh-CN" altLang="en-US" sz="1000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点击异常</a:t>
                </a:r>
                <a:r>
                  <a:rPr lang="en-US" altLang="zh-CN" sz="1000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】+84xxx192+【</a:t>
                </a:r>
                <a:r>
                  <a:rPr lang="zh-CN" altLang="en-US" sz="1000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商务服务</a:t>
                </a:r>
                <a:r>
                  <a:rPr lang="en-US" altLang="zh-CN" sz="1000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-</a:t>
                </a:r>
                <a:r>
                  <a:rPr lang="zh-CN" altLang="en-US" sz="1000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展会</a:t>
                </a:r>
                <a:r>
                  <a:rPr lang="en-US" altLang="zh-CN" sz="1000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】</a:t>
                </a:r>
                <a:endParaRPr lang="en-US" altLang="zh-CN" sz="1000" kern="1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000" b="1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一、问题描述：</a:t>
                </a:r>
                <a:endParaRPr lang="en-US" altLang="zh-CN" sz="1000" b="1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0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老师好，客户</a:t>
                </a:r>
                <a:r>
                  <a:rPr lang="en-US" altLang="zh-CN" sz="10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(</a:t>
                </a:r>
                <a:r>
                  <a:rPr lang="zh-CN" altLang="en-US" sz="10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全称</a:t>
                </a:r>
                <a:r>
                  <a:rPr lang="en-US" altLang="zh-CN" sz="10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/</a:t>
                </a:r>
                <a:r>
                  <a:rPr lang="zh-CN" altLang="en-US" sz="1000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简称</a:t>
                </a:r>
                <a:r>
                  <a:rPr lang="en-US" altLang="zh-CN" sz="10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)</a:t>
                </a:r>
                <a:r>
                  <a:rPr lang="zh-CN" altLang="en-US" sz="10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Wingdings" panose="05000000000000000000" pitchFamily="2" charset="2"/>
                  </a:rPr>
                  <a:t>，</a:t>
                </a:r>
                <a:r>
                  <a:rPr lang="zh-CN" altLang="en-US" sz="10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投放业务：</a:t>
                </a:r>
                <a:r>
                  <a:rPr lang="en-US" altLang="zh-CN" sz="10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XXXX</a:t>
                </a:r>
                <a:r>
                  <a:rPr lang="zh-CN" altLang="en-US" sz="10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，近期</a:t>
                </a:r>
                <a:r>
                  <a:rPr lang="en-US" altLang="zh-CN" sz="10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/</a:t>
                </a:r>
                <a:r>
                  <a:rPr lang="zh-CN" altLang="en-US" sz="10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某天</a:t>
                </a:r>
                <a:r>
                  <a:rPr lang="zh-CN" altLang="en-US" sz="1000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账户</a:t>
                </a:r>
                <a:r>
                  <a:rPr lang="en-US" altLang="zh-CN" sz="1000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/</a:t>
                </a:r>
                <a:r>
                  <a:rPr lang="en-US" altLang="zh-CN" sz="1000" kern="100" dirty="0" err="1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Xxx</a:t>
                </a:r>
                <a:r>
                  <a:rPr lang="zh-CN" altLang="en-US" sz="1000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词点击</a:t>
                </a:r>
                <a:r>
                  <a:rPr lang="zh-CN" altLang="en-US" sz="10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异常，从</a:t>
                </a:r>
                <a:r>
                  <a:rPr lang="en-US" altLang="zh-CN" sz="1000" kern="1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D</a:t>
                </a:r>
                <a:r>
                  <a:rPr lang="zh-CN" altLang="en-US" sz="1000" kern="1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日</a:t>
                </a:r>
                <a:r>
                  <a:rPr lang="en-US" altLang="zh-CN" sz="1000" kern="100" dirty="0">
                    <a:solidFill>
                      <a:srgbClr val="FF000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XX</a:t>
                </a:r>
                <a:r>
                  <a:rPr lang="zh-CN" altLang="en-US" sz="10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个增加到</a:t>
                </a:r>
                <a:r>
                  <a:rPr lang="en-US" altLang="zh-CN" sz="1000" kern="1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D</a:t>
                </a:r>
                <a:r>
                  <a:rPr lang="zh-CN" altLang="en-US" sz="1000" kern="1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日</a:t>
                </a:r>
                <a:r>
                  <a:rPr lang="en-US" altLang="zh-CN" sz="1000" kern="100" dirty="0">
                    <a:solidFill>
                      <a:srgbClr val="FF000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XX</a:t>
                </a:r>
                <a:r>
                  <a:rPr lang="zh-CN" altLang="en-US" sz="1000" kern="100" dirty="0">
                    <a:solidFill>
                      <a:srgbClr val="FF000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个</a:t>
                </a:r>
                <a:r>
                  <a:rPr lang="zh-CN" altLang="en-US" sz="1000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10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烦请老师协助处理，感谢支持</a:t>
                </a:r>
                <a:endPara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000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①：异常时间：</a:t>
                </a:r>
                <a:r>
                  <a:rPr lang="en-US" altLang="zh-CN" sz="1000" kern="100" dirty="0" err="1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ddd-ddd</a:t>
                </a:r>
                <a:endPara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0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②：异常端口：</a:t>
                </a:r>
                <a:r>
                  <a:rPr lang="en-US" altLang="zh-CN" sz="10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PC</a:t>
                </a:r>
                <a:r>
                  <a:rPr lang="en-US" altLang="zh-CN" sz="1000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/</a:t>
                </a:r>
                <a:r>
                  <a:rPr lang="zh-CN" altLang="en-US" sz="1000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移动 （两个端口均涉及  请反馈比例）</a:t>
                </a:r>
                <a:endPara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000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③：操作记录：账户</a:t>
                </a:r>
                <a:r>
                  <a:rPr lang="en-US" altLang="zh-CN" sz="1000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/</a:t>
                </a:r>
                <a:r>
                  <a:rPr lang="zh-CN" altLang="en-US" sz="1000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词期间操作调整自查及简单描述</a:t>
                </a:r>
                <a:endPara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000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④：热点事件：营销</a:t>
                </a:r>
                <a:r>
                  <a:rPr lang="en-US" altLang="zh-CN" sz="1000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/</a:t>
                </a:r>
                <a:r>
                  <a:rPr lang="zh-CN" altLang="en-US" sz="1000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考试等节点影响</a:t>
                </a:r>
                <a:endPara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000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⑤：异常关键词</a:t>
                </a:r>
                <a:r>
                  <a:rPr lang="en-US" altLang="zh-CN" sz="1000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/</a:t>
                </a:r>
                <a:r>
                  <a:rPr lang="zh-CN" altLang="en-US" sz="1000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搜索词：时间要对等，涉及词</a:t>
                </a:r>
                <a:r>
                  <a:rPr lang="en-US" altLang="zh-CN" sz="1000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2-5</a:t>
                </a:r>
                <a:r>
                  <a:rPr lang="zh-CN" altLang="en-US" sz="1000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个</a:t>
                </a:r>
                <a:r>
                  <a:rPr lang="zh-CN" altLang="en-US" sz="1000" kern="100" dirty="0">
                    <a:highlight>
                      <a:srgbClr val="FFFF00"/>
                    </a:highlight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请正文，较多附件表格 命名：</a:t>
                </a:r>
                <a:r>
                  <a:rPr lang="zh-CN" altLang="en-US" sz="1000" kern="100" dirty="0">
                    <a:solidFill>
                      <a:srgbClr val="FF0000"/>
                    </a:solidFill>
                    <a:highlight>
                      <a:srgbClr val="FFFF00"/>
                    </a:highlight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账户</a:t>
                </a:r>
                <a:r>
                  <a:rPr lang="en-US" altLang="zh-CN" sz="1000" kern="100" dirty="0">
                    <a:solidFill>
                      <a:srgbClr val="FF0000"/>
                    </a:solidFill>
                    <a:highlight>
                      <a:srgbClr val="FFFF00"/>
                    </a:highlight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id+</a:t>
                </a:r>
                <a:r>
                  <a:rPr lang="zh-CN" altLang="en-US" sz="1000" kern="100" dirty="0">
                    <a:solidFill>
                      <a:srgbClr val="FF0000"/>
                    </a:solidFill>
                    <a:highlight>
                      <a:srgbClr val="FFFF00"/>
                    </a:highlight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关键</a:t>
                </a:r>
                <a:r>
                  <a:rPr lang="en-US" altLang="zh-CN" sz="1000" kern="100" dirty="0">
                    <a:solidFill>
                      <a:srgbClr val="FF0000"/>
                    </a:solidFill>
                    <a:highlight>
                      <a:srgbClr val="FFFF00"/>
                    </a:highlight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/</a:t>
                </a:r>
                <a:r>
                  <a:rPr lang="zh-CN" altLang="en-US" sz="1000" kern="100" dirty="0">
                    <a:solidFill>
                      <a:srgbClr val="FF0000"/>
                    </a:solidFill>
                    <a:highlight>
                      <a:srgbClr val="FFFF00"/>
                    </a:highlight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搜索词点击异常</a:t>
                </a:r>
                <a:endParaRPr lang="en-US" altLang="zh-CN" sz="1000" kern="100" dirty="0">
                  <a:solidFill>
                    <a:srgbClr val="FF0000"/>
                  </a:solidFill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1000" b="1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1000" b="1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000" b="1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二、诉求：①</a:t>
                </a:r>
                <a:r>
                  <a:rPr lang="en-US" altLang="zh-CN" sz="1000" b="1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XXXXXXX</a:t>
                </a:r>
                <a:r>
                  <a:rPr lang="zh-CN" altLang="en-US" sz="1000" b="1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；②如有赔付需求请一次性说明</a:t>
                </a:r>
                <a:endParaRPr lang="en-US" altLang="zh-CN" sz="1000" b="1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FE9437DD-5AED-750E-3DEF-E74E20E5FC0D}"/>
                  </a:ext>
                </a:extLst>
              </p:cNvPr>
              <p:cNvSpPr/>
              <p:nvPr/>
            </p:nvSpPr>
            <p:spPr>
              <a:xfrm>
                <a:off x="4189805" y="2394460"/>
                <a:ext cx="3519478" cy="357293"/>
              </a:xfrm>
              <a:prstGeom prst="rect">
                <a:avLst/>
              </a:prstGeom>
              <a:solidFill>
                <a:srgbClr val="538C5B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1200" b="1" dirty="0">
                    <a:solidFill>
                      <a:schemeClr val="bg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工单详情</a:t>
                </a:r>
                <a:r>
                  <a:rPr lang="en-US" altLang="zh-CN" sz="1200" b="1" dirty="0">
                    <a:solidFill>
                      <a:schemeClr val="bg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</a:t>
                </a:r>
                <a:r>
                  <a:rPr lang="zh-CN" altLang="en-US" sz="1200" b="1" dirty="0">
                    <a:solidFill>
                      <a:schemeClr val="bg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点击异常</a:t>
                </a:r>
              </a:p>
            </p:txBody>
          </p:sp>
        </p:grp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88501D48-7575-5390-D636-C3B253733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7354" y="4387792"/>
            <a:ext cx="3355405" cy="1790824"/>
          </a:xfrm>
          <a:prstGeom prst="rect">
            <a:avLst/>
          </a:prstGeom>
        </p:spPr>
      </p:pic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224B977C-12F3-97C4-4003-8DABBF0CA1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4643616"/>
              </p:ext>
            </p:extLst>
          </p:nvPr>
        </p:nvGraphicFramePr>
        <p:xfrm>
          <a:off x="8031492" y="5759346"/>
          <a:ext cx="3241825" cy="5067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5546">
                  <a:extLst>
                    <a:ext uri="{9D8B030D-6E8A-4147-A177-3AD203B41FA5}">
                      <a16:colId xmlns:a16="http://schemas.microsoft.com/office/drawing/2014/main" val="109902345"/>
                    </a:ext>
                  </a:extLst>
                </a:gridCol>
                <a:gridCol w="889526">
                  <a:extLst>
                    <a:ext uri="{9D8B030D-6E8A-4147-A177-3AD203B41FA5}">
                      <a16:colId xmlns:a16="http://schemas.microsoft.com/office/drawing/2014/main" val="1949305429"/>
                    </a:ext>
                  </a:extLst>
                </a:gridCol>
                <a:gridCol w="805159">
                  <a:extLst>
                    <a:ext uri="{9D8B030D-6E8A-4147-A177-3AD203B41FA5}">
                      <a16:colId xmlns:a16="http://schemas.microsoft.com/office/drawing/2014/main" val="463181980"/>
                    </a:ext>
                  </a:extLst>
                </a:gridCol>
                <a:gridCol w="741594">
                  <a:extLst>
                    <a:ext uri="{9D8B030D-6E8A-4147-A177-3AD203B41FA5}">
                      <a16:colId xmlns:a16="http://schemas.microsoft.com/office/drawing/2014/main" val="2070722873"/>
                    </a:ext>
                  </a:extLst>
                </a:gridCol>
              </a:tblGrid>
              <a:tr h="178647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搜索词</a:t>
                      </a:r>
                      <a:r>
                        <a:rPr lang="en-US" altLang="zh-CN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关键词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正常</a:t>
                      </a:r>
                      <a:b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1.1-1.3</a:t>
                      </a: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日均点击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异常</a:t>
                      </a:r>
                      <a:b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1.4-1.6</a:t>
                      </a: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日均点击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增幅</a:t>
                      </a:r>
                      <a:r>
                        <a:rPr lang="en-US" altLang="zh-CN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降幅比例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8593737"/>
                  </a:ext>
                </a:extLst>
              </a:tr>
              <a:tr h="8932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异常关键词</a:t>
                      </a:r>
                      <a:r>
                        <a:rPr lang="en-US" altLang="zh-CN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693942267"/>
                  </a:ext>
                </a:extLst>
              </a:tr>
              <a:tr h="89323">
                <a:tc>
                  <a:txBody>
                    <a:bodyPr/>
                    <a:lstStyle/>
                    <a:p>
                      <a:pPr algn="l" fontAlgn="ctr"/>
                      <a:endParaRPr lang="en-US" altLang="zh-CN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63692720"/>
                  </a:ext>
                </a:extLst>
              </a:tr>
            </a:tbl>
          </a:graphicData>
        </a:graphic>
      </p:graphicFrame>
      <p:sp>
        <p:nvSpPr>
          <p:cNvPr id="20" name="灯片编号占位符 7">
            <a:extLst>
              <a:ext uri="{FF2B5EF4-FFF2-40B4-BE49-F238E27FC236}">
                <a16:creationId xmlns:a16="http://schemas.microsoft.com/office/drawing/2014/main" id="{B75E32D3-AC1B-47A6-7412-2CBBA0344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668" y="362643"/>
            <a:ext cx="612347" cy="33855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>
              <a:defRPr lang="en-US" altLang="zh-CN" sz="3400" smtClean="0">
                <a:solidFill>
                  <a:schemeClr val="tx2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001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15586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1522721" y="407271"/>
            <a:ext cx="8007173" cy="249299"/>
          </a:xfrm>
        </p:spPr>
        <p:txBody>
          <a:bodyPr/>
          <a:lstStyle/>
          <a:p>
            <a:r>
              <a:rPr kumimoji="1" lang="zh-CN" altLang="en-US" dirty="0"/>
              <a:t>数据异常</a:t>
            </a:r>
            <a:r>
              <a:rPr kumimoji="1" lang="en-US" altLang="zh-CN" dirty="0"/>
              <a:t>—</a:t>
            </a:r>
            <a:r>
              <a:rPr kumimoji="1" lang="zh-CN" altLang="en-US" sz="1400" dirty="0">
                <a:solidFill>
                  <a:schemeClr val="bg2">
                    <a:lumMod val="75000"/>
                  </a:schemeClr>
                </a:solidFill>
              </a:rPr>
              <a:t>展现异常</a:t>
            </a:r>
            <a:r>
              <a:rPr kumimoji="1" lang="en-US" altLang="zh-CN" sz="1400" dirty="0">
                <a:solidFill>
                  <a:schemeClr val="bg2">
                    <a:lumMod val="75000"/>
                  </a:schemeClr>
                </a:solidFill>
              </a:rPr>
              <a:t>/</a:t>
            </a:r>
            <a:r>
              <a:rPr kumimoji="1" lang="zh-CN" altLang="en-US" sz="1400" dirty="0">
                <a:solidFill>
                  <a:schemeClr val="bg2">
                    <a:lumMod val="75000"/>
                  </a:schemeClr>
                </a:solidFill>
              </a:rPr>
              <a:t>点击异常</a:t>
            </a:r>
            <a:r>
              <a:rPr kumimoji="1" lang="en-US" altLang="zh-CN" sz="1400" dirty="0">
                <a:solidFill>
                  <a:schemeClr val="bg2">
                    <a:lumMod val="75000"/>
                  </a:schemeClr>
                </a:solidFill>
              </a:rPr>
              <a:t>/</a:t>
            </a:r>
            <a:r>
              <a:rPr kumimoji="1" lang="zh-CN" altLang="en-US" sz="1400" dirty="0"/>
              <a:t>匹配异常</a:t>
            </a:r>
            <a:r>
              <a:rPr kumimoji="1" lang="en-US" altLang="zh-CN" sz="1400" dirty="0"/>
              <a:t>/</a:t>
            </a:r>
            <a:r>
              <a:rPr kumimoji="1" lang="zh-CN" altLang="en-US" sz="1400" dirty="0"/>
              <a:t>报表异常</a:t>
            </a:r>
            <a:r>
              <a:rPr kumimoji="1" lang="en-US" altLang="zh-CN" sz="1400" dirty="0"/>
              <a:t>/</a:t>
            </a:r>
            <a:r>
              <a:rPr kumimoji="1" lang="zh-CN" altLang="en-US" sz="1400" dirty="0"/>
              <a:t>消费超投</a:t>
            </a:r>
            <a:r>
              <a:rPr kumimoji="1" lang="en-US" altLang="zh-CN" sz="1400" dirty="0"/>
              <a:t>/</a:t>
            </a:r>
            <a:r>
              <a:rPr kumimoji="1" lang="zh-CN" altLang="en-US" sz="1400" dirty="0"/>
              <a:t>非投放地域异常</a:t>
            </a:r>
            <a:endParaRPr kumimoji="1" lang="zh-CN" altLang="en-US" sz="14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A65DAFC-DF2A-EFF9-18D6-0C0390A46EFF}"/>
              </a:ext>
            </a:extLst>
          </p:cNvPr>
          <p:cNvSpPr txBox="1"/>
          <p:nvPr/>
        </p:nvSpPr>
        <p:spPr>
          <a:xfrm>
            <a:off x="508412" y="1047173"/>
            <a:ext cx="11104748" cy="1603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工单分类：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系统问题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点睛平台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数据异常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其他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工单主题：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区域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【代理商】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搜索推广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匹配异常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报表异常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账户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ID+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一级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二级行业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示例：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华中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成都龙擎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搜索推广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匹配异常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1200" b="0" i="0" dirty="0">
                <a:solidFill>
                  <a:srgbClr val="6062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84xxx192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商务服务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华中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成都龙擎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搜索推广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报表异常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1200" b="0" i="0" dirty="0">
                <a:solidFill>
                  <a:srgbClr val="6062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84xxx192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商务服务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3379B62-74C2-CCC1-D8B6-489603707B1C}"/>
              </a:ext>
            </a:extLst>
          </p:cNvPr>
          <p:cNvGrpSpPr/>
          <p:nvPr/>
        </p:nvGrpSpPr>
        <p:grpSpPr>
          <a:xfrm>
            <a:off x="357604" y="2726154"/>
            <a:ext cx="4094649" cy="3758008"/>
            <a:chOff x="542665" y="2726154"/>
            <a:chExt cx="3350192" cy="375800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C51F96F-9FC4-966E-D488-70AFA9F2ECC1}"/>
                </a:ext>
              </a:extLst>
            </p:cNvPr>
            <p:cNvSpPr/>
            <p:nvPr/>
          </p:nvSpPr>
          <p:spPr>
            <a:xfrm>
              <a:off x="542665" y="3024751"/>
              <a:ext cx="3350192" cy="3459411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6350">
              <a:prstDash val="dash"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70EA1BB9-27C6-8B60-0401-EF87CED264FB}"/>
                </a:ext>
              </a:extLst>
            </p:cNvPr>
            <p:cNvSpPr txBox="1"/>
            <p:nvPr/>
          </p:nvSpPr>
          <p:spPr>
            <a:xfrm>
              <a:off x="544587" y="3057409"/>
              <a:ext cx="3151024" cy="32968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场景</a:t>
              </a:r>
              <a:r>
                <a:rPr lang="en-US" altLang="zh-CN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-【</a:t>
              </a: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搜索词和关键词的相关性较低</a:t>
              </a:r>
              <a:r>
                <a:rPr lang="en-US" altLang="zh-CN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】</a:t>
              </a:r>
              <a:endParaRPr lang="en-US" altLang="zh-CN" sz="10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华中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成都龙擎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搜索推广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匹配异常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en-US" altLang="zh-CN" sz="1000" b="0" i="0" dirty="0">
                  <a:solidFill>
                    <a:srgbClr val="606266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84xxx192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区域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-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商务服务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-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展会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endParaRPr lang="en-US" altLang="zh-CN" sz="1000" kern="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b="1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问题描述：</a:t>
              </a:r>
              <a:endParaRPr lang="en-US" altLang="zh-CN" sz="1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老师好，客户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，投放业务：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XXXX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，近期搜索词和关键词的相关性却较低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，导致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XXXX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烦请老师优化处理，感谢支持</a:t>
              </a: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①：异常时间：</a:t>
              </a:r>
              <a:r>
                <a:rPr lang="en-US" altLang="zh-CN" sz="1000" kern="100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ddd-ddd</a:t>
              </a:r>
              <a:endPara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②：异常端口：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PC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移动 （两个端口均涉及  请反馈比例）</a:t>
              </a:r>
              <a:endPara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③：是否修改过匹配方式：</a:t>
              </a:r>
              <a:endPara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③：操作记录：账户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词期间操作调整自查及简单描述</a:t>
              </a:r>
              <a:endPara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④：异常关键词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搜索词：提供表格附件，如下两种方式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2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选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，建议提供第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2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种，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,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如第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种方式，请将异常搜索词标记，表头如下：</a:t>
              </a:r>
              <a:endPara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endParaRPr lang="en-US" altLang="zh-CN" sz="1000" kern="10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endParaRPr lang="zh-CN" altLang="en-US" sz="1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CBE91C0A-A3AA-5275-18A3-C534BCD1A93F}"/>
                </a:ext>
              </a:extLst>
            </p:cNvPr>
            <p:cNvSpPr/>
            <p:nvPr/>
          </p:nvSpPr>
          <p:spPr>
            <a:xfrm>
              <a:off x="542666" y="2726154"/>
              <a:ext cx="3350191" cy="331255"/>
            </a:xfrm>
            <a:prstGeom prst="rect">
              <a:avLst/>
            </a:prstGeom>
            <a:solidFill>
              <a:srgbClr val="538C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工单详情</a:t>
              </a:r>
              <a:r>
                <a:rPr lang="en-US" altLang="zh-CN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匹配异常</a:t>
              </a: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58EE80AF-D843-F1FB-C9AE-97A0C1D48103}"/>
              </a:ext>
            </a:extLst>
          </p:cNvPr>
          <p:cNvGrpSpPr/>
          <p:nvPr/>
        </p:nvGrpSpPr>
        <p:grpSpPr>
          <a:xfrm>
            <a:off x="4524455" y="2726154"/>
            <a:ext cx="3642776" cy="4161402"/>
            <a:chOff x="6693093" y="2726154"/>
            <a:chExt cx="3535652" cy="4161402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2AF26CF-5186-CCBC-38A6-2EB62BCD1060}"/>
                </a:ext>
              </a:extLst>
            </p:cNvPr>
            <p:cNvSpPr/>
            <p:nvPr/>
          </p:nvSpPr>
          <p:spPr>
            <a:xfrm>
              <a:off x="6693093" y="3024751"/>
              <a:ext cx="3506818" cy="3459411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6350">
              <a:prstDash val="dash"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E808BD45-8CE5-3B2F-6AC2-70C5153A7385}"/>
                </a:ext>
              </a:extLst>
            </p:cNvPr>
            <p:cNvSpPr txBox="1"/>
            <p:nvPr/>
          </p:nvSpPr>
          <p:spPr>
            <a:xfrm>
              <a:off x="6723849" y="3101904"/>
              <a:ext cx="3504896" cy="37856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场景</a:t>
              </a:r>
              <a:r>
                <a:rPr lang="en-US" altLang="zh-CN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-【</a:t>
              </a: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消费超投</a:t>
              </a:r>
              <a:r>
                <a:rPr lang="en-US" altLang="zh-CN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】</a:t>
              </a:r>
              <a:endParaRPr lang="en-US" altLang="zh-CN" sz="10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华中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成都龙擎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搜索推广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rPr>
                <a:t>报表异常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en-US" altLang="zh-CN" sz="1000" b="0" i="0" dirty="0">
                  <a:solidFill>
                    <a:srgbClr val="606266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84xxx192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商务服务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-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展会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endParaRPr lang="en-US" altLang="zh-CN" sz="1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endParaRPr lang="en-US" altLang="zh-CN" sz="1000" kern="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b="1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问题描述：</a:t>
              </a:r>
              <a:endParaRPr lang="en-US" altLang="zh-CN" sz="1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老师好，客户：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，投放业务：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XXXX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，需求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*****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，需要老师协助处理，感谢支持，谢谢</a:t>
              </a: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表格放正文：</a:t>
              </a: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endPara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endPara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b="1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截图如有：放正文</a:t>
              </a:r>
              <a:endParaRPr lang="en-US" altLang="zh-CN" sz="1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endParaRPr lang="en-US" altLang="zh-CN" sz="10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endParaRPr lang="zh-CN" altLang="en-US" sz="1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DF82B0DA-AFFE-606E-7C95-6C2E04425247}"/>
                </a:ext>
              </a:extLst>
            </p:cNvPr>
            <p:cNvSpPr/>
            <p:nvPr/>
          </p:nvSpPr>
          <p:spPr>
            <a:xfrm>
              <a:off x="6693093" y="2726154"/>
              <a:ext cx="3519478" cy="357293"/>
            </a:xfrm>
            <a:prstGeom prst="rect">
              <a:avLst/>
            </a:prstGeom>
            <a:solidFill>
              <a:srgbClr val="538C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工单详情</a:t>
              </a:r>
              <a:r>
                <a:rPr lang="en-US" altLang="zh-CN" sz="1200" b="1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1200" b="1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消费</a:t>
              </a:r>
              <a:r>
                <a:rPr lang="zh-CN" altLang="en-US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超投</a:t>
              </a:r>
            </a:p>
          </p:txBody>
        </p:sp>
      </p:grp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3796A35F-C5B6-5B21-AB3C-9DFF60BCE9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8272775"/>
              </p:ext>
            </p:extLst>
          </p:nvPr>
        </p:nvGraphicFramePr>
        <p:xfrm>
          <a:off x="410542" y="5936066"/>
          <a:ext cx="3731611" cy="408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7967">
                  <a:extLst>
                    <a:ext uri="{9D8B030D-6E8A-4147-A177-3AD203B41FA5}">
                      <a16:colId xmlns:a16="http://schemas.microsoft.com/office/drawing/2014/main" val="109902345"/>
                    </a:ext>
                  </a:extLst>
                </a:gridCol>
                <a:gridCol w="1023518">
                  <a:extLst>
                    <a:ext uri="{9D8B030D-6E8A-4147-A177-3AD203B41FA5}">
                      <a16:colId xmlns:a16="http://schemas.microsoft.com/office/drawing/2014/main" val="1949305429"/>
                    </a:ext>
                  </a:extLst>
                </a:gridCol>
                <a:gridCol w="635284">
                  <a:extLst>
                    <a:ext uri="{9D8B030D-6E8A-4147-A177-3AD203B41FA5}">
                      <a16:colId xmlns:a16="http://schemas.microsoft.com/office/drawing/2014/main" val="463181980"/>
                    </a:ext>
                  </a:extLst>
                </a:gridCol>
                <a:gridCol w="707421">
                  <a:extLst>
                    <a:ext uri="{9D8B030D-6E8A-4147-A177-3AD203B41FA5}">
                      <a16:colId xmlns:a16="http://schemas.microsoft.com/office/drawing/2014/main" val="2070722873"/>
                    </a:ext>
                  </a:extLst>
                </a:gridCol>
                <a:gridCol w="707421">
                  <a:extLst>
                    <a:ext uri="{9D8B030D-6E8A-4147-A177-3AD203B41FA5}">
                      <a16:colId xmlns:a16="http://schemas.microsoft.com/office/drawing/2014/main" val="453796636"/>
                    </a:ext>
                  </a:extLst>
                </a:gridCol>
              </a:tblGrid>
              <a:tr h="15184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关键词</a:t>
                      </a:r>
                    </a:p>
                  </a:txBody>
                  <a:tcPr marL="6350" marR="6350" marT="6350" marB="0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异常搜索词</a:t>
                      </a:r>
                    </a:p>
                  </a:txBody>
                  <a:tcPr marL="6350" marR="6350" marT="6350" marB="0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匹配方式</a:t>
                      </a:r>
                    </a:p>
                  </a:txBody>
                  <a:tcPr marL="6350" marR="6350" marT="6350" marB="0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消费</a:t>
                      </a:r>
                    </a:p>
                  </a:txBody>
                  <a:tcPr marL="6350" marR="6350" marT="6350" marB="0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点击</a:t>
                      </a:r>
                    </a:p>
                  </a:txBody>
                  <a:tcPr marL="6350" marR="6350" marT="6350" marB="0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8593737"/>
                  </a:ext>
                </a:extLst>
              </a:tr>
              <a:tr h="102919">
                <a:tc>
                  <a:txBody>
                    <a:bodyPr/>
                    <a:lstStyle/>
                    <a:p>
                      <a:pPr algn="l" fontAlgn="ctr"/>
                      <a:endParaRPr lang="en-US" altLang="zh-CN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3942267"/>
                  </a:ext>
                </a:extLst>
              </a:tr>
              <a:tr h="102919">
                <a:tc>
                  <a:txBody>
                    <a:bodyPr/>
                    <a:lstStyle/>
                    <a:p>
                      <a:pPr algn="l" fontAlgn="ctr"/>
                      <a:endParaRPr lang="en-US" altLang="zh-CN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3692720"/>
                  </a:ext>
                </a:extLst>
              </a:tr>
            </a:tbl>
          </a:graphicData>
        </a:graphic>
      </p:graphicFrame>
      <p:pic>
        <p:nvPicPr>
          <p:cNvPr id="15" name="图片 14">
            <a:extLst>
              <a:ext uri="{FF2B5EF4-FFF2-40B4-BE49-F238E27FC236}">
                <a16:creationId xmlns:a16="http://schemas.microsoft.com/office/drawing/2014/main" id="{8EBCF161-6727-6401-4F8A-6F9507F75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2102" y="5106393"/>
            <a:ext cx="3450818" cy="670744"/>
          </a:xfrm>
          <a:prstGeom prst="rect">
            <a:avLst/>
          </a:prstGeom>
        </p:spPr>
      </p:pic>
      <p:grpSp>
        <p:nvGrpSpPr>
          <p:cNvPr id="16" name="组合 15">
            <a:extLst>
              <a:ext uri="{FF2B5EF4-FFF2-40B4-BE49-F238E27FC236}">
                <a16:creationId xmlns:a16="http://schemas.microsoft.com/office/drawing/2014/main" id="{320714FB-D319-895C-9E79-072C1D4C7A9B}"/>
              </a:ext>
            </a:extLst>
          </p:cNvPr>
          <p:cNvGrpSpPr/>
          <p:nvPr/>
        </p:nvGrpSpPr>
        <p:grpSpPr>
          <a:xfrm>
            <a:off x="8196936" y="2726154"/>
            <a:ext cx="3626111" cy="3758008"/>
            <a:chOff x="6693093" y="2726154"/>
            <a:chExt cx="3519478" cy="3758008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CD75856D-D24D-05F5-A134-4EA0674297B6}"/>
                </a:ext>
              </a:extLst>
            </p:cNvPr>
            <p:cNvSpPr/>
            <p:nvPr/>
          </p:nvSpPr>
          <p:spPr>
            <a:xfrm>
              <a:off x="6693093" y="3024751"/>
              <a:ext cx="3506818" cy="3459411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6350">
              <a:prstDash val="dash"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CB46EEA1-E16E-365C-A916-7E1BAAD51887}"/>
                </a:ext>
              </a:extLst>
            </p:cNvPr>
            <p:cNvSpPr txBox="1"/>
            <p:nvPr/>
          </p:nvSpPr>
          <p:spPr>
            <a:xfrm>
              <a:off x="6707675" y="3101904"/>
              <a:ext cx="3504896" cy="33239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场景</a:t>
              </a:r>
              <a:r>
                <a:rPr lang="en-US" altLang="zh-CN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-【</a:t>
              </a: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非投放地域异常</a:t>
              </a:r>
              <a:r>
                <a:rPr lang="en-US" altLang="zh-CN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】</a:t>
              </a:r>
              <a:endParaRPr lang="en-US" altLang="zh-CN" sz="10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华中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成都龙擎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搜索推广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rPr>
                <a:t>报表异常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en-US" altLang="zh-CN" sz="1000" b="0" i="0" dirty="0">
                  <a:solidFill>
                    <a:srgbClr val="606266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84xxx192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商务服务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-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展会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endParaRPr lang="en-US" altLang="zh-CN" sz="1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endParaRPr lang="en-US" altLang="zh-CN" sz="1000" kern="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b="1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问题描述：</a:t>
              </a:r>
              <a:endParaRPr lang="en-US" altLang="zh-CN" sz="1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老师好，客户：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，投放业务：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XXXX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，需求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*****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，需要老师协助处理，感谢支持，谢谢</a:t>
              </a:r>
              <a:endParaRPr lang="en-US" altLang="zh-CN" sz="1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表格放正文：</a:t>
              </a: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endPara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endPara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b="1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截图如有：放正文</a:t>
              </a:r>
              <a:endParaRPr lang="en-US" altLang="zh-CN" sz="1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1715248A-E745-44B5-C9DC-91783CC0FF3F}"/>
                </a:ext>
              </a:extLst>
            </p:cNvPr>
            <p:cNvSpPr/>
            <p:nvPr/>
          </p:nvSpPr>
          <p:spPr>
            <a:xfrm>
              <a:off x="6693093" y="2726154"/>
              <a:ext cx="3519478" cy="357293"/>
            </a:xfrm>
            <a:prstGeom prst="rect">
              <a:avLst/>
            </a:prstGeom>
            <a:solidFill>
              <a:srgbClr val="538C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工单详情</a:t>
              </a:r>
              <a:r>
                <a:rPr lang="en-US" altLang="zh-CN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非投放地域异常</a:t>
              </a:r>
            </a:p>
          </p:txBody>
        </p:sp>
      </p:grpSp>
      <p:pic>
        <p:nvPicPr>
          <p:cNvPr id="20" name="图片 19">
            <a:extLst>
              <a:ext uri="{FF2B5EF4-FFF2-40B4-BE49-F238E27FC236}">
                <a16:creationId xmlns:a16="http://schemas.microsoft.com/office/drawing/2014/main" id="{E58AF642-262D-2C2C-6C44-D18DE777BA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1762" y="5106393"/>
            <a:ext cx="3352689" cy="670744"/>
          </a:xfrm>
          <a:prstGeom prst="rect">
            <a:avLst/>
          </a:prstGeom>
          <a:ln w="9525">
            <a:solidFill>
              <a:schemeClr val="bg2">
                <a:lumMod val="50000"/>
              </a:schemeClr>
            </a:solidFill>
          </a:ln>
        </p:spPr>
      </p:pic>
      <p:sp>
        <p:nvSpPr>
          <p:cNvPr id="21" name="灯片编号占位符 7">
            <a:extLst>
              <a:ext uri="{FF2B5EF4-FFF2-40B4-BE49-F238E27FC236}">
                <a16:creationId xmlns:a16="http://schemas.microsoft.com/office/drawing/2014/main" id="{D6DB6B6F-B814-9F9F-BBCD-63C5B6822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668" y="362643"/>
            <a:ext cx="612347" cy="33855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>
              <a:defRPr lang="en-US" altLang="zh-CN" sz="3400" smtClean="0">
                <a:solidFill>
                  <a:schemeClr val="tx2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001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05694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1522721" y="407271"/>
            <a:ext cx="6510815" cy="249299"/>
          </a:xfrm>
        </p:spPr>
        <p:txBody>
          <a:bodyPr/>
          <a:lstStyle/>
          <a:p>
            <a:r>
              <a:rPr kumimoji="1" lang="zh-CN" altLang="en-US" dirty="0"/>
              <a:t>数据异常</a:t>
            </a:r>
            <a:r>
              <a:rPr kumimoji="1" lang="en-US" altLang="zh-CN" dirty="0"/>
              <a:t>—</a:t>
            </a:r>
            <a:r>
              <a:rPr kumimoji="1" lang="en-US" altLang="zh-CN" sz="1400" dirty="0"/>
              <a:t>IP</a:t>
            </a:r>
            <a:r>
              <a:rPr kumimoji="1" lang="zh-CN" altLang="en-US" sz="1400" dirty="0"/>
              <a:t>异常</a:t>
            </a:r>
            <a:r>
              <a:rPr kumimoji="1" lang="en-US" altLang="zh-CN" sz="1400" dirty="0"/>
              <a:t>/CPC</a:t>
            </a:r>
            <a:r>
              <a:rPr kumimoji="1" lang="zh-CN" altLang="en-US" sz="1400" dirty="0"/>
              <a:t>异常</a:t>
            </a:r>
            <a:endParaRPr kumimoji="1" lang="zh-CN" altLang="en-US" sz="1400" dirty="0">
              <a:solidFill>
                <a:schemeClr val="bg2">
                  <a:lumMod val="75000"/>
                </a:schemeClr>
              </a:solidFill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D4A3F04-F474-7395-65FC-D8E6958BDD61}"/>
              </a:ext>
            </a:extLst>
          </p:cNvPr>
          <p:cNvGrpSpPr/>
          <p:nvPr/>
        </p:nvGrpSpPr>
        <p:grpSpPr>
          <a:xfrm>
            <a:off x="920619" y="2390304"/>
            <a:ext cx="5192487" cy="3758008"/>
            <a:chOff x="6693093" y="2726154"/>
            <a:chExt cx="3539475" cy="3758008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4B831D50-5F8C-C608-2B50-039CA4072E31}"/>
                </a:ext>
              </a:extLst>
            </p:cNvPr>
            <p:cNvSpPr/>
            <p:nvPr/>
          </p:nvSpPr>
          <p:spPr>
            <a:xfrm>
              <a:off x="6693093" y="3024751"/>
              <a:ext cx="3506818" cy="3459411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6350">
              <a:prstDash val="dash"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1030EF07-DF7D-00A3-3F15-65EE57FE7EB8}"/>
                </a:ext>
              </a:extLst>
            </p:cNvPr>
            <p:cNvSpPr txBox="1"/>
            <p:nvPr/>
          </p:nvSpPr>
          <p:spPr>
            <a:xfrm>
              <a:off x="6727672" y="3068295"/>
              <a:ext cx="3504896" cy="23734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场景</a:t>
              </a:r>
              <a:r>
                <a:rPr lang="en-US" altLang="zh-CN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-【</a:t>
              </a: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反馈</a:t>
              </a:r>
              <a:r>
                <a:rPr lang="en-US" altLang="zh-CN" sz="1000" b="1" dirty="0" err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多次点击，异地</a:t>
              </a:r>
              <a:r>
                <a:rPr lang="en-US" altLang="zh-CN" sz="1000" b="1" dirty="0" err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等</a:t>
              </a:r>
              <a:r>
                <a:rPr lang="en-US" altLang="zh-CN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】</a:t>
              </a:r>
              <a:endParaRPr lang="en-US" altLang="zh-CN" sz="10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华中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成都龙擎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搜索推广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en-US" altLang="zh-CN" sz="1000" kern="100" dirty="0" err="1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ip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异常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en-US" altLang="zh-CN" sz="1000" b="0" i="0" dirty="0">
                  <a:solidFill>
                    <a:srgbClr val="606266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84xxx192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商务服务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-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展会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endParaRPr lang="en-US" altLang="zh-CN" sz="1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endParaRPr lang="en-US" altLang="zh-CN" sz="1000" kern="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b="1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问题描述：</a:t>
              </a:r>
              <a:endParaRPr lang="en-US" altLang="zh-CN" sz="1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老师好，客户：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，投放业务：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XXXX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DD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日客户反馈账户同一个</a:t>
              </a:r>
              <a:r>
                <a:rPr lang="en-US" altLang="zh-CN" sz="1000" kern="100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ip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某几个</a:t>
              </a:r>
              <a:r>
                <a:rPr lang="en-US" altLang="zh-CN" sz="1000" kern="100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ip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重复多次点击“关键词”，且扣费，客户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反馈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，烦请处理，谢谢</a:t>
              </a: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客户诉求：</a:t>
              </a:r>
              <a:r>
                <a:rPr lang="en-US" altLang="zh-CN" sz="1000" kern="100" dirty="0"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XXXX</a:t>
              </a:r>
              <a:r>
                <a:rPr lang="zh-CN" altLang="en-US" sz="1000" kern="100" dirty="0"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赔付</a:t>
              </a:r>
              <a:r>
                <a:rPr lang="en-US" altLang="zh-CN" sz="1000" kern="100" dirty="0"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1000" kern="100" dirty="0"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优化流量</a:t>
              </a:r>
              <a:r>
                <a:rPr lang="en-US" altLang="zh-CN" sz="1000" kern="100" dirty="0"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…………</a:t>
              </a:r>
              <a:endParaRPr lang="en-US" altLang="zh-CN" sz="1000" kern="100" dirty="0">
                <a:effectLst/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endPara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附件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要求：</a:t>
              </a:r>
              <a:endPara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①异常</a:t>
              </a:r>
              <a:r>
                <a:rPr lang="en-US" altLang="zh-CN" sz="1000" kern="100" dirty="0" err="1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ip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访问明细表格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包含涉及得关键词及搜索词情况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A27D3B1-9E08-E125-40D5-5E2C92CAD768}"/>
                </a:ext>
              </a:extLst>
            </p:cNvPr>
            <p:cNvSpPr/>
            <p:nvPr/>
          </p:nvSpPr>
          <p:spPr>
            <a:xfrm>
              <a:off x="6693093" y="2726154"/>
              <a:ext cx="3519478" cy="357293"/>
            </a:xfrm>
            <a:prstGeom prst="rect">
              <a:avLst/>
            </a:prstGeom>
            <a:solidFill>
              <a:srgbClr val="538C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工单详情</a:t>
              </a:r>
              <a:r>
                <a:rPr lang="en-US" altLang="zh-CN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-IP</a:t>
              </a:r>
              <a:r>
                <a:rPr lang="zh-CN" altLang="en-US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异常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C7AE14F4-FB96-ADDF-A96B-DFDE34D03AAD}"/>
              </a:ext>
            </a:extLst>
          </p:cNvPr>
          <p:cNvGrpSpPr/>
          <p:nvPr/>
        </p:nvGrpSpPr>
        <p:grpSpPr>
          <a:xfrm>
            <a:off x="6257290" y="2390304"/>
            <a:ext cx="5163151" cy="3758008"/>
            <a:chOff x="6693093" y="2726154"/>
            <a:chExt cx="3539475" cy="3758008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1CFEC6D-2DAF-571E-B3F4-D8E6A05D72B3}"/>
                </a:ext>
              </a:extLst>
            </p:cNvPr>
            <p:cNvSpPr/>
            <p:nvPr/>
          </p:nvSpPr>
          <p:spPr>
            <a:xfrm>
              <a:off x="6693093" y="3024751"/>
              <a:ext cx="3506818" cy="3459411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6350">
              <a:prstDash val="dash"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B5A9F5A2-9B30-7C93-10AE-5816F72777DB}"/>
                </a:ext>
              </a:extLst>
            </p:cNvPr>
            <p:cNvSpPr txBox="1"/>
            <p:nvPr/>
          </p:nvSpPr>
          <p:spPr>
            <a:xfrm>
              <a:off x="6727672" y="3068295"/>
              <a:ext cx="3504896" cy="26043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场景</a:t>
              </a:r>
              <a:r>
                <a:rPr lang="en-US" altLang="zh-CN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-【</a:t>
              </a:r>
              <a:r>
                <a:rPr lang="en-US" altLang="zh-CN" sz="1000" b="1" dirty="0" err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cpc</a:t>
              </a: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突然某个节点异常高</a:t>
              </a:r>
              <a:r>
                <a:rPr lang="en-US" altLang="zh-CN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低</a:t>
              </a:r>
              <a:r>
                <a:rPr lang="en-US" altLang="zh-CN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】</a:t>
              </a:r>
              <a:endParaRPr lang="en-US" altLang="zh-CN" sz="10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华中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成都龙擎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搜索推广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en-US" altLang="zh-CN" sz="1000" kern="100" dirty="0" err="1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cpc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异常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en-US" altLang="zh-CN" sz="1000" b="0" i="0" dirty="0">
                  <a:solidFill>
                    <a:srgbClr val="606266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84xxx192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商务服务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-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展会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endParaRPr lang="en-US" altLang="zh-CN" sz="1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endParaRPr lang="en-US" altLang="zh-CN" sz="1000" kern="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b="1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问题描述：</a:t>
              </a:r>
              <a:endParaRPr lang="en-US" altLang="zh-CN" sz="1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老师好，客户：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，投放业务：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XXXX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Dd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日账户“某个词”</a:t>
              </a:r>
              <a:r>
                <a:rPr lang="en-US" altLang="zh-CN" sz="1000" kern="100" dirty="0" err="1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cpc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突高，出价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，实际</a:t>
              </a:r>
              <a:r>
                <a:rPr lang="en-US" altLang="zh-CN" sz="1000" kern="100" dirty="0" err="1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cpc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扣费多少，客户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XXXX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反馈，烦请处理，谢谢</a:t>
              </a: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①账户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id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：</a:t>
              </a: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②是否投放</a:t>
              </a:r>
              <a:r>
                <a:rPr lang="en-US" altLang="zh-CN" sz="1000" kern="100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ocpc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：</a:t>
              </a:r>
              <a:endPara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③投放包现阶段：</a:t>
              </a: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1000" kern="100" dirty="0"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未投</a:t>
              </a:r>
              <a:r>
                <a:rPr lang="en-US" altLang="zh-CN" sz="1000" kern="100" dirty="0"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o</a:t>
              </a:r>
              <a:r>
                <a:rPr lang="zh-CN" altLang="en-US" sz="1000" kern="100" dirty="0"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账户 请排查关键词所在计划和推广组是否开通溢价工具，并适当截图 放置正文</a:t>
              </a:r>
              <a:endParaRPr lang="en-US" altLang="zh-CN" sz="1000" kern="100" dirty="0">
                <a:effectLst/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客户诉求：</a:t>
              </a:r>
              <a:r>
                <a:rPr lang="en-US" altLang="zh-CN" sz="1000" kern="100" dirty="0"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XXXX</a:t>
              </a:r>
              <a:r>
                <a:rPr lang="zh-CN" altLang="en-US" sz="1000" kern="100" dirty="0"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赔付</a:t>
              </a:r>
              <a:r>
                <a:rPr lang="en-US" altLang="zh-CN" sz="1000" kern="100" dirty="0"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1000" kern="100" dirty="0"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优化流量</a:t>
              </a:r>
              <a:r>
                <a:rPr lang="en-US" altLang="zh-CN" sz="1000" kern="100" dirty="0"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…………</a:t>
              </a:r>
              <a:endParaRPr lang="en-US" altLang="zh-CN" sz="1000" kern="100" dirty="0">
                <a:effectLst/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73E238F-441C-7D42-4EC7-8ED901CFB02C}"/>
                </a:ext>
              </a:extLst>
            </p:cNvPr>
            <p:cNvSpPr/>
            <p:nvPr/>
          </p:nvSpPr>
          <p:spPr>
            <a:xfrm>
              <a:off x="6693093" y="2726154"/>
              <a:ext cx="3519478" cy="357293"/>
            </a:xfrm>
            <a:prstGeom prst="rect">
              <a:avLst/>
            </a:prstGeom>
            <a:solidFill>
              <a:srgbClr val="538C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工单详情</a:t>
              </a:r>
              <a:r>
                <a:rPr lang="en-US" altLang="zh-CN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en-US" altLang="zh-CN" sz="1200" b="1" dirty="0" err="1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cpc</a:t>
              </a:r>
              <a:r>
                <a:rPr lang="zh-CN" altLang="en-US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异常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DF6C49D6-CCBE-DB76-55D0-02CFE27992D2}"/>
              </a:ext>
            </a:extLst>
          </p:cNvPr>
          <p:cNvSpPr txBox="1"/>
          <p:nvPr/>
        </p:nvSpPr>
        <p:spPr>
          <a:xfrm>
            <a:off x="920619" y="1301075"/>
            <a:ext cx="5159734" cy="83426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工单分类：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系统问题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点睛平台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</a:t>
            </a:r>
            <a:r>
              <a:rPr lang="zh-CN" altLang="en-US" sz="1200" kern="100" dirty="0">
                <a:effectLst/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异常</a:t>
            </a:r>
            <a:r>
              <a:rPr lang="zh-CN" altLang="zh-CN" sz="1200" kern="100" dirty="0">
                <a:effectLst/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-【</a:t>
            </a:r>
            <a:r>
              <a:rPr lang="en-US" altLang="zh-CN" sz="1200" kern="100" dirty="0" err="1">
                <a:effectLst/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1200" kern="100" dirty="0">
                <a:effectLst/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异常</a:t>
            </a:r>
            <a:r>
              <a:rPr lang="en-US" altLang="zh-CN" sz="1200" kern="100" dirty="0">
                <a:effectLst/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</a:p>
          <a:p>
            <a:pPr>
              <a:lnSpc>
                <a:spcPts val="2000"/>
              </a:lnSpc>
            </a:pP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工单主题：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区域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【代理商】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推广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异常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2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排除异常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账户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ID+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一级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二级行业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5091E95-876C-99ED-A504-C705053712F8}"/>
              </a:ext>
            </a:extLst>
          </p:cNvPr>
          <p:cNvSpPr txBox="1"/>
          <p:nvPr/>
        </p:nvSpPr>
        <p:spPr>
          <a:xfrm>
            <a:off x="6257290" y="1295296"/>
            <a:ext cx="5163151" cy="83426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工单分类：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系统问题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点睛平台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数据异常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-【</a:t>
            </a:r>
            <a:r>
              <a:rPr lang="en-US" altLang="zh-CN" sz="12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cpc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异常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</a:p>
          <a:p>
            <a:pPr>
              <a:lnSpc>
                <a:spcPts val="2000"/>
              </a:lnSpc>
            </a:pP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工单主题：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区域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【代理商】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推广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en-US" altLang="zh-CN" sz="12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cpc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异常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账户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ID+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一级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二级行业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灯片编号占位符 7">
            <a:extLst>
              <a:ext uri="{FF2B5EF4-FFF2-40B4-BE49-F238E27FC236}">
                <a16:creationId xmlns:a16="http://schemas.microsoft.com/office/drawing/2014/main" id="{BDD3E527-F83E-F751-27D3-CD2A82D51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668" y="362643"/>
            <a:ext cx="612347" cy="33855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>
              <a:defRPr lang="en-US" altLang="zh-CN" sz="3400" smtClean="0">
                <a:solidFill>
                  <a:schemeClr val="tx2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001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09301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1522721" y="407271"/>
            <a:ext cx="6510815" cy="249299"/>
          </a:xfrm>
        </p:spPr>
        <p:txBody>
          <a:bodyPr/>
          <a:lstStyle/>
          <a:p>
            <a:r>
              <a:rPr kumimoji="1" lang="zh-CN" altLang="en-US" dirty="0"/>
              <a:t>搜索</a:t>
            </a:r>
            <a:r>
              <a:rPr kumimoji="1" lang="en-US" altLang="zh-CN" dirty="0"/>
              <a:t>CPC-</a:t>
            </a:r>
            <a:r>
              <a:rPr kumimoji="1" lang="zh-CN" altLang="en-US" sz="1400" dirty="0"/>
              <a:t>效果问题 </a:t>
            </a:r>
            <a:r>
              <a:rPr kumimoji="1" lang="en-US" altLang="zh-CN" sz="1400" dirty="0"/>
              <a:t>---CPC</a:t>
            </a:r>
            <a:r>
              <a:rPr kumimoji="1" lang="zh-CN" altLang="en-US" sz="1400" dirty="0"/>
              <a:t>投放关键词效果突降</a:t>
            </a:r>
            <a:endParaRPr kumimoji="1" lang="zh-CN" altLang="en-US" sz="14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B825300-B7E4-7F71-6021-0FF0A49C889F}"/>
              </a:ext>
            </a:extLst>
          </p:cNvPr>
          <p:cNvSpPr txBox="1"/>
          <p:nvPr/>
        </p:nvSpPr>
        <p:spPr>
          <a:xfrm>
            <a:off x="542665" y="1272359"/>
            <a:ext cx="11104748" cy="834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工单分类：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系统问题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搜索推广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其他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工单主题：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区域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【代理商】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</a:t>
            </a:r>
            <a:r>
              <a:rPr lang="en-US" altLang="zh-CN" sz="12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cpc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en-US" altLang="zh-CN" sz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CPC</a:t>
            </a:r>
            <a:r>
              <a:rPr lang="zh-CN" altLang="en-US" sz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投放关键词效果突降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账户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ID+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一级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二级行业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示例：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华中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成都龙擎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</a:t>
            </a:r>
            <a:r>
              <a:rPr lang="en-US" altLang="zh-CN" sz="12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cpc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CPC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投放关键词效果突降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1200" b="0" i="0" dirty="0">
                <a:solidFill>
                  <a:srgbClr val="6062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84xxx192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商务服务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2348F88-C562-0742-B1CB-EF18A7394CF1}"/>
              </a:ext>
            </a:extLst>
          </p:cNvPr>
          <p:cNvSpPr txBox="1"/>
          <p:nvPr/>
        </p:nvSpPr>
        <p:spPr>
          <a:xfrm>
            <a:off x="542661" y="2065683"/>
            <a:ext cx="6242956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问题描述：老师好，客户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XXX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，投放业务：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XXXX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反馈效果异常，具体情况如下；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8743857-934B-3830-86D8-F59693BC3B29}"/>
              </a:ext>
            </a:extLst>
          </p:cNvPr>
          <p:cNvSpPr txBox="1"/>
          <p:nvPr/>
        </p:nvSpPr>
        <p:spPr>
          <a:xfrm>
            <a:off x="5506244" y="2651499"/>
            <a:ext cx="5399314" cy="246221"/>
          </a:xfrm>
          <a:prstGeom prst="rect">
            <a:avLst/>
          </a:prstGeom>
          <a:solidFill>
            <a:srgbClr val="538C5B"/>
          </a:solidFill>
        </p:spPr>
        <p:txBody>
          <a:bodyPr wrap="square">
            <a:spAutoFit/>
          </a:bodyPr>
          <a:lstStyle/>
          <a:p>
            <a:r>
              <a:rPr lang="zh-CN" altLang="en-US" sz="10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自查结果表：请放正文</a:t>
            </a:r>
            <a:r>
              <a:rPr lang="en-US" altLang="zh-CN" sz="10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0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附件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D5C33ED-502D-C46D-FFF3-99F5681BF1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146163"/>
              </p:ext>
            </p:extLst>
          </p:nvPr>
        </p:nvGraphicFramePr>
        <p:xfrm>
          <a:off x="663263" y="2677788"/>
          <a:ext cx="4468973" cy="2015377"/>
        </p:xfrm>
        <a:graphic>
          <a:graphicData uri="http://schemas.openxmlformats.org/drawingml/2006/table">
            <a:tbl>
              <a:tblPr/>
              <a:tblGrid>
                <a:gridCol w="2141383">
                  <a:extLst>
                    <a:ext uri="{9D8B030D-6E8A-4147-A177-3AD203B41FA5}">
                      <a16:colId xmlns:a16="http://schemas.microsoft.com/office/drawing/2014/main" val="2642236779"/>
                    </a:ext>
                  </a:extLst>
                </a:gridCol>
                <a:gridCol w="2327590">
                  <a:extLst>
                    <a:ext uri="{9D8B030D-6E8A-4147-A177-3AD203B41FA5}">
                      <a16:colId xmlns:a16="http://schemas.microsoft.com/office/drawing/2014/main" val="2761408770"/>
                    </a:ext>
                  </a:extLst>
                </a:gridCol>
              </a:tblGrid>
              <a:tr h="555966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对比时间段定义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此处请填写波动前、波动后时间段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501611"/>
                  </a:ext>
                </a:extLst>
              </a:tr>
              <a:tr h="555966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问题简述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274662"/>
                  </a:ext>
                </a:extLst>
              </a:tr>
              <a:tr h="903445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自查初步判定结论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通过自查初步判断问题关键点，以及后续排查方向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584532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B49491F1-3574-F29B-2AD0-C646D42B8E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0820688"/>
              </p:ext>
            </p:extLst>
          </p:nvPr>
        </p:nvGraphicFramePr>
        <p:xfrm>
          <a:off x="5508171" y="2910726"/>
          <a:ext cx="5399314" cy="3452718"/>
        </p:xfrm>
        <a:graphic>
          <a:graphicData uri="http://schemas.openxmlformats.org/drawingml/2006/table">
            <a:tbl>
              <a:tblPr/>
              <a:tblGrid>
                <a:gridCol w="915759">
                  <a:extLst>
                    <a:ext uri="{9D8B030D-6E8A-4147-A177-3AD203B41FA5}">
                      <a16:colId xmlns:a16="http://schemas.microsoft.com/office/drawing/2014/main" val="300052471"/>
                    </a:ext>
                  </a:extLst>
                </a:gridCol>
                <a:gridCol w="2212965">
                  <a:extLst>
                    <a:ext uri="{9D8B030D-6E8A-4147-A177-3AD203B41FA5}">
                      <a16:colId xmlns:a16="http://schemas.microsoft.com/office/drawing/2014/main" val="847583639"/>
                    </a:ext>
                  </a:extLst>
                </a:gridCol>
                <a:gridCol w="675690">
                  <a:extLst>
                    <a:ext uri="{9D8B030D-6E8A-4147-A177-3AD203B41FA5}">
                      <a16:colId xmlns:a16="http://schemas.microsoft.com/office/drawing/2014/main" val="3935175605"/>
                    </a:ext>
                  </a:extLst>
                </a:gridCol>
                <a:gridCol w="802265">
                  <a:extLst>
                    <a:ext uri="{9D8B030D-6E8A-4147-A177-3AD203B41FA5}">
                      <a16:colId xmlns:a16="http://schemas.microsoft.com/office/drawing/2014/main" val="3057306378"/>
                    </a:ext>
                  </a:extLst>
                </a:gridCol>
                <a:gridCol w="792635">
                  <a:extLst>
                    <a:ext uri="{9D8B030D-6E8A-4147-A177-3AD203B41FA5}">
                      <a16:colId xmlns:a16="http://schemas.microsoft.com/office/drawing/2014/main" val="2004512782"/>
                    </a:ext>
                  </a:extLst>
                </a:gridCol>
              </a:tblGrid>
              <a:tr h="188517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排查类型</a:t>
                      </a: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检查字段 </a:t>
                      </a: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否</a:t>
                      </a: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调整前</a:t>
                      </a: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调整后</a:t>
                      </a: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17640"/>
                  </a:ext>
                </a:extLst>
              </a:tr>
              <a:tr h="201316">
                <a:tc rowSpan="12">
                  <a:txBody>
                    <a:bodyPr/>
                    <a:lstStyle/>
                    <a:p>
                      <a:pPr algn="ctr" fontAlgn="b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账户设置</a:t>
                      </a:r>
                      <a:b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（波动时段内）</a:t>
                      </a: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预算变更</a:t>
                      </a: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9623461"/>
                  </a:ext>
                </a:extLst>
              </a:tr>
              <a:tr h="23309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计划组设置变更</a:t>
                      </a: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2646322"/>
                  </a:ext>
                </a:extLst>
              </a:tr>
              <a:tr h="23309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是否增减关键词</a:t>
                      </a: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9259121"/>
                  </a:ext>
                </a:extLst>
              </a:tr>
              <a:tr h="2013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出价变更</a:t>
                      </a: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39890"/>
                  </a:ext>
                </a:extLst>
              </a:tr>
              <a:tr h="2013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溢价系数</a:t>
                      </a: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5995795"/>
                  </a:ext>
                </a:extLst>
              </a:tr>
              <a:tr h="2013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匹配模式</a:t>
                      </a: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4126250"/>
                  </a:ext>
                </a:extLst>
              </a:tr>
              <a:tr h="2013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创意样式</a:t>
                      </a: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8326263"/>
                  </a:ext>
                </a:extLst>
              </a:tr>
              <a:tr h="40791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消费结构是否有变化 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如品牌词占比下降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4891809"/>
                  </a:ext>
                </a:extLst>
              </a:tr>
              <a:tr h="23309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zh-CN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TOP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词排名是否变化</a:t>
                      </a: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549182"/>
                  </a:ext>
                </a:extLst>
              </a:tr>
              <a:tr h="23309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广告着落地页变更</a:t>
                      </a:r>
                      <a:r>
                        <a:rPr lang="en-US" altLang="zh-CN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正常</a:t>
                      </a: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935980"/>
                  </a:ext>
                </a:extLst>
              </a:tr>
              <a:tr h="23309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客户广告转化路径正常</a:t>
                      </a: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400124"/>
                  </a:ext>
                </a:extLst>
              </a:tr>
              <a:tr h="40791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消费</a:t>
                      </a:r>
                      <a:r>
                        <a:rPr lang="en-US" altLang="zh-CN" sz="10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TOP</a:t>
                      </a:r>
                      <a:r>
                        <a:rPr lang="zh-CN" altLang="en-US" sz="10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词检索</a:t>
                      </a:r>
                      <a:r>
                        <a:rPr lang="en-US" altLang="zh-CN" sz="10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0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展现</a:t>
                      </a:r>
                      <a:r>
                        <a:rPr lang="en-US" altLang="zh-CN" sz="10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0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消费数据是否变化</a:t>
                      </a: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7318" marR="87318" marT="43659" marB="43659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619396"/>
                  </a:ext>
                </a:extLst>
              </a:tr>
            </a:tbl>
          </a:graphicData>
        </a:graphic>
      </p:graphicFrame>
      <p:sp>
        <p:nvSpPr>
          <p:cNvPr id="7" name="灯片编号占位符 7">
            <a:extLst>
              <a:ext uri="{FF2B5EF4-FFF2-40B4-BE49-F238E27FC236}">
                <a16:creationId xmlns:a16="http://schemas.microsoft.com/office/drawing/2014/main" id="{0BA25494-1351-057A-4A5C-FEC828FC4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668" y="362643"/>
            <a:ext cx="612347" cy="33855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>
              <a:defRPr lang="en-US" altLang="zh-CN" sz="3400" smtClean="0">
                <a:solidFill>
                  <a:schemeClr val="tx2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r>
              <a:rPr lang="en-US" altLang="zh-CN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85610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1522721" y="407271"/>
            <a:ext cx="8191730" cy="249299"/>
          </a:xfrm>
        </p:spPr>
        <p:txBody>
          <a:bodyPr/>
          <a:lstStyle/>
          <a:p>
            <a:r>
              <a:rPr kumimoji="1" lang="zh-CN" altLang="en-US" dirty="0"/>
              <a:t>搜索</a:t>
            </a:r>
            <a:r>
              <a:rPr kumimoji="1" lang="en-US" altLang="zh-CN" dirty="0" err="1"/>
              <a:t>oCPC</a:t>
            </a:r>
            <a:r>
              <a:rPr kumimoji="1" lang="en-US" altLang="zh-CN" sz="1400" dirty="0"/>
              <a:t>-</a:t>
            </a:r>
            <a:r>
              <a:rPr kumimoji="1" lang="zh-CN" altLang="en-US" sz="1400" dirty="0"/>
              <a:t>数据清洗</a:t>
            </a:r>
            <a:r>
              <a:rPr kumimoji="1" lang="en-US" altLang="zh-CN" sz="1400" dirty="0"/>
              <a:t>/</a:t>
            </a:r>
            <a:r>
              <a:rPr kumimoji="1" lang="zh-CN" altLang="en-US" sz="1400" dirty="0"/>
              <a:t>转化数据不一致</a:t>
            </a:r>
            <a:r>
              <a:rPr kumimoji="1" lang="en-US" altLang="zh-CN" sz="1400" dirty="0"/>
              <a:t>/</a:t>
            </a:r>
            <a:r>
              <a:rPr kumimoji="1" lang="zh-CN" altLang="en-US" sz="1400" dirty="0"/>
              <a:t>强制学习成功</a:t>
            </a:r>
            <a:r>
              <a:rPr kumimoji="1" lang="en-US" altLang="zh-CN" sz="1400" dirty="0"/>
              <a:t>/</a:t>
            </a:r>
            <a:r>
              <a:rPr kumimoji="1" lang="en-US" altLang="zh-CN" sz="1400" dirty="0" err="1"/>
              <a:t>ocpc</a:t>
            </a:r>
            <a:r>
              <a:rPr kumimoji="1" lang="zh-CN" altLang="en-US" sz="1400" dirty="0"/>
              <a:t>扩触发</a:t>
            </a:r>
            <a:endParaRPr kumimoji="1" lang="zh-CN" altLang="en-US" sz="14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D05227E-9E68-3A19-A996-4CD609F227BC}"/>
              </a:ext>
            </a:extLst>
          </p:cNvPr>
          <p:cNvSpPr txBox="1"/>
          <p:nvPr/>
        </p:nvSpPr>
        <p:spPr>
          <a:xfrm>
            <a:off x="542665" y="1048923"/>
            <a:ext cx="11104748" cy="1603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工单分类：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系统问题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</a:t>
            </a:r>
            <a:r>
              <a:rPr lang="en-US" altLang="zh-CN" sz="12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ocpc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其他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工单主题：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区域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【代理商】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</a:t>
            </a:r>
            <a:r>
              <a:rPr lang="en-US" altLang="zh-CN" sz="12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ocpc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成本异常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数据清洗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账户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ID+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一级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二级行业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示例：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华中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成都龙擎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</a:t>
            </a:r>
            <a:r>
              <a:rPr lang="en-US" altLang="zh-CN" sz="12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ocpc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转化数不一致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1200" b="0" i="0" dirty="0">
                <a:solidFill>
                  <a:srgbClr val="6062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84xxx192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商务服务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华中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成都龙擎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</a:t>
            </a:r>
            <a:r>
              <a:rPr lang="en-US" altLang="zh-CN" sz="12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ocpc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】+【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数据清洗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】+</a:t>
            </a:r>
            <a:r>
              <a:rPr lang="en-US" altLang="zh-CN" sz="1200" b="0" i="0" dirty="0">
                <a:solidFill>
                  <a:srgbClr val="6062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84xxx192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商务服务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C052AB9-145C-3E8C-D7E1-8F11FF059D2D}"/>
              </a:ext>
            </a:extLst>
          </p:cNvPr>
          <p:cNvGrpSpPr/>
          <p:nvPr/>
        </p:nvGrpSpPr>
        <p:grpSpPr>
          <a:xfrm>
            <a:off x="542665" y="2732324"/>
            <a:ext cx="4669972" cy="3758008"/>
            <a:chOff x="6693093" y="2726154"/>
            <a:chExt cx="3539475" cy="3758008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B0E4F62-455B-9590-71C7-16F2CC4A1B3E}"/>
                </a:ext>
              </a:extLst>
            </p:cNvPr>
            <p:cNvSpPr/>
            <p:nvPr/>
          </p:nvSpPr>
          <p:spPr>
            <a:xfrm>
              <a:off x="6693093" y="3024751"/>
              <a:ext cx="3506818" cy="3459411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6350">
              <a:prstDash val="dash"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6464FB01-B367-F2B4-7B53-4170B0F3DBA2}"/>
                </a:ext>
              </a:extLst>
            </p:cNvPr>
            <p:cNvSpPr txBox="1"/>
            <p:nvPr/>
          </p:nvSpPr>
          <p:spPr>
            <a:xfrm>
              <a:off x="6727672" y="3068295"/>
              <a:ext cx="3504896" cy="26043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场景</a:t>
              </a:r>
              <a:r>
                <a:rPr lang="en-US" altLang="zh-CN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-【o</a:t>
              </a: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成本突然异常，反复调整未见好转</a:t>
              </a:r>
              <a:r>
                <a:rPr lang="en-US" altLang="zh-CN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】</a:t>
              </a: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慎用</a:t>
              </a:r>
              <a:endParaRPr lang="en-US" altLang="zh-CN" sz="10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华中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成都龙擎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搜索推广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rPr>
                <a:t>数据清洗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en-US" altLang="zh-CN" sz="1000" b="0" i="0" dirty="0">
                  <a:solidFill>
                    <a:srgbClr val="606266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84xxx192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商务服务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-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展会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endParaRPr lang="en-US" altLang="zh-CN" sz="1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endParaRPr lang="en-US" altLang="zh-CN" sz="1000" kern="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b="1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问题描述：</a:t>
              </a:r>
              <a:endParaRPr lang="en-US" altLang="zh-CN" sz="1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老师好，客户：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，投放业务：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XXXX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，账户近期调整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，导致</a:t>
              </a:r>
              <a:r>
                <a:rPr lang="en-US" altLang="zh-CN" sz="1000" kern="100" dirty="0" err="1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ocpc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成本近期异常，通过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XXXX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调整，账户效果未见明显好转，申请模型清洗，烦请处理，谢谢</a:t>
              </a: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000" kern="100" dirty="0"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Ps</a:t>
              </a:r>
              <a:r>
                <a:rPr lang="zh-CN" altLang="en-US" sz="1000" kern="100" dirty="0"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：模型清洗最好是在问题发生后的</a:t>
              </a:r>
              <a:r>
                <a:rPr lang="en-US" altLang="zh-CN" sz="1000" kern="100" dirty="0"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7</a:t>
              </a:r>
              <a:r>
                <a:rPr lang="zh-CN" altLang="en-US" sz="1000" kern="100" dirty="0"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天内处理</a:t>
              </a:r>
              <a:endParaRPr lang="en-US" altLang="zh-CN" sz="1000" kern="100" dirty="0">
                <a:effectLst/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endParaRPr lang="en-US" altLang="zh-CN" sz="1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endParaRPr lang="zh-CN" altLang="en-US" sz="1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31241A34-A4A5-2660-9A4D-2CABF8DCACEE}"/>
                </a:ext>
              </a:extLst>
            </p:cNvPr>
            <p:cNvSpPr/>
            <p:nvPr/>
          </p:nvSpPr>
          <p:spPr>
            <a:xfrm>
              <a:off x="6693093" y="2726154"/>
              <a:ext cx="3519478" cy="357293"/>
            </a:xfrm>
            <a:prstGeom prst="rect">
              <a:avLst/>
            </a:prstGeom>
            <a:solidFill>
              <a:srgbClr val="538C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工单详情</a:t>
              </a:r>
              <a:r>
                <a:rPr lang="en-US" altLang="zh-CN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数据清洗</a:t>
              </a:r>
            </a:p>
          </p:txBody>
        </p:sp>
      </p:grp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E833EB56-675A-8E86-FF54-2ED9BDF485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704546"/>
              </p:ext>
            </p:extLst>
          </p:nvPr>
        </p:nvGraphicFramePr>
        <p:xfrm>
          <a:off x="748979" y="5222111"/>
          <a:ext cx="4214256" cy="7270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3564">
                  <a:extLst>
                    <a:ext uri="{9D8B030D-6E8A-4147-A177-3AD203B41FA5}">
                      <a16:colId xmlns:a16="http://schemas.microsoft.com/office/drawing/2014/main" val="3499615506"/>
                    </a:ext>
                  </a:extLst>
                </a:gridCol>
                <a:gridCol w="1053564">
                  <a:extLst>
                    <a:ext uri="{9D8B030D-6E8A-4147-A177-3AD203B41FA5}">
                      <a16:colId xmlns:a16="http://schemas.microsoft.com/office/drawing/2014/main" val="476087574"/>
                    </a:ext>
                  </a:extLst>
                </a:gridCol>
                <a:gridCol w="1053564">
                  <a:extLst>
                    <a:ext uri="{9D8B030D-6E8A-4147-A177-3AD203B41FA5}">
                      <a16:colId xmlns:a16="http://schemas.microsoft.com/office/drawing/2014/main" val="736768565"/>
                    </a:ext>
                  </a:extLst>
                </a:gridCol>
                <a:gridCol w="1053564">
                  <a:extLst>
                    <a:ext uri="{9D8B030D-6E8A-4147-A177-3AD203B41FA5}">
                      <a16:colId xmlns:a16="http://schemas.microsoft.com/office/drawing/2014/main" val="729784847"/>
                    </a:ext>
                  </a:extLst>
                </a:gridCol>
              </a:tblGrid>
              <a:tr h="36312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账户</a:t>
                      </a:r>
                      <a:r>
                        <a:rPr 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端口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包</a:t>
                      </a:r>
                      <a:r>
                        <a:rPr 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清洗周期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58623"/>
                  </a:ext>
                </a:extLst>
              </a:tr>
              <a:tr h="363931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r>
                        <a:rPr lang="en-US" altLang="zh-CN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PC/</a:t>
                      </a:r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移动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9514663"/>
                  </a:ext>
                </a:extLst>
              </a:tr>
            </a:tbl>
          </a:graphicData>
        </a:graphic>
      </p:graphicFrame>
      <p:grpSp>
        <p:nvGrpSpPr>
          <p:cNvPr id="15" name="组合 14">
            <a:extLst>
              <a:ext uri="{FF2B5EF4-FFF2-40B4-BE49-F238E27FC236}">
                <a16:creationId xmlns:a16="http://schemas.microsoft.com/office/drawing/2014/main" id="{769C5FD4-A5D0-190C-FB35-F22ED642E4F2}"/>
              </a:ext>
            </a:extLst>
          </p:cNvPr>
          <p:cNvGrpSpPr/>
          <p:nvPr/>
        </p:nvGrpSpPr>
        <p:grpSpPr>
          <a:xfrm>
            <a:off x="5373328" y="2732324"/>
            <a:ext cx="6230384" cy="3758008"/>
            <a:chOff x="6693093" y="2726154"/>
            <a:chExt cx="3539475" cy="3758008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8A622D0-9EA5-A2D0-905B-E45E18DC837B}"/>
                </a:ext>
              </a:extLst>
            </p:cNvPr>
            <p:cNvSpPr/>
            <p:nvPr/>
          </p:nvSpPr>
          <p:spPr>
            <a:xfrm>
              <a:off x="6693093" y="3024751"/>
              <a:ext cx="3506818" cy="3459411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6350">
              <a:prstDash val="dash"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8DB92E72-021E-EB28-E92E-F241E7E8E255}"/>
                </a:ext>
              </a:extLst>
            </p:cNvPr>
            <p:cNvSpPr txBox="1"/>
            <p:nvPr/>
          </p:nvSpPr>
          <p:spPr>
            <a:xfrm>
              <a:off x="6727672" y="3068295"/>
              <a:ext cx="3504896" cy="32968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场景</a:t>
              </a:r>
              <a:r>
                <a:rPr lang="en-US" altLang="zh-CN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-【</a:t>
              </a: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点睛后台与客户自己统计不一致</a:t>
              </a:r>
              <a:r>
                <a:rPr lang="en-US" altLang="zh-CN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】</a:t>
              </a:r>
              <a:endParaRPr lang="en-US" altLang="zh-CN" sz="10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华中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成都龙擎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搜索推广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solidFill>
                    <a:srgbClr val="000000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  <a:cs typeface="Times New Roman" panose="02020603050405020304" pitchFamily="18" charset="0"/>
                </a:rPr>
                <a:t>转化数不一致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en-US" altLang="zh-CN" sz="1000" b="0" i="0" dirty="0">
                  <a:solidFill>
                    <a:srgbClr val="606266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84xxx192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商务服务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-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展会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endParaRPr lang="en-US" altLang="zh-CN" sz="1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endParaRPr lang="en-US" altLang="zh-CN" sz="1000" kern="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b="1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问题描述：</a:t>
              </a:r>
              <a:endParaRPr lang="en-US" altLang="zh-CN" sz="1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老师好，客户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，投放业务：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XXXX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接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o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反馈转化数据不一致，具体情况如下，烦请协助处理；</a:t>
              </a: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①转化类型及方式：（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咨询工具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-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一句话咨询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)/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（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API-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表单提交）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……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</a:t>
              </a: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②端口：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PC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移动 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如两个端口均涉及 成本变化请分开描述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)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③投放包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id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：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XXXXX</a:t>
              </a: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④</a:t>
              </a:r>
              <a:r>
                <a:rPr lang="en-US" altLang="zh-CN" sz="1000" kern="100" dirty="0" err="1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ocpc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现阶段：未生效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学习期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学习成功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数据积累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学习失败</a:t>
              </a: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⑤数据差异：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XX-XX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期间，点睛后台转化数据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个，客户实际接收转化数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个</a:t>
              </a:r>
              <a:endPara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⑥操作日志：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API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对接需提供</a:t>
              </a:r>
              <a:endPara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⑦咨询工具等 需提供转化明细及详细内容 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excel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形式放附件</a:t>
              </a:r>
              <a:endParaRPr lang="zh-CN" altLang="en-US" sz="1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endParaRPr lang="en-US" altLang="zh-CN" sz="1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endParaRPr lang="zh-CN" altLang="en-US" sz="1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052D9029-CDED-1EA6-E7A3-CDDC6EC2EB70}"/>
                </a:ext>
              </a:extLst>
            </p:cNvPr>
            <p:cNvSpPr/>
            <p:nvPr/>
          </p:nvSpPr>
          <p:spPr>
            <a:xfrm>
              <a:off x="6693093" y="2726154"/>
              <a:ext cx="3519478" cy="357293"/>
            </a:xfrm>
            <a:prstGeom prst="rect">
              <a:avLst/>
            </a:prstGeom>
            <a:solidFill>
              <a:srgbClr val="538C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工单详情</a:t>
              </a:r>
              <a:r>
                <a:rPr lang="en-US" altLang="zh-CN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转化数据不一致</a:t>
              </a:r>
            </a:p>
          </p:txBody>
        </p:sp>
      </p:grpSp>
      <p:sp>
        <p:nvSpPr>
          <p:cNvPr id="2" name="灯片编号占位符 7">
            <a:extLst>
              <a:ext uri="{FF2B5EF4-FFF2-40B4-BE49-F238E27FC236}">
                <a16:creationId xmlns:a16="http://schemas.microsoft.com/office/drawing/2014/main" id="{69BA9D71-88C2-97B3-1DDE-7673F6891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668" y="362643"/>
            <a:ext cx="612347" cy="33855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>
              <a:defRPr lang="en-US" altLang="zh-CN" sz="3400" smtClean="0">
                <a:solidFill>
                  <a:schemeClr val="tx2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r>
              <a:rPr lang="en-US" altLang="zh-CN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8775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1522721" y="407271"/>
            <a:ext cx="8191730" cy="249299"/>
          </a:xfrm>
        </p:spPr>
        <p:txBody>
          <a:bodyPr/>
          <a:lstStyle/>
          <a:p>
            <a:r>
              <a:rPr kumimoji="1" lang="zh-CN" altLang="en-US" dirty="0"/>
              <a:t>搜索</a:t>
            </a:r>
            <a:r>
              <a:rPr kumimoji="1" lang="en-US" altLang="zh-CN" dirty="0" err="1"/>
              <a:t>oCPC</a:t>
            </a:r>
            <a:r>
              <a:rPr kumimoji="1" lang="en-US" altLang="zh-CN" sz="1400" dirty="0"/>
              <a:t>-</a:t>
            </a:r>
            <a:r>
              <a:rPr kumimoji="1" lang="zh-CN" altLang="en-US" sz="1400" dirty="0"/>
              <a:t>数据清洗</a:t>
            </a:r>
            <a:r>
              <a:rPr kumimoji="1" lang="en-US" altLang="zh-CN" sz="1400" dirty="0"/>
              <a:t>/</a:t>
            </a:r>
            <a:r>
              <a:rPr kumimoji="1" lang="zh-CN" altLang="en-US" sz="1400" dirty="0"/>
              <a:t>转化数据不一致</a:t>
            </a:r>
            <a:r>
              <a:rPr kumimoji="1" lang="en-US" altLang="zh-CN" sz="1400" dirty="0"/>
              <a:t>/</a:t>
            </a:r>
            <a:r>
              <a:rPr kumimoji="1" lang="zh-CN" altLang="en-US" sz="1400" dirty="0"/>
              <a:t>强制学习成功</a:t>
            </a:r>
            <a:r>
              <a:rPr kumimoji="1" lang="en-US" altLang="zh-CN" sz="1400" dirty="0"/>
              <a:t>/</a:t>
            </a:r>
            <a:r>
              <a:rPr kumimoji="1" lang="en-US" altLang="zh-CN" sz="1400" dirty="0" err="1"/>
              <a:t>ocpc</a:t>
            </a:r>
            <a:r>
              <a:rPr kumimoji="1" lang="zh-CN" altLang="en-US" sz="1400" dirty="0"/>
              <a:t>扩触发</a:t>
            </a:r>
            <a:endParaRPr kumimoji="1" lang="zh-CN" altLang="en-US" sz="14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D36A0C0-32DF-D79C-5A4D-7AB3B42AADAA}"/>
              </a:ext>
            </a:extLst>
          </p:cNvPr>
          <p:cNvSpPr txBox="1"/>
          <p:nvPr/>
        </p:nvSpPr>
        <p:spPr>
          <a:xfrm>
            <a:off x="542666" y="1100673"/>
            <a:ext cx="11104748" cy="1603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工单分类：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系统问题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</a:t>
            </a:r>
            <a:r>
              <a:rPr lang="en-US" altLang="zh-CN" sz="12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ocpc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其他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工单主题：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区域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【代理商】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</a:t>
            </a:r>
            <a:r>
              <a:rPr lang="en-US" altLang="zh-CN" sz="12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ocpc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转化数不一致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强制学习成功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2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ocpc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扩触发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账户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ID+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区域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行发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一级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二级行业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示例：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华中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成都龙擎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</a:t>
            </a:r>
            <a:r>
              <a:rPr lang="en-US" altLang="zh-CN" sz="12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ocpc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强制学习成功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1200" b="0" i="0" dirty="0">
                <a:solidFill>
                  <a:srgbClr val="6062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84xxx192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区域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商务服务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华中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成都龙擎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</a:t>
            </a:r>
            <a:r>
              <a:rPr lang="en-US" altLang="zh-CN" sz="12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ocpc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】+【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关闭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开启</a:t>
            </a:r>
            <a:r>
              <a:rPr lang="en-US" altLang="zh-CN" sz="12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ocpc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扩触发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】+</a:t>
            </a:r>
            <a:r>
              <a:rPr lang="en-US" altLang="zh-CN" sz="1200" b="0" i="0" dirty="0">
                <a:solidFill>
                  <a:srgbClr val="6062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84xxx192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区域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商务服务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5ABEC64-B6B1-6D8F-19AB-CC48641B70E8}"/>
              </a:ext>
            </a:extLst>
          </p:cNvPr>
          <p:cNvGrpSpPr/>
          <p:nvPr/>
        </p:nvGrpSpPr>
        <p:grpSpPr>
          <a:xfrm>
            <a:off x="542666" y="2726154"/>
            <a:ext cx="4943734" cy="3758008"/>
            <a:chOff x="6693093" y="2726154"/>
            <a:chExt cx="3539475" cy="375800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CEC7D27F-22F2-1917-7955-75D188CA4D9E}"/>
                </a:ext>
              </a:extLst>
            </p:cNvPr>
            <p:cNvSpPr/>
            <p:nvPr/>
          </p:nvSpPr>
          <p:spPr>
            <a:xfrm>
              <a:off x="6693093" y="3024751"/>
              <a:ext cx="3506818" cy="3459411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6350">
              <a:prstDash val="dash"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CF6FB389-0370-B99C-C6A7-A43960559840}"/>
                </a:ext>
              </a:extLst>
            </p:cNvPr>
            <p:cNvSpPr txBox="1"/>
            <p:nvPr/>
          </p:nvSpPr>
          <p:spPr>
            <a:xfrm>
              <a:off x="6727672" y="3068295"/>
              <a:ext cx="3504896" cy="33239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场景</a:t>
              </a:r>
              <a:r>
                <a:rPr lang="en-US" altLang="zh-CN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-【o</a:t>
              </a: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转化数据稀疏难进入学习成功阶段</a:t>
              </a:r>
              <a:r>
                <a:rPr lang="en-US" altLang="zh-CN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】</a:t>
              </a:r>
              <a:endParaRPr lang="en-US" altLang="zh-CN" sz="10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华中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成都龙擎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搜索推广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强制学习成功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en-US" altLang="zh-CN" sz="1000" b="0" i="0" dirty="0">
                  <a:solidFill>
                    <a:srgbClr val="606266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84xxx192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区域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-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商务服务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-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展会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endParaRPr lang="en-US" altLang="zh-CN" sz="1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endParaRPr lang="en-US" altLang="zh-CN" sz="1000" kern="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b="1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问题描述：</a:t>
              </a:r>
              <a:endParaRPr lang="en-US" altLang="zh-CN" sz="1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老师好，客户：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，投放业务：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XXXX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，申请强制进入学习成功，烦请处理，谢谢</a:t>
              </a: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①账户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id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：</a:t>
              </a: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②投放包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id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：</a:t>
              </a:r>
              <a:endPara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③投放包端口：</a:t>
              </a:r>
              <a:endPara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④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投放包现阶段：</a:t>
              </a: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⑤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投放包日转化数据：</a:t>
              </a:r>
              <a:endPara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⑥投放包日消费：</a:t>
              </a: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000" kern="100" dirty="0"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Ps</a:t>
              </a:r>
              <a:r>
                <a:rPr lang="zh-CN" altLang="en-US" sz="1000" kern="100" dirty="0"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：强制学习成功账户 包阶段必须是学习期账户；如果是未到学习期账户，工单需</a:t>
              </a:r>
              <a:endParaRPr lang="en-US" altLang="zh-CN" sz="1000" kern="1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effectLst/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备注说明客户愿意接受强制进阶对赔付金额的影响。</a:t>
              </a:r>
              <a:endParaRPr lang="zh-CN" altLang="en-US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0DFB2D9-6AC1-F415-4CD6-A95633169381}"/>
                </a:ext>
              </a:extLst>
            </p:cNvPr>
            <p:cNvSpPr/>
            <p:nvPr/>
          </p:nvSpPr>
          <p:spPr>
            <a:xfrm>
              <a:off x="6693093" y="2726154"/>
              <a:ext cx="3519478" cy="357293"/>
            </a:xfrm>
            <a:prstGeom prst="rect">
              <a:avLst/>
            </a:prstGeom>
            <a:solidFill>
              <a:srgbClr val="538C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工单详情</a:t>
              </a:r>
              <a:r>
                <a:rPr lang="en-US" altLang="zh-CN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强制学习成功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0F18E1CD-90F4-F8AC-1DFD-CD8A3D26BA24}"/>
              </a:ext>
            </a:extLst>
          </p:cNvPr>
          <p:cNvGrpSpPr/>
          <p:nvPr/>
        </p:nvGrpSpPr>
        <p:grpSpPr>
          <a:xfrm>
            <a:off x="5596024" y="2726154"/>
            <a:ext cx="5289689" cy="3758008"/>
            <a:chOff x="6693093" y="2726154"/>
            <a:chExt cx="3539475" cy="3758008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7686E5C6-50DF-F94F-47C4-5BBDC7D68C33}"/>
                </a:ext>
              </a:extLst>
            </p:cNvPr>
            <p:cNvSpPr/>
            <p:nvPr/>
          </p:nvSpPr>
          <p:spPr>
            <a:xfrm>
              <a:off x="6693093" y="3024751"/>
              <a:ext cx="3506818" cy="3459411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6350">
              <a:prstDash val="dash"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7C51A7BA-C02E-A85F-6A15-BA2F64E4F562}"/>
                </a:ext>
              </a:extLst>
            </p:cNvPr>
            <p:cNvSpPr txBox="1"/>
            <p:nvPr/>
          </p:nvSpPr>
          <p:spPr>
            <a:xfrm>
              <a:off x="6727672" y="3068295"/>
              <a:ext cx="3504896" cy="30659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场景</a:t>
              </a:r>
              <a:r>
                <a:rPr lang="en-US" altLang="zh-CN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-【</a:t>
              </a:r>
              <a:r>
                <a:rPr lang="en-US" altLang="zh-CN" sz="1000" b="1" dirty="0" err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ocpc</a:t>
              </a: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扩触发匹配问题</a:t>
              </a:r>
              <a:r>
                <a:rPr lang="en-US" altLang="zh-CN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】</a:t>
              </a:r>
              <a:endParaRPr lang="en-US" altLang="zh-CN" sz="10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华中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成都龙擎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搜索推广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en-US" altLang="zh-CN" sz="1000" kern="100" dirty="0" err="1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ocpc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扩触发关闭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开启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en-US" altLang="zh-CN" sz="1000" b="0" i="0" dirty="0">
                  <a:solidFill>
                    <a:srgbClr val="606266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84xxx192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区域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-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商务服务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-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展会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endParaRPr lang="en-US" altLang="zh-CN" sz="1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endParaRPr lang="en-US" altLang="zh-CN" sz="1000" kern="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b="1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问题描述：</a:t>
              </a:r>
              <a:endParaRPr lang="en-US" altLang="zh-CN" sz="1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老师好，客户：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，投放业务：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XXXX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，申请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关闭</a:t>
              </a:r>
              <a:r>
                <a:rPr lang="en-US" altLang="zh-CN" sz="1000" kern="100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ocpc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扩触发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，烦请处理，谢谢</a:t>
              </a: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①账户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id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：</a:t>
              </a: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②投放包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id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：</a:t>
              </a:r>
              <a:endPara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③投放包端口：</a:t>
              </a:r>
              <a:endPara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④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投放包现阶段</a:t>
              </a:r>
              <a:r>
                <a:rPr lang="en-US" altLang="zh-CN" sz="1000" kern="1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</a:t>
              </a:r>
              <a:r>
                <a:rPr lang="zh-CN" altLang="en-US" sz="1000" kern="1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必须</a:t>
              </a:r>
              <a:r>
                <a:rPr lang="en-US" altLang="zh-CN" sz="1000" kern="1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) 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：</a:t>
              </a: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⑤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扩触发消费及消费占比</a:t>
              </a:r>
              <a:r>
                <a:rPr lang="en-US" altLang="zh-CN" sz="1000" kern="1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</a:t>
              </a:r>
              <a:r>
                <a:rPr lang="zh-CN" altLang="en-US" sz="1000" kern="1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必须</a:t>
              </a:r>
              <a:r>
                <a:rPr lang="en-US" altLang="zh-CN" sz="1000" kern="1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)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：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元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/30%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⑥扩触发转化数及成本</a:t>
              </a:r>
              <a:r>
                <a:rPr lang="en-US" altLang="zh-CN" sz="1000" kern="1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</a:t>
              </a:r>
              <a:r>
                <a:rPr lang="zh-CN" altLang="en-US" sz="1000" kern="1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必须</a:t>
              </a:r>
              <a:r>
                <a:rPr lang="en-US" altLang="zh-CN" sz="1000" kern="1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) 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：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个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/XXX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元</a:t>
              </a:r>
              <a:endPara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⑦</a:t>
              </a:r>
              <a:r>
                <a:rPr lang="en-US" altLang="zh-CN" sz="1000" kern="100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ocpc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设置成本及实际成本</a:t>
              </a:r>
              <a:r>
                <a:rPr lang="en-US" altLang="zh-CN" sz="1000" kern="1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</a:t>
              </a:r>
              <a:r>
                <a:rPr lang="zh-CN" altLang="en-US" sz="1000" kern="1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必须</a:t>
              </a:r>
              <a:r>
                <a:rPr lang="en-US" altLang="zh-CN" sz="1000" kern="1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) </a:t>
              </a:r>
              <a:endPara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5710C7D7-F179-3B73-A517-4CA8BCC1AADE}"/>
                </a:ext>
              </a:extLst>
            </p:cNvPr>
            <p:cNvSpPr/>
            <p:nvPr/>
          </p:nvSpPr>
          <p:spPr>
            <a:xfrm>
              <a:off x="6693093" y="2726154"/>
              <a:ext cx="3519478" cy="357293"/>
            </a:xfrm>
            <a:prstGeom prst="rect">
              <a:avLst/>
            </a:prstGeom>
            <a:solidFill>
              <a:srgbClr val="538C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工单详情</a:t>
              </a:r>
              <a:r>
                <a:rPr lang="en-US" altLang="zh-CN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关闭</a:t>
              </a:r>
              <a:r>
                <a:rPr lang="en-US" altLang="zh-CN" sz="1200" b="1" dirty="0" err="1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ocpc</a:t>
              </a:r>
              <a:r>
                <a:rPr lang="zh-CN" altLang="en-US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扩触发</a:t>
              </a:r>
            </a:p>
          </p:txBody>
        </p:sp>
      </p:grp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4B5A804E-FC18-47FA-C1C6-1F38DA5FA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668" y="362643"/>
            <a:ext cx="612347" cy="33855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>
              <a:defRPr lang="en-US" altLang="zh-CN" sz="3400" smtClean="0">
                <a:solidFill>
                  <a:schemeClr val="tx2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r>
              <a:rPr lang="en-US" altLang="zh-CN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87605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1522721" y="407271"/>
            <a:ext cx="6510815" cy="249299"/>
          </a:xfrm>
        </p:spPr>
        <p:txBody>
          <a:bodyPr/>
          <a:lstStyle/>
          <a:p>
            <a:r>
              <a:rPr kumimoji="1" lang="zh-CN" altLang="en-US" dirty="0"/>
              <a:t>搜索</a:t>
            </a:r>
            <a:r>
              <a:rPr kumimoji="1" lang="en-US" altLang="zh-CN" dirty="0" err="1"/>
              <a:t>oCPC</a:t>
            </a:r>
            <a:r>
              <a:rPr kumimoji="1" lang="en-US" altLang="zh-CN" dirty="0"/>
              <a:t>-</a:t>
            </a:r>
            <a:r>
              <a:rPr kumimoji="1" lang="zh-CN" altLang="en-US" sz="1400" dirty="0"/>
              <a:t>效果问题 </a:t>
            </a:r>
            <a:r>
              <a:rPr kumimoji="1" lang="en-US" altLang="zh-CN" sz="1400" dirty="0"/>
              <a:t>---</a:t>
            </a:r>
            <a:r>
              <a:rPr lang="en-US" altLang="zh-CN" sz="1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</a:t>
            </a:r>
            <a:r>
              <a:rPr lang="en-US" altLang="zh-CN" sz="14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oCPC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学习成功阶段</a:t>
            </a: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展点消突增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/</a:t>
            </a: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突降</a:t>
            </a:r>
            <a:endParaRPr kumimoji="1" lang="zh-CN" altLang="en-US" sz="14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A6FABDC-60C2-DF1B-8A4F-9DBF0AAFA011}"/>
              </a:ext>
            </a:extLst>
          </p:cNvPr>
          <p:cNvSpPr txBox="1"/>
          <p:nvPr/>
        </p:nvSpPr>
        <p:spPr>
          <a:xfrm>
            <a:off x="542658" y="1097779"/>
            <a:ext cx="1110474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工单分类：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系统问题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</a:t>
            </a:r>
            <a:r>
              <a:rPr lang="en-US" altLang="zh-CN" sz="12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ocpc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其他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工单主题：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区域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【代理商】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</a:t>
            </a:r>
            <a:r>
              <a:rPr lang="en-US" altLang="zh-CN" sz="12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ocpc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学习成功展点消突增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突降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账户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ID+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一级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二级行业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示例：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华中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成都龙擎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</a:t>
            </a:r>
            <a:r>
              <a:rPr lang="en-US" altLang="zh-CN" sz="12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ocpc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学习成功展点消突增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突降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1200" b="0" i="0" dirty="0">
                <a:solidFill>
                  <a:srgbClr val="6062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84xxx192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商务服务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E0AECF1-EC57-11DF-DA91-FF9EAE6FDE3C}"/>
              </a:ext>
            </a:extLst>
          </p:cNvPr>
          <p:cNvSpPr txBox="1"/>
          <p:nvPr/>
        </p:nvSpPr>
        <p:spPr>
          <a:xfrm>
            <a:off x="542658" y="1908543"/>
            <a:ext cx="6242956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问题描述：老师好，客户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XXX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，投放业务：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XXXX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接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反馈成本异常，具体情况如下；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9AD6A8AC-56B5-7FA2-67FE-359107A148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7308917"/>
              </p:ext>
            </p:extLst>
          </p:nvPr>
        </p:nvGraphicFramePr>
        <p:xfrm>
          <a:off x="542655" y="2304002"/>
          <a:ext cx="10963534" cy="1188720"/>
        </p:xfrm>
        <a:graphic>
          <a:graphicData uri="http://schemas.openxmlformats.org/drawingml/2006/table">
            <a:tbl>
              <a:tblPr/>
              <a:tblGrid>
                <a:gridCol w="1734259">
                  <a:extLst>
                    <a:ext uri="{9D8B030D-6E8A-4147-A177-3AD203B41FA5}">
                      <a16:colId xmlns:a16="http://schemas.microsoft.com/office/drawing/2014/main" val="4145583374"/>
                    </a:ext>
                  </a:extLst>
                </a:gridCol>
                <a:gridCol w="1523132">
                  <a:extLst>
                    <a:ext uri="{9D8B030D-6E8A-4147-A177-3AD203B41FA5}">
                      <a16:colId xmlns:a16="http://schemas.microsoft.com/office/drawing/2014/main" val="3219881941"/>
                    </a:ext>
                  </a:extLst>
                </a:gridCol>
                <a:gridCol w="1930306">
                  <a:extLst>
                    <a:ext uri="{9D8B030D-6E8A-4147-A177-3AD203B41FA5}">
                      <a16:colId xmlns:a16="http://schemas.microsoft.com/office/drawing/2014/main" val="3564441705"/>
                    </a:ext>
                  </a:extLst>
                </a:gridCol>
                <a:gridCol w="1523132">
                  <a:extLst>
                    <a:ext uri="{9D8B030D-6E8A-4147-A177-3AD203B41FA5}">
                      <a16:colId xmlns:a16="http://schemas.microsoft.com/office/drawing/2014/main" val="1486318417"/>
                    </a:ext>
                  </a:extLst>
                </a:gridCol>
                <a:gridCol w="1523132">
                  <a:extLst>
                    <a:ext uri="{9D8B030D-6E8A-4147-A177-3AD203B41FA5}">
                      <a16:colId xmlns:a16="http://schemas.microsoft.com/office/drawing/2014/main" val="2076230272"/>
                    </a:ext>
                  </a:extLst>
                </a:gridCol>
                <a:gridCol w="1206441">
                  <a:extLst>
                    <a:ext uri="{9D8B030D-6E8A-4147-A177-3AD203B41FA5}">
                      <a16:colId xmlns:a16="http://schemas.microsoft.com/office/drawing/2014/main" val="2835186447"/>
                    </a:ext>
                  </a:extLst>
                </a:gridCol>
                <a:gridCol w="1523132">
                  <a:extLst>
                    <a:ext uri="{9D8B030D-6E8A-4147-A177-3AD203B41FA5}">
                      <a16:colId xmlns:a16="http://schemas.microsoft.com/office/drawing/2014/main" val="1829416353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时间段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ocpc</a:t>
                      </a: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包名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转化类型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方式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端口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目标转化成本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过去</a:t>
                      </a:r>
                      <a:r>
                        <a:rPr lang="en-US" altLang="zh-CN" sz="1000" b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天平均实际转化成本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成本比值</a:t>
                      </a:r>
                      <a:b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（实际转化成本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目标成本）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688096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fontAlgn="ctr" latinLnBrk="0"/>
                      <a:endParaRPr lang="zh-CN" altLang="en-US" sz="1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zh-CN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咨询工具</a:t>
                      </a:r>
                      <a:r>
                        <a:rPr lang="en-US" altLang="zh-CN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一句话咨询</a:t>
                      </a:r>
                      <a:r>
                        <a:rPr lang="en-US" altLang="zh-CN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)/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API-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表单提交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PC/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移动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endParaRPr lang="zh-CN" altLang="en-US" sz="1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endParaRPr lang="zh-CN" altLang="en-US" sz="1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endParaRPr lang="zh-CN" altLang="en-US" sz="1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61147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自查初步判定结论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通过自查初步判断问题关键点，以及后续排查方向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fontAlgn="ctr" latinLnBrk="0"/>
                      <a:endParaRPr lang="zh-CN" altLang="en-US" sz="9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fontAlgn="ctr" latinLnBrk="0"/>
                      <a:endParaRPr lang="zh-CN" altLang="en-US" sz="90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fontAlgn="ctr" latinLnBrk="0"/>
                      <a:endParaRPr lang="zh-CN" altLang="en-US" sz="9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fontAlgn="ctr" latinLnBrk="0"/>
                      <a:endParaRPr lang="zh-CN" altLang="en-US" sz="9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fontAlgn="ctr" latinLnBrk="0"/>
                      <a:endParaRPr lang="zh-CN" altLang="en-US" sz="900" dirty="0"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495420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26BD95A5-493D-376C-0B6E-6BD8FD6DD47A}"/>
              </a:ext>
            </a:extLst>
          </p:cNvPr>
          <p:cNvSpPr txBox="1"/>
          <p:nvPr/>
        </p:nvSpPr>
        <p:spPr>
          <a:xfrm>
            <a:off x="542658" y="3608593"/>
            <a:ext cx="10963531" cy="246221"/>
          </a:xfrm>
          <a:prstGeom prst="rect">
            <a:avLst/>
          </a:prstGeom>
          <a:solidFill>
            <a:srgbClr val="538C5B"/>
          </a:solidFill>
        </p:spPr>
        <p:txBody>
          <a:bodyPr wrap="square">
            <a:spAutoFit/>
          </a:bodyPr>
          <a:lstStyle/>
          <a:p>
            <a:r>
              <a:rPr lang="zh-CN" altLang="en-US" sz="10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自查结果表：请放正文</a:t>
            </a:r>
            <a:r>
              <a:rPr lang="en-US" altLang="zh-CN" sz="10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0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附件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328F5AD7-C024-CBCA-CAA4-4C87FEFF4C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9974768"/>
              </p:ext>
            </p:extLst>
          </p:nvPr>
        </p:nvGraphicFramePr>
        <p:xfrm>
          <a:off x="542661" y="3864678"/>
          <a:ext cx="10963532" cy="2641326"/>
        </p:xfrm>
        <a:graphic>
          <a:graphicData uri="http://schemas.openxmlformats.org/drawingml/2006/table">
            <a:tbl>
              <a:tblPr/>
              <a:tblGrid>
                <a:gridCol w="2200361">
                  <a:extLst>
                    <a:ext uri="{9D8B030D-6E8A-4147-A177-3AD203B41FA5}">
                      <a16:colId xmlns:a16="http://schemas.microsoft.com/office/drawing/2014/main" val="569306378"/>
                    </a:ext>
                  </a:extLst>
                </a:gridCol>
                <a:gridCol w="2471235">
                  <a:extLst>
                    <a:ext uri="{9D8B030D-6E8A-4147-A177-3AD203B41FA5}">
                      <a16:colId xmlns:a16="http://schemas.microsoft.com/office/drawing/2014/main" val="508448566"/>
                    </a:ext>
                  </a:extLst>
                </a:gridCol>
                <a:gridCol w="2253343">
                  <a:extLst>
                    <a:ext uri="{9D8B030D-6E8A-4147-A177-3AD203B41FA5}">
                      <a16:colId xmlns:a16="http://schemas.microsoft.com/office/drawing/2014/main" val="2100058907"/>
                    </a:ext>
                  </a:extLst>
                </a:gridCol>
                <a:gridCol w="2122714">
                  <a:extLst>
                    <a:ext uri="{9D8B030D-6E8A-4147-A177-3AD203B41FA5}">
                      <a16:colId xmlns:a16="http://schemas.microsoft.com/office/drawing/2014/main" val="1118667346"/>
                    </a:ext>
                  </a:extLst>
                </a:gridCol>
                <a:gridCol w="1915879">
                  <a:extLst>
                    <a:ext uri="{9D8B030D-6E8A-4147-A177-3AD203B41FA5}">
                      <a16:colId xmlns:a16="http://schemas.microsoft.com/office/drawing/2014/main" val="3798294064"/>
                    </a:ext>
                  </a:extLst>
                </a:gridCol>
              </a:tblGrid>
              <a:tr h="176583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9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排查类型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9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检查字段 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9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  <a:r>
                        <a:rPr lang="en-US" altLang="zh-CN" sz="9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9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否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9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调整前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9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调整后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1157203"/>
                  </a:ext>
                </a:extLst>
              </a:tr>
              <a:tr h="188477">
                <a:tc rowSpan="5">
                  <a:txBody>
                    <a:bodyPr/>
                    <a:lstStyle/>
                    <a:p>
                      <a:pPr algn="ctr" fontAlgn="b" latinLnBrk="0"/>
                      <a:r>
                        <a:rPr lang="zh-CN" altLang="en-US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账户设置</a:t>
                      </a:r>
                      <a:br>
                        <a:rPr lang="zh-CN" altLang="en-US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（波动时段内）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预算变更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0908358"/>
                  </a:ext>
                </a:extLst>
              </a:tr>
              <a:tr h="18847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是否新增关键词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348269"/>
                  </a:ext>
                </a:extLst>
              </a:tr>
              <a:tr h="18847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创意样式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615063"/>
                  </a:ext>
                </a:extLst>
              </a:tr>
              <a:tr h="18847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广告落地页变更</a:t>
                      </a:r>
                      <a:r>
                        <a:rPr lang="en-US" altLang="zh-CN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正常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979384"/>
                  </a:ext>
                </a:extLst>
              </a:tr>
              <a:tr h="18847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客户广告转化路径正常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5540263"/>
                  </a:ext>
                </a:extLst>
              </a:tr>
              <a:tr h="188477">
                <a:tc rowSpan="5">
                  <a:txBody>
                    <a:bodyPr/>
                    <a:lstStyle/>
                    <a:p>
                      <a:pPr algn="ctr" fontAlgn="b" latinLnBrk="0"/>
                      <a:r>
                        <a:rPr lang="en-US" altLang="zh-CN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OCPC</a:t>
                      </a:r>
                      <a:r>
                        <a:rPr lang="zh-CN" altLang="en-US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类需填</a:t>
                      </a:r>
                      <a:br>
                        <a:rPr lang="zh-CN" altLang="en-US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（波动时段内）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zh-CN" sz="900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Ocpc</a:t>
                      </a:r>
                      <a:r>
                        <a:rPr lang="zh-CN" altLang="en-US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目标成本变更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5671154"/>
                  </a:ext>
                </a:extLst>
              </a:tr>
              <a:tr h="19486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消费</a:t>
                      </a:r>
                      <a:r>
                        <a:rPr lang="en-US" altLang="zh-CN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TOP</a:t>
                      </a:r>
                      <a:r>
                        <a:rPr lang="zh-CN" altLang="en-US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词检索</a:t>
                      </a:r>
                      <a:r>
                        <a:rPr lang="en-US" altLang="zh-CN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展现</a:t>
                      </a:r>
                      <a:r>
                        <a:rPr lang="en-US" altLang="zh-CN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消费数据是否变化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6925029"/>
                  </a:ext>
                </a:extLst>
              </a:tr>
              <a:tr h="18847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是否属于进入二阶段前</a:t>
                      </a:r>
                      <a:r>
                        <a:rPr lang="en-US" altLang="zh-CN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天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634373"/>
                  </a:ext>
                </a:extLst>
              </a:tr>
              <a:tr h="19486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zh-CN" sz="900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oCPC</a:t>
                      </a:r>
                      <a:r>
                        <a:rPr lang="zh-CN" altLang="en-US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二阶包中绑定的计划是否有变化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263627"/>
                  </a:ext>
                </a:extLst>
              </a:tr>
              <a:tr h="18847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客户方</a:t>
                      </a:r>
                      <a:r>
                        <a:rPr lang="en-US" altLang="zh-CN" sz="900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ocpc</a:t>
                      </a:r>
                      <a:r>
                        <a:rPr lang="zh-CN" altLang="en-US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回传是否正常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6398"/>
                  </a:ext>
                </a:extLst>
              </a:tr>
            </a:tbl>
          </a:graphicData>
        </a:graphic>
      </p:graphicFrame>
      <p:sp>
        <p:nvSpPr>
          <p:cNvPr id="4" name="灯片编号占位符 7">
            <a:extLst>
              <a:ext uri="{FF2B5EF4-FFF2-40B4-BE49-F238E27FC236}">
                <a16:creationId xmlns:a16="http://schemas.microsoft.com/office/drawing/2014/main" id="{B2EA2B81-7B05-A4EE-32B8-F34F905A4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668" y="362643"/>
            <a:ext cx="612347" cy="33855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>
              <a:defRPr lang="en-US" altLang="zh-CN" sz="3400" smtClean="0">
                <a:solidFill>
                  <a:schemeClr val="tx2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004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3137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1522721" y="407271"/>
            <a:ext cx="6510815" cy="249299"/>
          </a:xfrm>
        </p:spPr>
        <p:txBody>
          <a:bodyPr/>
          <a:lstStyle/>
          <a:p>
            <a:r>
              <a:rPr kumimoji="1" lang="zh-CN" altLang="en-US" dirty="0"/>
              <a:t>搜索</a:t>
            </a:r>
            <a:r>
              <a:rPr kumimoji="1" lang="en-US" altLang="zh-CN" dirty="0" err="1"/>
              <a:t>oCPC</a:t>
            </a:r>
            <a:r>
              <a:rPr kumimoji="1" lang="en-US" altLang="zh-CN" dirty="0"/>
              <a:t>-</a:t>
            </a:r>
            <a:r>
              <a:rPr kumimoji="1" lang="zh-CN" altLang="en-US" sz="1400" dirty="0"/>
              <a:t>效果问题 </a:t>
            </a:r>
            <a:r>
              <a:rPr kumimoji="1" lang="en-US" altLang="zh-CN" sz="1400" dirty="0" err="1"/>
              <a:t>oCPC</a:t>
            </a:r>
            <a:r>
              <a:rPr kumimoji="1" lang="zh-CN" altLang="en-US" sz="1400" dirty="0"/>
              <a:t>学习成功阶段超目标成本</a:t>
            </a:r>
            <a:r>
              <a:rPr kumimoji="1" lang="en-US" altLang="zh-CN" sz="1400" dirty="0"/>
              <a:t>1.2</a:t>
            </a:r>
            <a:r>
              <a:rPr kumimoji="1" lang="zh-CN" altLang="en-US" sz="1400" dirty="0"/>
              <a:t>倍</a:t>
            </a:r>
            <a:endParaRPr kumimoji="1" lang="zh-CN" altLang="en-US" sz="14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EC74EF9-126A-BBF1-CC69-460FCE4B5A04}"/>
              </a:ext>
            </a:extLst>
          </p:cNvPr>
          <p:cNvSpPr txBox="1"/>
          <p:nvPr/>
        </p:nvSpPr>
        <p:spPr>
          <a:xfrm>
            <a:off x="542665" y="1272359"/>
            <a:ext cx="1110474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工单分类：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系统问题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</a:t>
            </a:r>
            <a:r>
              <a:rPr lang="en-US" altLang="zh-CN" sz="12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ocpc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其他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工单主题：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区域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【代理商】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</a:t>
            </a:r>
            <a:r>
              <a:rPr lang="en-US" altLang="zh-CN" sz="12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ocpc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学习成功超目标成本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1.2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倍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账户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ID+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一级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二级行业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示例：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华中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成都龙擎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</a:t>
            </a:r>
            <a:r>
              <a:rPr lang="en-US" altLang="zh-CN" sz="12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ocpc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学习成功超目标成本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1.2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倍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1200" b="0" i="0" dirty="0">
                <a:solidFill>
                  <a:srgbClr val="6062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84xxx192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商务服务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6EEC4BB-02D5-8A5E-60C2-03C0C296EC11}"/>
              </a:ext>
            </a:extLst>
          </p:cNvPr>
          <p:cNvSpPr txBox="1"/>
          <p:nvPr/>
        </p:nvSpPr>
        <p:spPr>
          <a:xfrm>
            <a:off x="542660" y="2065683"/>
            <a:ext cx="7808237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问题描述：老师好，客户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XXX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，投放业务：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XXXX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，学习成功阶段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反馈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XXXXX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异常，具体情况如下；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5AB27B5-86E0-D144-27A9-FEB1988D20CC}"/>
              </a:ext>
            </a:extLst>
          </p:cNvPr>
          <p:cNvSpPr txBox="1"/>
          <p:nvPr/>
        </p:nvSpPr>
        <p:spPr>
          <a:xfrm>
            <a:off x="613274" y="3373879"/>
            <a:ext cx="10963531" cy="246221"/>
          </a:xfrm>
          <a:prstGeom prst="rect">
            <a:avLst/>
          </a:prstGeom>
          <a:solidFill>
            <a:srgbClr val="538C5B"/>
          </a:solidFill>
        </p:spPr>
        <p:txBody>
          <a:bodyPr wrap="square">
            <a:spAutoFit/>
          </a:bodyPr>
          <a:lstStyle/>
          <a:p>
            <a:r>
              <a:rPr lang="zh-CN" altLang="en-US" sz="10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自查结果表：请放正文</a:t>
            </a:r>
            <a:r>
              <a:rPr lang="en-US" altLang="zh-CN" sz="10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0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附件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6E36A37-4F2F-8075-CA39-6FB2ADA2F8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573813"/>
              </p:ext>
            </p:extLst>
          </p:nvPr>
        </p:nvGraphicFramePr>
        <p:xfrm>
          <a:off x="613277" y="3629964"/>
          <a:ext cx="10963532" cy="2656566"/>
        </p:xfrm>
        <a:graphic>
          <a:graphicData uri="http://schemas.openxmlformats.org/drawingml/2006/table">
            <a:tbl>
              <a:tblPr/>
              <a:tblGrid>
                <a:gridCol w="2200361">
                  <a:extLst>
                    <a:ext uri="{9D8B030D-6E8A-4147-A177-3AD203B41FA5}">
                      <a16:colId xmlns:a16="http://schemas.microsoft.com/office/drawing/2014/main" val="569306378"/>
                    </a:ext>
                  </a:extLst>
                </a:gridCol>
                <a:gridCol w="2471235">
                  <a:extLst>
                    <a:ext uri="{9D8B030D-6E8A-4147-A177-3AD203B41FA5}">
                      <a16:colId xmlns:a16="http://schemas.microsoft.com/office/drawing/2014/main" val="508448566"/>
                    </a:ext>
                  </a:extLst>
                </a:gridCol>
                <a:gridCol w="2253343">
                  <a:extLst>
                    <a:ext uri="{9D8B030D-6E8A-4147-A177-3AD203B41FA5}">
                      <a16:colId xmlns:a16="http://schemas.microsoft.com/office/drawing/2014/main" val="2100058907"/>
                    </a:ext>
                  </a:extLst>
                </a:gridCol>
                <a:gridCol w="2122714">
                  <a:extLst>
                    <a:ext uri="{9D8B030D-6E8A-4147-A177-3AD203B41FA5}">
                      <a16:colId xmlns:a16="http://schemas.microsoft.com/office/drawing/2014/main" val="1118667346"/>
                    </a:ext>
                  </a:extLst>
                </a:gridCol>
                <a:gridCol w="1915879">
                  <a:extLst>
                    <a:ext uri="{9D8B030D-6E8A-4147-A177-3AD203B41FA5}">
                      <a16:colId xmlns:a16="http://schemas.microsoft.com/office/drawing/2014/main" val="3798294064"/>
                    </a:ext>
                  </a:extLst>
                </a:gridCol>
              </a:tblGrid>
              <a:tr h="176583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排查类型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检查字段 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否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调整前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调整后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1157203"/>
                  </a:ext>
                </a:extLst>
              </a:tr>
              <a:tr h="188477">
                <a:tc rowSpan="5">
                  <a:txBody>
                    <a:bodyPr/>
                    <a:lstStyle/>
                    <a:p>
                      <a:pPr algn="ctr" fontAlgn="b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账户设置</a:t>
                      </a:r>
                      <a:b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（波动时段内）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预算变更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0908358"/>
                  </a:ext>
                </a:extLst>
              </a:tr>
              <a:tr h="18847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是否新增</a:t>
                      </a:r>
                      <a:r>
                        <a:rPr lang="en-US" altLang="zh-CN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删除关键词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348269"/>
                  </a:ext>
                </a:extLst>
              </a:tr>
              <a:tr h="18847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创意样式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615063"/>
                  </a:ext>
                </a:extLst>
              </a:tr>
              <a:tr h="18847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广告着陆页变更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正常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979384"/>
                  </a:ext>
                </a:extLst>
              </a:tr>
              <a:tr h="18847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客户广告转化路径正常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5540263"/>
                  </a:ext>
                </a:extLst>
              </a:tr>
              <a:tr h="188477">
                <a:tc rowSpan="5">
                  <a:txBody>
                    <a:bodyPr/>
                    <a:lstStyle/>
                    <a:p>
                      <a:pPr algn="ctr" fontAlgn="b" latinLnBrk="0"/>
                      <a:r>
                        <a:rPr lang="en-US" altLang="zh-CN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OCPC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类需填</a:t>
                      </a:r>
                      <a:b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（波动时段内）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zh-CN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Ocpc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目标成本变更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5671154"/>
                  </a:ext>
                </a:extLst>
              </a:tr>
              <a:tr h="19486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消费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TOP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词检索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展现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消费数据是否变化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6925029"/>
                  </a:ext>
                </a:extLst>
              </a:tr>
              <a:tr h="18847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是否属于进入二阶段前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天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634373"/>
                  </a:ext>
                </a:extLst>
              </a:tr>
              <a:tr h="19486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zh-CN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oCPC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二阶包中绑定的计划是否有变化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263627"/>
                  </a:ext>
                </a:extLst>
              </a:tr>
              <a:tr h="18847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客户方</a:t>
                      </a:r>
                      <a:r>
                        <a:rPr lang="en-US" altLang="zh-CN" sz="1000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ocpc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回传是否正常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89106" marR="89106" marT="44553" marB="4455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6398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D52A17C3-0735-A73B-7F14-BB754B2A1E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3671372"/>
              </p:ext>
            </p:extLst>
          </p:nvPr>
        </p:nvGraphicFramePr>
        <p:xfrm>
          <a:off x="613274" y="2506381"/>
          <a:ext cx="10963530" cy="731520"/>
        </p:xfrm>
        <a:graphic>
          <a:graphicData uri="http://schemas.openxmlformats.org/drawingml/2006/table">
            <a:tbl>
              <a:tblPr/>
              <a:tblGrid>
                <a:gridCol w="1522712">
                  <a:extLst>
                    <a:ext uri="{9D8B030D-6E8A-4147-A177-3AD203B41FA5}">
                      <a16:colId xmlns:a16="http://schemas.microsoft.com/office/drawing/2014/main" val="110097375"/>
                    </a:ext>
                  </a:extLst>
                </a:gridCol>
                <a:gridCol w="1337339">
                  <a:extLst>
                    <a:ext uri="{9D8B030D-6E8A-4147-A177-3AD203B41FA5}">
                      <a16:colId xmlns:a16="http://schemas.microsoft.com/office/drawing/2014/main" val="1896834983"/>
                    </a:ext>
                  </a:extLst>
                </a:gridCol>
                <a:gridCol w="1694845">
                  <a:extLst>
                    <a:ext uri="{9D8B030D-6E8A-4147-A177-3AD203B41FA5}">
                      <a16:colId xmlns:a16="http://schemas.microsoft.com/office/drawing/2014/main" val="540537539"/>
                    </a:ext>
                  </a:extLst>
                </a:gridCol>
                <a:gridCol w="1337339">
                  <a:extLst>
                    <a:ext uri="{9D8B030D-6E8A-4147-A177-3AD203B41FA5}">
                      <a16:colId xmlns:a16="http://schemas.microsoft.com/office/drawing/2014/main" val="1037831376"/>
                    </a:ext>
                  </a:extLst>
                </a:gridCol>
                <a:gridCol w="1337339">
                  <a:extLst>
                    <a:ext uri="{9D8B030D-6E8A-4147-A177-3AD203B41FA5}">
                      <a16:colId xmlns:a16="http://schemas.microsoft.com/office/drawing/2014/main" val="67094541"/>
                    </a:ext>
                  </a:extLst>
                </a:gridCol>
                <a:gridCol w="1059278">
                  <a:extLst>
                    <a:ext uri="{9D8B030D-6E8A-4147-A177-3AD203B41FA5}">
                      <a16:colId xmlns:a16="http://schemas.microsoft.com/office/drawing/2014/main" val="2628199972"/>
                    </a:ext>
                  </a:extLst>
                </a:gridCol>
                <a:gridCol w="1337339">
                  <a:extLst>
                    <a:ext uri="{9D8B030D-6E8A-4147-A177-3AD203B41FA5}">
                      <a16:colId xmlns:a16="http://schemas.microsoft.com/office/drawing/2014/main" val="1582613424"/>
                    </a:ext>
                  </a:extLst>
                </a:gridCol>
                <a:gridCol w="1337339">
                  <a:extLst>
                    <a:ext uri="{9D8B030D-6E8A-4147-A177-3AD203B41FA5}">
                      <a16:colId xmlns:a16="http://schemas.microsoft.com/office/drawing/2014/main" val="1641827310"/>
                    </a:ext>
                  </a:extLst>
                </a:gridCol>
              </a:tblGrid>
              <a:tr h="152400">
                <a:tc gridSpan="2"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明细维度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波动前</a:t>
                      </a:r>
                      <a:r>
                        <a:rPr lang="en-US" altLang="zh-CN" sz="1000" b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波动前时段</a:t>
                      </a:r>
                      <a:r>
                        <a:rPr lang="en-US" altLang="zh-CN" sz="1000" b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（日均）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波动后</a:t>
                      </a:r>
                      <a:r>
                        <a:rPr lang="en-US" altLang="zh-CN" sz="1000" b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波动后时段</a:t>
                      </a:r>
                      <a:r>
                        <a:rPr lang="en-US" altLang="zh-CN" sz="1000" b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（日均）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895396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账户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oCPC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包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展示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点击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消费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展示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点击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消费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61514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3671944"/>
                  </a:ext>
                </a:extLst>
              </a:tr>
            </a:tbl>
          </a:graphicData>
        </a:graphic>
      </p:graphicFrame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0F94DD0F-8871-E4D2-67A6-64A948D72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668" y="362643"/>
            <a:ext cx="612347" cy="33855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>
              <a:defRPr lang="en-US" altLang="zh-CN" sz="3400" smtClean="0">
                <a:solidFill>
                  <a:schemeClr val="tx2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r>
              <a:rPr lang="en-US" altLang="zh-CN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4659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1522721" y="407271"/>
            <a:ext cx="8476956" cy="249299"/>
          </a:xfrm>
        </p:spPr>
        <p:txBody>
          <a:bodyPr/>
          <a:lstStyle/>
          <a:p>
            <a:r>
              <a:rPr kumimoji="1" lang="zh-CN" altLang="en-US" dirty="0"/>
              <a:t>搜索</a:t>
            </a:r>
            <a:r>
              <a:rPr kumimoji="1" lang="en-US" altLang="zh-CN" dirty="0" err="1"/>
              <a:t>oCPC</a:t>
            </a:r>
            <a:r>
              <a:rPr kumimoji="1" lang="en-US" altLang="zh-CN" dirty="0"/>
              <a:t>-</a:t>
            </a:r>
            <a:r>
              <a:rPr kumimoji="1" lang="zh-CN" altLang="en-US" sz="1400" dirty="0"/>
              <a:t>效果问题 </a:t>
            </a:r>
            <a:r>
              <a:rPr kumimoji="1" lang="en-US" altLang="zh-CN" sz="1400" dirty="0"/>
              <a:t>---</a:t>
            </a:r>
            <a:r>
              <a:rPr lang="en-US" altLang="zh-CN" sz="1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</a:t>
            </a:r>
            <a:r>
              <a:rPr lang="en-US" altLang="zh-CN" sz="14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oCPC</a:t>
            </a: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学习成功阶段浅层转化正常，深层效果突降（如后端无效多）</a:t>
            </a:r>
            <a:endParaRPr kumimoji="1" lang="zh-CN" altLang="en-US" sz="14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07CFA62-95CA-5EA2-7914-2A3E4FE2094B}"/>
              </a:ext>
            </a:extLst>
          </p:cNvPr>
          <p:cNvSpPr txBox="1"/>
          <p:nvPr/>
        </p:nvSpPr>
        <p:spPr>
          <a:xfrm>
            <a:off x="542660" y="1020701"/>
            <a:ext cx="11104748" cy="834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工单分类：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系统问题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</a:t>
            </a:r>
            <a:r>
              <a:rPr lang="en-US" altLang="zh-CN" sz="12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ocpc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其他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工单主题：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区域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【代理商】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</a:t>
            </a:r>
            <a:r>
              <a:rPr lang="en-US" altLang="zh-CN" sz="12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ocpc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学习成功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浅层转化正常，深层效果突降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账户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ID+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一级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二级行业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示例：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华中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成都龙擎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</a:t>
            </a:r>
            <a:r>
              <a:rPr lang="en-US" altLang="zh-CN" sz="12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ocpc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学习成功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浅层转化正常，深层效果突降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1200" b="0" i="0" dirty="0">
                <a:solidFill>
                  <a:srgbClr val="6062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84xxx192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商务服务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45C93F3-A821-3B90-42EF-E7C6C91AF2F9}"/>
              </a:ext>
            </a:extLst>
          </p:cNvPr>
          <p:cNvSpPr txBox="1"/>
          <p:nvPr/>
        </p:nvSpPr>
        <p:spPr>
          <a:xfrm>
            <a:off x="542660" y="1836577"/>
            <a:ext cx="8383625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问题描述：老师好，客户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XXX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，投放业务：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XXXX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，学习成功阶段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反馈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XXXXX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异常，具体情况如下；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8ABC6E1-8F74-540E-2404-2CEA2A1F96F9}"/>
              </a:ext>
            </a:extLst>
          </p:cNvPr>
          <p:cNvSpPr txBox="1"/>
          <p:nvPr/>
        </p:nvSpPr>
        <p:spPr>
          <a:xfrm>
            <a:off x="5911022" y="2491577"/>
            <a:ext cx="5442778" cy="246221"/>
          </a:xfrm>
          <a:prstGeom prst="rect">
            <a:avLst/>
          </a:prstGeom>
          <a:solidFill>
            <a:srgbClr val="548B5B"/>
          </a:solidFill>
        </p:spPr>
        <p:txBody>
          <a:bodyPr wrap="square">
            <a:spAutoFit/>
          </a:bodyPr>
          <a:lstStyle/>
          <a:p>
            <a:r>
              <a:rPr lang="zh-CN" altLang="en-US" sz="10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自查结果表：请放正文</a:t>
            </a:r>
            <a:r>
              <a:rPr lang="en-US" altLang="zh-CN" sz="10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0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附件</a:t>
            </a: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44C7AF93-F2EC-FCE2-32F4-D904E90D7D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9583248"/>
              </p:ext>
            </p:extLst>
          </p:nvPr>
        </p:nvGraphicFramePr>
        <p:xfrm>
          <a:off x="613273" y="2491577"/>
          <a:ext cx="4433534" cy="1738552"/>
        </p:xfrm>
        <a:graphic>
          <a:graphicData uri="http://schemas.openxmlformats.org/drawingml/2006/table">
            <a:tbl>
              <a:tblPr/>
              <a:tblGrid>
                <a:gridCol w="1793076">
                  <a:extLst>
                    <a:ext uri="{9D8B030D-6E8A-4147-A177-3AD203B41FA5}">
                      <a16:colId xmlns:a16="http://schemas.microsoft.com/office/drawing/2014/main" val="3784923053"/>
                    </a:ext>
                  </a:extLst>
                </a:gridCol>
                <a:gridCol w="2640458">
                  <a:extLst>
                    <a:ext uri="{9D8B030D-6E8A-4147-A177-3AD203B41FA5}">
                      <a16:colId xmlns:a16="http://schemas.microsoft.com/office/drawing/2014/main" val="2133936603"/>
                    </a:ext>
                  </a:extLst>
                </a:gridCol>
              </a:tblGrid>
              <a:tr h="262423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对比时间段定义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此处请填写波动前、波动后时间段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111468"/>
                  </a:ext>
                </a:extLst>
              </a:tr>
              <a:tr h="262423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浅层定义及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KPI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9548713"/>
                  </a:ext>
                </a:extLst>
              </a:tr>
              <a:tr h="262423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深层定义及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KPI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9702118"/>
                  </a:ext>
                </a:extLst>
              </a:tr>
              <a:tr h="262423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涉及账户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556669"/>
                  </a:ext>
                </a:extLst>
              </a:tr>
              <a:tr h="262423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问题简述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3430123"/>
                  </a:ext>
                </a:extLst>
              </a:tr>
              <a:tr h="426437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自查初步判定结论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通过自查初步判断问题关键点，以及后续排查方向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9668822"/>
                  </a:ext>
                </a:extLst>
              </a:tr>
            </a:tbl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EADDAEB6-094E-B892-88BE-D4C6E8B313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4525546"/>
              </p:ext>
            </p:extLst>
          </p:nvPr>
        </p:nvGraphicFramePr>
        <p:xfrm>
          <a:off x="613273" y="4466836"/>
          <a:ext cx="4433534" cy="1933658"/>
        </p:xfrm>
        <a:graphic>
          <a:graphicData uri="http://schemas.openxmlformats.org/drawingml/2006/table">
            <a:tbl>
              <a:tblPr/>
              <a:tblGrid>
                <a:gridCol w="511391">
                  <a:extLst>
                    <a:ext uri="{9D8B030D-6E8A-4147-A177-3AD203B41FA5}">
                      <a16:colId xmlns:a16="http://schemas.microsoft.com/office/drawing/2014/main" val="600296573"/>
                    </a:ext>
                  </a:extLst>
                </a:gridCol>
                <a:gridCol w="555859">
                  <a:extLst>
                    <a:ext uri="{9D8B030D-6E8A-4147-A177-3AD203B41FA5}">
                      <a16:colId xmlns:a16="http://schemas.microsoft.com/office/drawing/2014/main" val="261629366"/>
                    </a:ext>
                  </a:extLst>
                </a:gridCol>
                <a:gridCol w="569200">
                  <a:extLst>
                    <a:ext uri="{9D8B030D-6E8A-4147-A177-3AD203B41FA5}">
                      <a16:colId xmlns:a16="http://schemas.microsoft.com/office/drawing/2014/main" val="1480135612"/>
                    </a:ext>
                  </a:extLst>
                </a:gridCol>
                <a:gridCol w="533625">
                  <a:extLst>
                    <a:ext uri="{9D8B030D-6E8A-4147-A177-3AD203B41FA5}">
                      <a16:colId xmlns:a16="http://schemas.microsoft.com/office/drawing/2014/main" val="169889345"/>
                    </a:ext>
                  </a:extLst>
                </a:gridCol>
                <a:gridCol w="791544">
                  <a:extLst>
                    <a:ext uri="{9D8B030D-6E8A-4147-A177-3AD203B41FA5}">
                      <a16:colId xmlns:a16="http://schemas.microsoft.com/office/drawing/2014/main" val="3762293549"/>
                    </a:ext>
                  </a:extLst>
                </a:gridCol>
                <a:gridCol w="355750">
                  <a:extLst>
                    <a:ext uri="{9D8B030D-6E8A-4147-A177-3AD203B41FA5}">
                      <a16:colId xmlns:a16="http://schemas.microsoft.com/office/drawing/2014/main" val="2852257536"/>
                    </a:ext>
                  </a:extLst>
                </a:gridCol>
                <a:gridCol w="449134">
                  <a:extLst>
                    <a:ext uri="{9D8B030D-6E8A-4147-A177-3AD203B41FA5}">
                      <a16:colId xmlns:a16="http://schemas.microsoft.com/office/drawing/2014/main" val="914635860"/>
                    </a:ext>
                  </a:extLst>
                </a:gridCol>
                <a:gridCol w="667031">
                  <a:extLst>
                    <a:ext uri="{9D8B030D-6E8A-4147-A177-3AD203B41FA5}">
                      <a16:colId xmlns:a16="http://schemas.microsoft.com/office/drawing/2014/main" val="1721327977"/>
                    </a:ext>
                  </a:extLst>
                </a:gridCol>
              </a:tblGrid>
              <a:tr h="351574">
                <a:tc gridSpan="2"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明细维度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波动前（日均）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波动后（日均）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3404361"/>
                  </a:ext>
                </a:extLst>
              </a:tr>
              <a:tr h="791042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账户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oCPC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包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消费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深层转化数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深层转化率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消费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深层转化数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深层转化率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4956703"/>
                  </a:ext>
                </a:extLst>
              </a:tr>
              <a:tr h="791042"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zh-CN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可自定义，如</a:t>
                      </a:r>
                      <a:r>
                        <a:rPr lang="en-US" altLang="zh-CN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ROI)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zh-CN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可自定义，如</a:t>
                      </a:r>
                      <a:r>
                        <a:rPr lang="en-US" altLang="zh-CN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ROI)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7827248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9234B122-C7BE-5118-6461-6554CAC01F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7176419"/>
              </p:ext>
            </p:extLst>
          </p:nvPr>
        </p:nvGraphicFramePr>
        <p:xfrm>
          <a:off x="5911022" y="2737798"/>
          <a:ext cx="5442778" cy="3510296"/>
        </p:xfrm>
        <a:graphic>
          <a:graphicData uri="http://schemas.openxmlformats.org/drawingml/2006/table">
            <a:tbl>
              <a:tblPr/>
              <a:tblGrid>
                <a:gridCol w="923130">
                  <a:extLst>
                    <a:ext uri="{9D8B030D-6E8A-4147-A177-3AD203B41FA5}">
                      <a16:colId xmlns:a16="http://schemas.microsoft.com/office/drawing/2014/main" val="502876102"/>
                    </a:ext>
                  </a:extLst>
                </a:gridCol>
                <a:gridCol w="1712046">
                  <a:extLst>
                    <a:ext uri="{9D8B030D-6E8A-4147-A177-3AD203B41FA5}">
                      <a16:colId xmlns:a16="http://schemas.microsoft.com/office/drawing/2014/main" val="1596435670"/>
                    </a:ext>
                  </a:extLst>
                </a:gridCol>
                <a:gridCol w="913488">
                  <a:extLst>
                    <a:ext uri="{9D8B030D-6E8A-4147-A177-3AD203B41FA5}">
                      <a16:colId xmlns:a16="http://schemas.microsoft.com/office/drawing/2014/main" val="2020520851"/>
                    </a:ext>
                  </a:extLst>
                </a:gridCol>
                <a:gridCol w="579576">
                  <a:extLst>
                    <a:ext uri="{9D8B030D-6E8A-4147-A177-3AD203B41FA5}">
                      <a16:colId xmlns:a16="http://schemas.microsoft.com/office/drawing/2014/main" val="368735609"/>
                    </a:ext>
                  </a:extLst>
                </a:gridCol>
                <a:gridCol w="1314538">
                  <a:extLst>
                    <a:ext uri="{9D8B030D-6E8A-4147-A177-3AD203B41FA5}">
                      <a16:colId xmlns:a16="http://schemas.microsoft.com/office/drawing/2014/main" val="12504838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排查类型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检查字段 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否变更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调整前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调整后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445858"/>
                  </a:ext>
                </a:extLst>
              </a:tr>
              <a:tr h="0">
                <a:tc rowSpan="13">
                  <a:txBody>
                    <a:bodyPr/>
                    <a:lstStyle/>
                    <a:p>
                      <a:pPr algn="ctr" fontAlgn="b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账户设置</a:t>
                      </a:r>
                      <a:b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（波动时段内）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预算变更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874940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计划组设置变更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7781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出价变更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96638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溢价系数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07162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匹配模式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301483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创意样式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4154717"/>
                  </a:ext>
                </a:extLst>
              </a:tr>
              <a:tr h="16447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消费结构是否有变化 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如品牌词占比下降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zh-CN" altLang="en-US" sz="1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zh-CN" altLang="en-US" sz="1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5686148"/>
                  </a:ext>
                </a:extLst>
              </a:tr>
              <a:tr h="16447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消费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TOP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词检索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展现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消费数据是否变化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6686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TOP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词是否增减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01834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zh-CN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TOP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词排名是否变化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268205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广告落地页变更</a:t>
                      </a:r>
                      <a:r>
                        <a:rPr lang="en-US" altLang="zh-CN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正常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653348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广告落地页内容是否变化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43457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客户广告转化路径是否变化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76563" marR="76563" marT="38282" marB="3828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7138105"/>
                  </a:ext>
                </a:extLst>
              </a:tr>
            </a:tbl>
          </a:graphicData>
        </a:graphic>
      </p:graphicFrame>
      <p:sp>
        <p:nvSpPr>
          <p:cNvPr id="4" name="灯片编号占位符 7">
            <a:extLst>
              <a:ext uri="{FF2B5EF4-FFF2-40B4-BE49-F238E27FC236}">
                <a16:creationId xmlns:a16="http://schemas.microsoft.com/office/drawing/2014/main" id="{5A1043EA-4929-4D46-0BF7-6F182463C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668" y="362643"/>
            <a:ext cx="612347" cy="33855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>
              <a:defRPr lang="en-US" altLang="zh-CN" sz="3400" smtClean="0">
                <a:solidFill>
                  <a:schemeClr val="tx2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004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09108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095" y="1072692"/>
            <a:ext cx="6303810" cy="471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5023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95D68C9-0094-9F67-CB97-18C747FFAA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984012"/>
              </p:ext>
            </p:extLst>
          </p:nvPr>
        </p:nvGraphicFramePr>
        <p:xfrm>
          <a:off x="1931915" y="2108719"/>
          <a:ext cx="8537546" cy="25553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2234">
                  <a:extLst>
                    <a:ext uri="{9D8B030D-6E8A-4147-A177-3AD203B41FA5}">
                      <a16:colId xmlns:a16="http://schemas.microsoft.com/office/drawing/2014/main" val="3944910906"/>
                    </a:ext>
                  </a:extLst>
                </a:gridCol>
                <a:gridCol w="2573848">
                  <a:extLst>
                    <a:ext uri="{9D8B030D-6E8A-4147-A177-3AD203B41FA5}">
                      <a16:colId xmlns:a16="http://schemas.microsoft.com/office/drawing/2014/main" val="1309548706"/>
                    </a:ext>
                  </a:extLst>
                </a:gridCol>
                <a:gridCol w="3491464">
                  <a:extLst>
                    <a:ext uri="{9D8B030D-6E8A-4147-A177-3AD203B41FA5}">
                      <a16:colId xmlns:a16="http://schemas.microsoft.com/office/drawing/2014/main" val="988107879"/>
                    </a:ext>
                  </a:extLst>
                </a:gridCol>
              </a:tblGrid>
              <a:tr h="51318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</a:t>
                      </a:r>
                      <a:r>
                        <a:rPr lang="zh-CN" altLang="en-US" sz="1600" dirty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展示消费异常</a:t>
                      </a:r>
                      <a:endParaRPr lang="en-US" altLang="zh-CN" sz="1600" dirty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81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02</a:t>
                      </a:r>
                      <a:r>
                        <a:rPr lang="zh-CN" altLang="en-US" sz="1600" dirty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展示投放需求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81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03</a:t>
                      </a:r>
                      <a:r>
                        <a:rPr lang="zh-CN" altLang="en-US" sz="1600" dirty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展示效果问题</a:t>
                      </a:r>
                      <a:endParaRPr lang="en-US" altLang="zh-CN" sz="1600" dirty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81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9907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lvl="0" indent="-285750">
                        <a:buFont typeface="Wingdings" panose="05000000000000000000" pitchFamily="2" charset="2"/>
                        <a:buChar char="ü"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消费过慢</a:t>
                      </a: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无消费</a:t>
                      </a:r>
                      <a:endParaRPr lang="en-US" altLang="zh-CN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ü"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消费异常</a:t>
                      </a:r>
                      <a:endParaRPr lang="en-US" altLang="zh-CN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ü"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超投问题</a:t>
                      </a:r>
                      <a:endParaRPr lang="en-US" altLang="zh-CN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ü"/>
                      </a:pPr>
                      <a:endParaRPr lang="en-US" altLang="zh-CN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lvl="0" indent="-285750">
                        <a:buFont typeface="Wingdings" panose="05000000000000000000" pitchFamily="2" charset="2"/>
                        <a:buChar char="ü"/>
                      </a:pPr>
                      <a:endParaRPr lang="en-US" altLang="zh-CN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Wingdings" panose="05000000000000000000" pitchFamily="2" charset="2"/>
                        <a:buChar char="ü"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解除熔断</a:t>
                      </a:r>
                      <a:endParaRPr lang="en-US" altLang="zh-CN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行业人群包</a:t>
                      </a:r>
                      <a:endParaRPr lang="en-US" altLang="zh-CN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媒体包</a:t>
                      </a:r>
                      <a:endParaRPr lang="en-US" altLang="zh-CN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marR="0" lvl="0" indent="-285750" algn="l" defTabSz="812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账户专属人群包</a:t>
                      </a: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工单</a:t>
                      </a:r>
                      <a:endParaRPr lang="en-US" altLang="zh-CN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人群包定制</a:t>
                      </a: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行业</a:t>
                      </a:r>
                      <a:r>
                        <a:rPr lang="en-US" altLang="zh-CN"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url</a:t>
                      </a: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模型复制</a:t>
                      </a:r>
                      <a:endParaRPr lang="en-US" altLang="zh-CN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oCPX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数据清洗</a:t>
                      </a:r>
                      <a:endParaRPr lang="en-US" altLang="zh-CN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600" b="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oCPX</a:t>
                      </a:r>
                      <a:r>
                        <a:rPr lang="zh-CN" alt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二阶超目标成本</a:t>
                      </a:r>
                      <a:r>
                        <a:rPr lang="en-US" altLang="zh-CN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1.5</a:t>
                      </a:r>
                      <a:r>
                        <a:rPr lang="zh-CN" alt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倍</a:t>
                      </a:r>
                      <a:endParaRPr lang="en-US" altLang="zh-CN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600" b="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oCPX</a:t>
                      </a:r>
                      <a:r>
                        <a:rPr lang="zh-CN" alt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二阶展点消突升</a:t>
                      </a:r>
                      <a:r>
                        <a:rPr lang="en-US" altLang="zh-CN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/</a:t>
                      </a:r>
                      <a:r>
                        <a:rPr lang="zh-CN" alt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突降</a:t>
                      </a:r>
                      <a:endParaRPr lang="en-US" altLang="zh-CN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600" b="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oCPX</a:t>
                      </a:r>
                      <a:r>
                        <a:rPr lang="zh-CN" alt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二阶浅层转化正常，深层效果突降</a:t>
                      </a:r>
                      <a:r>
                        <a:rPr lang="en-US" altLang="zh-CN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zh-CN" alt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如无效增多等</a:t>
                      </a:r>
                      <a:r>
                        <a:rPr lang="en-US" altLang="zh-CN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非</a:t>
                      </a:r>
                      <a:r>
                        <a:rPr lang="en-US" altLang="zh-CN" sz="1600" b="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oCPX</a:t>
                      </a:r>
                      <a:r>
                        <a:rPr lang="zh-CN" alt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（</a:t>
                      </a:r>
                      <a:r>
                        <a:rPr lang="en-US" altLang="zh-CN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CPM</a:t>
                      </a:r>
                      <a:r>
                        <a:rPr lang="zh-CN" alt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投放）效果突降</a:t>
                      </a:r>
                      <a:endParaRPr lang="en-US" altLang="zh-CN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非</a:t>
                      </a:r>
                      <a:r>
                        <a:rPr lang="en-US" altLang="zh-CN" sz="1600" b="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oCPX</a:t>
                      </a:r>
                      <a:r>
                        <a:rPr lang="zh-CN" alt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（</a:t>
                      </a:r>
                      <a:r>
                        <a:rPr lang="en-US" altLang="zh-CN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CPM</a:t>
                      </a:r>
                      <a:r>
                        <a:rPr lang="zh-CN" altLang="en-US" sz="1600" b="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投放）浅层转化正常，深层效果突降（如无效增多等）</a:t>
                      </a:r>
                      <a:endParaRPr lang="en-US" altLang="zh-CN" sz="1600" b="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0426758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717ABDA7-73D5-43B7-DD73-48E035B48323}"/>
              </a:ext>
            </a:extLst>
          </p:cNvPr>
          <p:cNvSpPr txBox="1"/>
          <p:nvPr/>
        </p:nvSpPr>
        <p:spPr>
          <a:xfrm>
            <a:off x="4068661" y="1132513"/>
            <a:ext cx="32381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dirty="0">
                <a:ea typeface="微软雅黑" panose="020B0503020204020204" pitchFamily="34" charset="-122"/>
              </a:rPr>
              <a:t>展示常见问题类型</a:t>
            </a:r>
          </a:p>
        </p:txBody>
      </p:sp>
    </p:spTree>
    <p:extLst>
      <p:ext uri="{BB962C8B-B14F-4D97-AF65-F5344CB8AC3E}">
        <p14:creationId xmlns:p14="http://schemas.microsoft.com/office/powerpoint/2010/main" val="14473768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1522721" y="407271"/>
            <a:ext cx="8166563" cy="249299"/>
          </a:xfrm>
        </p:spPr>
        <p:txBody>
          <a:bodyPr/>
          <a:lstStyle/>
          <a:p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Poppins Light"/>
              </a:rPr>
              <a:t>消费异常</a:t>
            </a:r>
            <a:r>
              <a:rPr kumimoji="1" lang="en-US" altLang="zh-CN" dirty="0"/>
              <a:t>—</a:t>
            </a:r>
            <a:r>
              <a:rPr kumimoji="1" lang="zh-CN" altLang="en-US" sz="1400" dirty="0"/>
              <a:t>消费慢</a:t>
            </a:r>
            <a:r>
              <a:rPr kumimoji="1" lang="en-US" altLang="zh-CN" sz="1400" dirty="0"/>
              <a:t>/</a:t>
            </a:r>
            <a:r>
              <a:rPr kumimoji="1" lang="zh-CN" altLang="en-US" sz="1400" dirty="0"/>
              <a:t>无消费</a:t>
            </a:r>
            <a:r>
              <a:rPr kumimoji="1" lang="en-US" altLang="zh-CN" sz="1400" dirty="0"/>
              <a:t>/</a:t>
            </a:r>
            <a:r>
              <a:rPr kumimoji="1" lang="zh-CN" altLang="en-US" sz="1400" dirty="0"/>
              <a:t>消费快</a:t>
            </a:r>
            <a:r>
              <a:rPr kumimoji="1" lang="en-US" altLang="zh-CN" sz="1400" dirty="0"/>
              <a:t>/</a:t>
            </a:r>
            <a:r>
              <a:rPr kumimoji="1" lang="zh-CN" altLang="en-US" sz="1400" dirty="0"/>
              <a:t>超投问题</a:t>
            </a:r>
            <a:endParaRPr kumimoji="1" lang="zh-CN" altLang="en-US" sz="14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00B78C0-7AFF-27B4-8654-FF95D999117D}"/>
              </a:ext>
            </a:extLst>
          </p:cNvPr>
          <p:cNvSpPr txBox="1"/>
          <p:nvPr/>
        </p:nvSpPr>
        <p:spPr>
          <a:xfrm>
            <a:off x="542665" y="1026468"/>
            <a:ext cx="11104748" cy="1603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工单分类：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系统问题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展示广告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投放问题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工单主题：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区域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【代理商】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展示广告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消费慢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无消费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消费快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账户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ID+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一级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二级行业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示例：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华中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成都龙擎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展示广告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】+【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消费慢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无消费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消费快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】+</a:t>
            </a:r>
            <a:r>
              <a:rPr lang="en-US" altLang="zh-CN" sz="1200" b="0" i="0" dirty="0">
                <a:solidFill>
                  <a:srgbClr val="6062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84xxx192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一级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二级行业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华中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成都龙擎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展示广告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】+【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超投问题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】+</a:t>
            </a:r>
            <a:r>
              <a:rPr lang="en-US" altLang="zh-CN" sz="1200" b="0" i="0" dirty="0">
                <a:solidFill>
                  <a:srgbClr val="6062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84xxx192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一级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二级行业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200849FA-EB02-62DE-932A-888253D9C8BB}"/>
              </a:ext>
            </a:extLst>
          </p:cNvPr>
          <p:cNvGrpSpPr/>
          <p:nvPr/>
        </p:nvGrpSpPr>
        <p:grpSpPr>
          <a:xfrm>
            <a:off x="542665" y="2726154"/>
            <a:ext cx="5361273" cy="3758008"/>
            <a:chOff x="542665" y="2726154"/>
            <a:chExt cx="3541323" cy="3758008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F1383792-D4EB-2D56-159C-77D9DDB84681}"/>
                </a:ext>
              </a:extLst>
            </p:cNvPr>
            <p:cNvSpPr/>
            <p:nvPr/>
          </p:nvSpPr>
          <p:spPr>
            <a:xfrm>
              <a:off x="542665" y="3024751"/>
              <a:ext cx="3528584" cy="3459411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6350">
              <a:prstDash val="dash"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BE170FC2-206D-7EC5-E829-65F0B7B61E9B}"/>
                </a:ext>
              </a:extLst>
            </p:cNvPr>
            <p:cNvSpPr txBox="1"/>
            <p:nvPr/>
          </p:nvSpPr>
          <p:spPr>
            <a:xfrm>
              <a:off x="544587" y="3111839"/>
              <a:ext cx="3539401" cy="31429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场景</a:t>
              </a:r>
              <a:r>
                <a:rPr lang="en-US" altLang="zh-CN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-【</a:t>
              </a: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消费慢</a:t>
              </a:r>
              <a:r>
                <a:rPr lang="en-US" altLang="zh-CN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无消费</a:t>
              </a:r>
              <a:r>
                <a:rPr lang="en-US" altLang="zh-CN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消费快</a:t>
              </a:r>
              <a:r>
                <a:rPr lang="en-US" altLang="zh-CN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】</a:t>
              </a:r>
              <a:endParaRPr lang="en-US" altLang="zh-CN" sz="10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285750" indent="-285750">
                <a:lnSpc>
                  <a:spcPts val="2000"/>
                </a:lnSpc>
                <a:buFont typeface="Arial" panose="020B0604020202020204" pitchFamily="34" charset="0"/>
                <a:buChar char="•"/>
              </a:pP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华中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】+【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成都龙擎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】+【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展示广告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】+【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消费慢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无消费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消费快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】+84xxx192+【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区域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-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商务服务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-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展会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</a:p>
            <a:p>
              <a:pPr>
                <a:lnSpc>
                  <a:spcPts val="2000"/>
                </a:lnSpc>
              </a:pPr>
              <a:endPara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b="1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问题描述：</a:t>
              </a:r>
              <a:endParaRPr lang="en-US" altLang="zh-CN" sz="1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老师好，客户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，投放业务：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XXXX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客户投放全站智选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/xxx/…………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，主投画报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弹窗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橱窗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墨鱼丸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……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，但是突然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一直消费慢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无消费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消费快，具体情况如下，烦请协助处理，谢谢</a:t>
              </a: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①账户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id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：</a:t>
              </a: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②账户名称：</a:t>
              </a:r>
              <a:endPara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③账户素材更新频率：</a:t>
              </a:r>
              <a:endPara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④账户胜出率变化：</a:t>
              </a:r>
              <a:endPara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⑤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账户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ctr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变化：</a:t>
              </a: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⑥账户近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7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天日耗：</a:t>
              </a: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C07EC27D-35F2-DCA6-F8F7-DF002CEC48D8}"/>
                </a:ext>
              </a:extLst>
            </p:cNvPr>
            <p:cNvSpPr/>
            <p:nvPr/>
          </p:nvSpPr>
          <p:spPr>
            <a:xfrm>
              <a:off x="542665" y="2726154"/>
              <a:ext cx="3541323" cy="357293"/>
            </a:xfrm>
            <a:prstGeom prst="rect">
              <a:avLst/>
            </a:prstGeom>
            <a:solidFill>
              <a:srgbClr val="538C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工单详情</a:t>
              </a:r>
              <a:r>
                <a:rPr lang="en-US" altLang="zh-CN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1200" b="1" kern="100" dirty="0">
                  <a:solidFill>
                    <a:schemeClr val="bg2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消费慢</a:t>
              </a:r>
              <a:r>
                <a:rPr lang="en-US" altLang="zh-CN" sz="1200" b="1" kern="100" dirty="0">
                  <a:solidFill>
                    <a:schemeClr val="bg2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1200" b="1" kern="100" dirty="0">
                  <a:solidFill>
                    <a:schemeClr val="bg2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无消费</a:t>
              </a:r>
              <a:r>
                <a:rPr lang="en-US" altLang="zh-CN" sz="1200" b="1" kern="100" dirty="0">
                  <a:solidFill>
                    <a:schemeClr val="bg2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1200" b="1" kern="100" dirty="0">
                  <a:solidFill>
                    <a:schemeClr val="bg2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消费快</a:t>
              </a:r>
              <a:endParaRPr lang="zh-CN" altLang="en-US" sz="12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F25A714D-FBDB-5DF4-DDD7-9E8E64FA6BFB}"/>
              </a:ext>
            </a:extLst>
          </p:cNvPr>
          <p:cNvGrpSpPr/>
          <p:nvPr/>
        </p:nvGrpSpPr>
        <p:grpSpPr>
          <a:xfrm>
            <a:off x="6368143" y="2726154"/>
            <a:ext cx="5391736" cy="3758008"/>
            <a:chOff x="6693093" y="2726154"/>
            <a:chExt cx="3539475" cy="3758008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B3DB7077-4938-DCFD-67EF-161B2BF4D49C}"/>
                </a:ext>
              </a:extLst>
            </p:cNvPr>
            <p:cNvSpPr/>
            <p:nvPr/>
          </p:nvSpPr>
          <p:spPr>
            <a:xfrm>
              <a:off x="6693093" y="3024751"/>
              <a:ext cx="3506818" cy="3459411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6350">
              <a:prstDash val="dash"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BB7DEE91-A1F7-BFD2-ADC0-35B5AE3E1EC6}"/>
                </a:ext>
              </a:extLst>
            </p:cNvPr>
            <p:cNvSpPr txBox="1"/>
            <p:nvPr/>
          </p:nvSpPr>
          <p:spPr>
            <a:xfrm>
              <a:off x="6727672" y="3068295"/>
              <a:ext cx="3504896" cy="28351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场景</a:t>
              </a:r>
              <a:r>
                <a:rPr lang="en-US" altLang="zh-CN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-【</a:t>
              </a: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展示预算超投</a:t>
              </a:r>
              <a:r>
                <a:rPr lang="en-US" altLang="zh-CN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】</a:t>
              </a:r>
              <a:endParaRPr lang="en-US" altLang="zh-CN" sz="10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华中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】+【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成都龙擎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】+【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展示广告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】+【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超投问题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】+84xxx192+【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区域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-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商务服务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-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展会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</a:p>
            <a:p>
              <a:pPr>
                <a:lnSpc>
                  <a:spcPct val="150000"/>
                </a:lnSpc>
              </a:pPr>
              <a:endParaRPr lang="en-US" altLang="zh-CN" sz="1000" kern="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b="1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问题描述：</a:t>
              </a:r>
              <a:endParaRPr lang="en-US" altLang="zh-CN" sz="1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老师好，客户：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，投放业务：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XXXX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，预算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，今日未修改账户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计划预算，实际消费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已经超出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预算的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10%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，烦请评估返款处理，谢谢</a:t>
              </a: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①账户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id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：</a:t>
              </a: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②账户名称：</a:t>
              </a:r>
              <a:endPara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③问题出现时间及前一天账户及计划预算操作截图，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放正文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)</a:t>
              </a:r>
            </a:p>
            <a:p>
              <a:pPr>
                <a:lnSpc>
                  <a:spcPct val="150000"/>
                </a:lnSpc>
              </a:pPr>
              <a:endPara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补充说明：账户层级当天实际消费情况需要参考首页展示广告部分的消费，当日的超投无法反馈，需次日反馈</a:t>
              </a:r>
              <a:endParaRPr lang="en-US" altLang="zh-CN" sz="10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CBED8E4D-A8E1-D359-B7FA-1510C1681682}"/>
                </a:ext>
              </a:extLst>
            </p:cNvPr>
            <p:cNvSpPr/>
            <p:nvPr/>
          </p:nvSpPr>
          <p:spPr>
            <a:xfrm>
              <a:off x="6693093" y="2726154"/>
              <a:ext cx="3519478" cy="357293"/>
            </a:xfrm>
            <a:prstGeom prst="rect">
              <a:avLst/>
            </a:prstGeom>
            <a:solidFill>
              <a:srgbClr val="538C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工单详情</a:t>
              </a:r>
              <a:r>
                <a:rPr lang="en-US" altLang="zh-CN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超投问题</a:t>
              </a:r>
            </a:p>
          </p:txBody>
        </p:sp>
      </p:grpSp>
      <p:sp>
        <p:nvSpPr>
          <p:cNvPr id="5" name="灯片编号占位符 7">
            <a:extLst>
              <a:ext uri="{FF2B5EF4-FFF2-40B4-BE49-F238E27FC236}">
                <a16:creationId xmlns:a16="http://schemas.microsoft.com/office/drawing/2014/main" id="{CBC1EE03-1BE1-9F36-10D0-BD7AA3C4E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668" y="362643"/>
            <a:ext cx="612347" cy="33855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>
              <a:defRPr lang="en-US" altLang="zh-CN" sz="3400" smtClean="0">
                <a:solidFill>
                  <a:schemeClr val="tx2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001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05303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1522721" y="407271"/>
            <a:ext cx="8166563" cy="249299"/>
          </a:xfrm>
        </p:spPr>
        <p:txBody>
          <a:bodyPr/>
          <a:lstStyle/>
          <a:p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Poppins Light"/>
              </a:rPr>
              <a:t>展示常规支持</a:t>
            </a:r>
            <a:r>
              <a:rPr kumimoji="1" lang="en-US" altLang="zh-CN" dirty="0"/>
              <a:t>—</a:t>
            </a:r>
            <a:r>
              <a:rPr kumimoji="1" lang="zh-CN" altLang="en-US" sz="1400" dirty="0"/>
              <a:t>解除熔断</a:t>
            </a:r>
            <a:r>
              <a:rPr kumimoji="1" lang="en-US" altLang="zh-CN" sz="1400" dirty="0"/>
              <a:t>/</a:t>
            </a:r>
            <a:r>
              <a:rPr kumimoji="1" lang="zh-CN" altLang="en-US" sz="1400" dirty="0"/>
              <a:t>账户专属人群包</a:t>
            </a:r>
            <a:endParaRPr kumimoji="1" lang="zh-CN" altLang="en-US" sz="14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CB6A1D7-4612-AEF1-845A-15FC250C6697}"/>
              </a:ext>
            </a:extLst>
          </p:cNvPr>
          <p:cNvSpPr txBox="1"/>
          <p:nvPr/>
        </p:nvSpPr>
        <p:spPr>
          <a:xfrm>
            <a:off x="542665" y="1272359"/>
            <a:ext cx="11104748" cy="1347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工单分类：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需求支持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展示广告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en-US" altLang="zh-CN" sz="1200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OcpX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熔断解除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/【</a:t>
            </a:r>
            <a:r>
              <a:rPr lang="en-US" altLang="zh-CN" sz="1200" b="0" i="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oCPX</a:t>
            </a:r>
            <a:r>
              <a:rPr lang="zh-CN" altLang="en-US" sz="1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数据清洗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】……………</a:t>
            </a:r>
          </a:p>
          <a:p>
            <a:pPr>
              <a:lnSpc>
                <a:spcPts val="2000"/>
              </a:lnSpc>
            </a:pP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工单主题：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区域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【代理商】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展示广告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en-US" altLang="zh-CN" sz="12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OcpX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熔断解除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账户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ID+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一级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二级行业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示例：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华中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成都龙擎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展示广告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】+【</a:t>
            </a:r>
            <a:r>
              <a:rPr lang="en-US" altLang="zh-CN" sz="1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b="0" i="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oCPX</a:t>
            </a:r>
            <a:r>
              <a:rPr lang="zh-CN" altLang="en-US" sz="1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数据清洗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】+</a:t>
            </a:r>
            <a:r>
              <a:rPr lang="en-US" altLang="zh-CN" sz="1200" b="0" i="0" dirty="0">
                <a:solidFill>
                  <a:srgbClr val="6062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84xxx192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一级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二级行业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华中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成都龙擎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展示广告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】+【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200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OcpX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熔断解除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】+</a:t>
            </a:r>
            <a:r>
              <a:rPr lang="en-US" altLang="zh-CN" sz="1200" b="0" i="0" dirty="0">
                <a:solidFill>
                  <a:srgbClr val="6062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84xxx192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一级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二级行业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F39ECF8-B308-8156-59DA-AE8A969C2F63}"/>
              </a:ext>
            </a:extLst>
          </p:cNvPr>
          <p:cNvGrpSpPr/>
          <p:nvPr/>
        </p:nvGrpSpPr>
        <p:grpSpPr>
          <a:xfrm>
            <a:off x="542665" y="2732324"/>
            <a:ext cx="5225089" cy="3027614"/>
            <a:chOff x="6693093" y="2726154"/>
            <a:chExt cx="5392801" cy="375800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5B49802-538D-745E-8685-3E84E0E1F599}"/>
                </a:ext>
              </a:extLst>
            </p:cNvPr>
            <p:cNvSpPr/>
            <p:nvPr/>
          </p:nvSpPr>
          <p:spPr>
            <a:xfrm>
              <a:off x="6693093" y="3024751"/>
              <a:ext cx="5392801" cy="3459411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6350">
              <a:prstDash val="dash"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96DE6289-D51E-8ED9-A21E-E30C5B8B231A}"/>
                </a:ext>
              </a:extLst>
            </p:cNvPr>
            <p:cNvSpPr txBox="1"/>
            <p:nvPr/>
          </p:nvSpPr>
          <p:spPr>
            <a:xfrm>
              <a:off x="6727671" y="3068295"/>
              <a:ext cx="5253362" cy="24776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场景</a:t>
              </a:r>
              <a:r>
                <a:rPr lang="en-US" altLang="zh-CN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-【</a:t>
              </a: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账户成本高，某节点突然不消费</a:t>
              </a:r>
              <a:r>
                <a:rPr lang="en-US" altLang="zh-CN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】</a:t>
              </a: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解除熔断期间不赔付</a:t>
              </a:r>
              <a:endParaRPr lang="en-US" altLang="zh-CN" sz="10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285750" indent="-285750">
                <a:lnSpc>
                  <a:spcPts val="2000"/>
                </a:lnSpc>
                <a:buFont typeface="Arial" panose="020B0604020202020204" pitchFamily="34" charset="0"/>
                <a:buChar char="•"/>
              </a:pP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华中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成都龙擎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+【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展示广告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】+【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解除熔断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】+</a:t>
              </a:r>
              <a:r>
                <a:rPr lang="en-US" altLang="zh-CN" sz="1000" b="0" i="0" dirty="0">
                  <a:solidFill>
                    <a:srgbClr val="606266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84xxx192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商务服务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-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展会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285750" indent="-285750">
                <a:lnSpc>
                  <a:spcPts val="2000"/>
                </a:lnSpc>
                <a:buFont typeface="Arial" panose="020B0604020202020204" pitchFamily="34" charset="0"/>
                <a:buChar char="•"/>
              </a:pPr>
              <a:endParaRPr lang="en-US" altLang="zh-CN" sz="1000" kern="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b="1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问题描述：</a:t>
              </a:r>
              <a:endParaRPr lang="en-US" altLang="zh-CN" sz="1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老师好，客户：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，投放业务：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XXXX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客户投放全站智选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/xxx/…………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，主投画报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弹窗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橱窗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墨鱼丸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……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，日均消费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；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客户反馈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XXXX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点开始账户不消费，怀疑被熔断，申请解除，烦请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排查，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谢谢</a:t>
              </a: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①账户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id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：</a:t>
              </a: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②账户名称：</a:t>
              </a:r>
              <a:endPara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A2535CA8-A2BA-77F3-616D-D2C12F06A97F}"/>
                </a:ext>
              </a:extLst>
            </p:cNvPr>
            <p:cNvSpPr/>
            <p:nvPr/>
          </p:nvSpPr>
          <p:spPr>
            <a:xfrm>
              <a:off x="6693093" y="2726154"/>
              <a:ext cx="5392801" cy="357293"/>
            </a:xfrm>
            <a:prstGeom prst="rect">
              <a:avLst/>
            </a:prstGeom>
            <a:solidFill>
              <a:srgbClr val="548B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工单详情</a:t>
              </a:r>
              <a:r>
                <a:rPr lang="en-US" altLang="zh-CN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解除熔断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12774074-4E89-1686-2A38-C6141000EF3C}"/>
              </a:ext>
            </a:extLst>
          </p:cNvPr>
          <p:cNvGrpSpPr/>
          <p:nvPr/>
        </p:nvGrpSpPr>
        <p:grpSpPr>
          <a:xfrm>
            <a:off x="5924062" y="2732324"/>
            <a:ext cx="5368722" cy="3027614"/>
            <a:chOff x="6693093" y="2726154"/>
            <a:chExt cx="3539475" cy="3758008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1DD06D8F-B40F-74DD-7D33-D4AFB3D05BF4}"/>
                </a:ext>
              </a:extLst>
            </p:cNvPr>
            <p:cNvSpPr/>
            <p:nvPr/>
          </p:nvSpPr>
          <p:spPr>
            <a:xfrm>
              <a:off x="6693093" y="3024751"/>
              <a:ext cx="3506818" cy="3459411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6350">
              <a:prstDash val="dash"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EE552A81-AFD2-E7AF-71F0-CFEFA5C4370D}"/>
                </a:ext>
              </a:extLst>
            </p:cNvPr>
            <p:cNvSpPr txBox="1"/>
            <p:nvPr/>
          </p:nvSpPr>
          <p:spPr>
            <a:xfrm>
              <a:off x="6727672" y="3068295"/>
              <a:ext cx="3504896" cy="19118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场景</a:t>
              </a:r>
              <a:r>
                <a:rPr lang="en-US" altLang="zh-CN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-【</a:t>
              </a: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账户专属人群包</a:t>
              </a:r>
              <a:r>
                <a:rPr lang="en-US" altLang="zh-CN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】</a:t>
              </a:r>
              <a:endParaRPr lang="en-US" altLang="zh-CN" sz="10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华中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】+【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成都龙擎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】+【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展示广告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】+【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账户专属人群包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】+84xxx192+【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商务服务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-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展会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</a:p>
            <a:p>
              <a:pPr>
                <a:lnSpc>
                  <a:spcPct val="150000"/>
                </a:lnSpc>
              </a:pPr>
              <a:endParaRPr lang="en-US" altLang="zh-CN" sz="1000" kern="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b="1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问题描述：</a:t>
              </a:r>
              <a:endParaRPr lang="en-US" altLang="zh-CN" sz="1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老师好，客户：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，投放业务：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XXXX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申请开通展示广告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-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账户专属人群 ，还请帮忙协助处理，感谢！</a:t>
              </a: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endPara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784716D-0130-3B99-4D50-030434B98BE5}"/>
                </a:ext>
              </a:extLst>
            </p:cNvPr>
            <p:cNvSpPr/>
            <p:nvPr/>
          </p:nvSpPr>
          <p:spPr>
            <a:xfrm>
              <a:off x="6693093" y="2726154"/>
              <a:ext cx="3519478" cy="357293"/>
            </a:xfrm>
            <a:prstGeom prst="rect">
              <a:avLst/>
            </a:prstGeom>
            <a:solidFill>
              <a:srgbClr val="548B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工单详情</a:t>
              </a:r>
              <a:r>
                <a:rPr lang="en-US" altLang="zh-CN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账户专属人群包</a:t>
              </a:r>
            </a:p>
          </p:txBody>
        </p:sp>
      </p:grp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FBDBBC2E-D513-A99D-C4EF-EF64F11E1D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384397"/>
              </p:ext>
            </p:extLst>
          </p:nvPr>
        </p:nvGraphicFramePr>
        <p:xfrm>
          <a:off x="6127264" y="4894071"/>
          <a:ext cx="5008823" cy="640080"/>
        </p:xfrm>
        <a:graphic>
          <a:graphicData uri="http://schemas.openxmlformats.org/drawingml/2006/table">
            <a:tbl>
              <a:tblPr/>
              <a:tblGrid>
                <a:gridCol w="969105">
                  <a:extLst>
                    <a:ext uri="{9D8B030D-6E8A-4147-A177-3AD203B41FA5}">
                      <a16:colId xmlns:a16="http://schemas.microsoft.com/office/drawing/2014/main" val="3145590713"/>
                    </a:ext>
                  </a:extLst>
                </a:gridCol>
                <a:gridCol w="1045898">
                  <a:extLst>
                    <a:ext uri="{9D8B030D-6E8A-4147-A177-3AD203B41FA5}">
                      <a16:colId xmlns:a16="http://schemas.microsoft.com/office/drawing/2014/main" val="1658765242"/>
                    </a:ext>
                  </a:extLst>
                </a:gridCol>
                <a:gridCol w="1184572">
                  <a:extLst>
                    <a:ext uri="{9D8B030D-6E8A-4147-A177-3AD203B41FA5}">
                      <a16:colId xmlns:a16="http://schemas.microsoft.com/office/drawing/2014/main" val="99694259"/>
                    </a:ext>
                  </a:extLst>
                </a:gridCol>
                <a:gridCol w="728557">
                  <a:extLst>
                    <a:ext uri="{9D8B030D-6E8A-4147-A177-3AD203B41FA5}">
                      <a16:colId xmlns:a16="http://schemas.microsoft.com/office/drawing/2014/main" val="763571017"/>
                    </a:ext>
                  </a:extLst>
                </a:gridCol>
                <a:gridCol w="1080691">
                  <a:extLst>
                    <a:ext uri="{9D8B030D-6E8A-4147-A177-3AD203B41FA5}">
                      <a16:colId xmlns:a16="http://schemas.microsoft.com/office/drawing/2014/main" val="2934498203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账户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公司名称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客户主要投放业务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一级行业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二级行业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776189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342XXXX36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XXX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有限公司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endParaRPr lang="zh-CN" altLang="en-US" sz="1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endParaRPr lang="zh-CN" altLang="en-US" sz="1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4977006"/>
                  </a:ext>
                </a:extLst>
              </a:tr>
            </a:tbl>
          </a:graphicData>
        </a:graphic>
      </p:graphicFrame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D1713764-37F9-C339-ABB2-8612C71A2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668" y="362643"/>
            <a:ext cx="612347" cy="33855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>
              <a:defRPr lang="en-US" altLang="zh-CN" sz="3400" smtClean="0">
                <a:solidFill>
                  <a:schemeClr val="tx2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r>
              <a:rPr lang="en-US" altLang="zh-CN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9499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1522721" y="407271"/>
            <a:ext cx="8166563" cy="249299"/>
          </a:xfrm>
        </p:spPr>
        <p:txBody>
          <a:bodyPr/>
          <a:lstStyle/>
          <a:p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Poppins Light"/>
              </a:rPr>
              <a:t>展示常规支持</a:t>
            </a:r>
            <a:r>
              <a:rPr kumimoji="1" lang="en-US" altLang="zh-CN" dirty="0"/>
              <a:t>—</a:t>
            </a:r>
            <a:r>
              <a:rPr kumimoji="1" lang="zh-CN" altLang="en-US" sz="1400" dirty="0"/>
              <a:t>人群包共享</a:t>
            </a:r>
            <a:r>
              <a:rPr kumimoji="1" lang="en-US" altLang="zh-CN" sz="1400" dirty="0"/>
              <a:t>/</a:t>
            </a:r>
            <a:r>
              <a:rPr kumimoji="1" lang="zh-CN" altLang="en-US" sz="1400" dirty="0"/>
              <a:t>人群包定制</a:t>
            </a:r>
            <a:r>
              <a:rPr kumimoji="1" lang="en-US" altLang="zh-CN" sz="1400" dirty="0"/>
              <a:t>/</a:t>
            </a:r>
            <a:r>
              <a:rPr kumimoji="1" lang="zh-CN" altLang="en-US" sz="1400" dirty="0"/>
              <a:t>媒体包</a:t>
            </a:r>
            <a:endParaRPr kumimoji="1" lang="zh-CN" altLang="en-US" sz="14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AABAA9E-4F76-A91D-EC89-C95D7D6E8D3F}"/>
              </a:ext>
            </a:extLst>
          </p:cNvPr>
          <p:cNvSpPr txBox="1"/>
          <p:nvPr/>
        </p:nvSpPr>
        <p:spPr>
          <a:xfrm>
            <a:off x="542665" y="1272359"/>
            <a:ext cx="11104748" cy="1347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工单分类：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需求支持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展示广告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人群包共享</a:t>
            </a: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/【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媒体包</a:t>
            </a:r>
            <a:r>
              <a:rPr lang="en-US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】……………</a:t>
            </a:r>
          </a:p>
          <a:p>
            <a:pPr>
              <a:lnSpc>
                <a:spcPts val="2000"/>
              </a:lnSpc>
            </a:pP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工单主题：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区域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【代理商】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展示广告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行业人群包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媒体包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账户专属人群包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人群包定制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账户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ID+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一级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二级行业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示例：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华中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成都龙擎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展示广告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】+【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行业人群包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】+</a:t>
            </a:r>
            <a:r>
              <a:rPr lang="en-US" altLang="zh-CN" sz="1200" b="0" i="0" dirty="0">
                <a:solidFill>
                  <a:srgbClr val="6062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84xxx192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一级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二级行业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华中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成都龙擎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展示广告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】+【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账户专属人群包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】+</a:t>
            </a:r>
            <a:r>
              <a:rPr lang="en-US" altLang="zh-CN" sz="1200" b="0" i="0" dirty="0">
                <a:solidFill>
                  <a:srgbClr val="6062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84xxx192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一级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二级行业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1C30E540-19E2-1196-593D-C73A0CD5B7B8}"/>
              </a:ext>
            </a:extLst>
          </p:cNvPr>
          <p:cNvGrpSpPr/>
          <p:nvPr/>
        </p:nvGrpSpPr>
        <p:grpSpPr>
          <a:xfrm>
            <a:off x="542666" y="2726154"/>
            <a:ext cx="4029334" cy="3758008"/>
            <a:chOff x="542665" y="2726154"/>
            <a:chExt cx="3541323" cy="3758008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41E47DD1-32B6-1D56-94C0-1F0A25D02E9C}"/>
                </a:ext>
              </a:extLst>
            </p:cNvPr>
            <p:cNvSpPr/>
            <p:nvPr/>
          </p:nvSpPr>
          <p:spPr>
            <a:xfrm>
              <a:off x="542665" y="3024751"/>
              <a:ext cx="3528584" cy="3459411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6350">
              <a:prstDash val="dash"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6D1686F-193D-C46E-71EA-C4A7ABA2FBE3}"/>
                </a:ext>
              </a:extLst>
            </p:cNvPr>
            <p:cNvSpPr txBox="1"/>
            <p:nvPr/>
          </p:nvSpPr>
          <p:spPr>
            <a:xfrm>
              <a:off x="544587" y="3111839"/>
              <a:ext cx="3539401" cy="17322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场景</a:t>
              </a:r>
              <a:r>
                <a:rPr lang="en-US" altLang="zh-CN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-【</a:t>
              </a: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适用于同主体，账户更迭 人群包导入</a:t>
              </a:r>
              <a:r>
                <a:rPr lang="en-US" altLang="zh-CN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】</a:t>
              </a:r>
              <a:endParaRPr lang="en-US" altLang="zh-CN" sz="10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285750" indent="-285750">
                <a:lnSpc>
                  <a:spcPts val="2000"/>
                </a:lnSpc>
                <a:buFont typeface="Arial" panose="020B0604020202020204" pitchFamily="34" charset="0"/>
                <a:buChar char="•"/>
              </a:pP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华中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】+【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成都龙擎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】+【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展示广告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】+【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行业人群包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】+84xxx192+【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区域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-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商务服务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-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展会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</a:p>
            <a:p>
              <a:pPr>
                <a:lnSpc>
                  <a:spcPct val="150000"/>
                </a:lnSpc>
              </a:pPr>
              <a:endParaRPr lang="en-US" altLang="zh-CN" sz="1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b="1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问题描述：</a:t>
              </a:r>
              <a:endParaRPr lang="en-US" altLang="zh-CN" sz="1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老师好，客户：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，投放业务：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XXXX 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 现要启用新的子账户投放，申请将老户的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人群包共享到新户 ，麻烦协助处理，谢谢</a:t>
              </a: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A19F200D-FEE1-F927-71DC-439EC788F4F9}"/>
                </a:ext>
              </a:extLst>
            </p:cNvPr>
            <p:cNvSpPr/>
            <p:nvPr/>
          </p:nvSpPr>
          <p:spPr>
            <a:xfrm>
              <a:off x="542665" y="2726154"/>
              <a:ext cx="3541323" cy="357293"/>
            </a:xfrm>
            <a:prstGeom prst="rect">
              <a:avLst/>
            </a:prstGeom>
            <a:solidFill>
              <a:srgbClr val="548B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工单详情</a:t>
              </a:r>
              <a:r>
                <a:rPr lang="en-US" altLang="zh-CN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1200" b="1" kern="100" dirty="0">
                  <a:solidFill>
                    <a:schemeClr val="bg2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人群包共享</a:t>
              </a:r>
              <a:endParaRPr lang="zh-CN" altLang="en-US" sz="12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A477170-53BB-7524-0E64-69B774AD78C9}"/>
              </a:ext>
            </a:extLst>
          </p:cNvPr>
          <p:cNvGrpSpPr/>
          <p:nvPr/>
        </p:nvGrpSpPr>
        <p:grpSpPr>
          <a:xfrm>
            <a:off x="8206340" y="2726154"/>
            <a:ext cx="3429400" cy="3758008"/>
            <a:chOff x="6693093" y="2726154"/>
            <a:chExt cx="3539475" cy="3758008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D2933A1-1ECA-7A88-6B0D-30B9FACC8F3C}"/>
                </a:ext>
              </a:extLst>
            </p:cNvPr>
            <p:cNvSpPr/>
            <p:nvPr/>
          </p:nvSpPr>
          <p:spPr>
            <a:xfrm>
              <a:off x="6693093" y="3024751"/>
              <a:ext cx="3506818" cy="3459411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6350">
              <a:prstDash val="dash"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77F5664E-A7AB-06FF-78F9-4A7236AAB9BA}"/>
                </a:ext>
              </a:extLst>
            </p:cNvPr>
            <p:cNvSpPr txBox="1"/>
            <p:nvPr/>
          </p:nvSpPr>
          <p:spPr>
            <a:xfrm>
              <a:off x="6727672" y="3068295"/>
              <a:ext cx="3504896" cy="32968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场景</a:t>
              </a:r>
              <a:r>
                <a:rPr lang="en-US" altLang="zh-CN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-【</a:t>
              </a: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某账户申请行业媒体包</a:t>
              </a:r>
              <a:r>
                <a:rPr lang="en-US" altLang="zh-CN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】</a:t>
              </a:r>
              <a:endParaRPr lang="en-US" altLang="zh-CN" sz="10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华中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】+【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成都龙擎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】+【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展示广告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】+【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媒体包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】+84xxx192+【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区域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-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商务服务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-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展会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</a:p>
            <a:p>
              <a:pPr>
                <a:lnSpc>
                  <a:spcPct val="150000"/>
                </a:lnSpc>
              </a:pPr>
              <a:endParaRPr lang="en-US" altLang="zh-CN" sz="1000" kern="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b="1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问题描述：</a:t>
              </a:r>
              <a:endParaRPr lang="en-US" altLang="zh-CN" sz="1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老师好，客户：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，投放业务：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XXXX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</a:t>
              </a:r>
              <a:r>
                <a:rPr lang="zh-CN" altLang="en-US" sz="1000" b="0" i="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申请展示全站智选广告</a:t>
              </a:r>
              <a:r>
                <a:rPr lang="en-US" altLang="zh-CN" sz="1000" b="0" i="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OCPC</a:t>
              </a:r>
              <a:r>
                <a:rPr lang="zh-CN" altLang="en-US" sz="1000" b="0" i="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修改绑定：</a:t>
              </a:r>
              <a:r>
                <a:rPr lang="en-US" altLang="zh-CN" sz="1000" b="0" i="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xxx</a:t>
              </a:r>
              <a:r>
                <a:rPr lang="zh-CN" altLang="en-US" sz="1000" b="0" i="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媒体包</a:t>
              </a:r>
              <a:r>
                <a:rPr lang="en-US" altLang="zh-CN" sz="1000" b="0" i="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&amp;xxx</a:t>
              </a:r>
              <a:r>
                <a:rPr lang="zh-CN" altLang="en-US" sz="1000" b="0" i="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包功能，烦请处理，谢谢</a:t>
              </a:r>
              <a:r>
                <a:rPr lang="en-US" altLang="zh-CN" sz="1000" b="0" i="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~</a:t>
              </a: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①账户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id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：</a:t>
              </a: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表格放正文，谢谢</a:t>
              </a: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endPara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4E3524DF-4910-07D1-93AE-A1C4DC641FCE}"/>
                </a:ext>
              </a:extLst>
            </p:cNvPr>
            <p:cNvSpPr/>
            <p:nvPr/>
          </p:nvSpPr>
          <p:spPr>
            <a:xfrm>
              <a:off x="6693093" y="2726154"/>
              <a:ext cx="3519478" cy="357293"/>
            </a:xfrm>
            <a:prstGeom prst="rect">
              <a:avLst/>
            </a:prstGeom>
            <a:solidFill>
              <a:srgbClr val="548B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工单详情</a:t>
              </a:r>
              <a:r>
                <a:rPr lang="en-US" altLang="zh-CN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媒体包</a:t>
              </a: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301423E9-2F41-C93F-6F5D-A085A6B75988}"/>
              </a:ext>
            </a:extLst>
          </p:cNvPr>
          <p:cNvGrpSpPr/>
          <p:nvPr/>
        </p:nvGrpSpPr>
        <p:grpSpPr>
          <a:xfrm>
            <a:off x="4650588" y="2746547"/>
            <a:ext cx="3461336" cy="3758008"/>
            <a:chOff x="6693093" y="2726154"/>
            <a:chExt cx="3539475" cy="3758008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0A8D19E1-4A22-F6EF-7C52-4A3C21BC9FBC}"/>
                </a:ext>
              </a:extLst>
            </p:cNvPr>
            <p:cNvSpPr/>
            <p:nvPr/>
          </p:nvSpPr>
          <p:spPr>
            <a:xfrm>
              <a:off x="6693093" y="3024751"/>
              <a:ext cx="3506818" cy="3459411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6350">
              <a:prstDash val="dash"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 </a:t>
              </a:r>
              <a:endParaRPr lang="zh-CN" altLang="en-US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D119A127-67CA-B103-4FF1-57EB484976EE}"/>
                </a:ext>
              </a:extLst>
            </p:cNvPr>
            <p:cNvSpPr txBox="1"/>
            <p:nvPr/>
          </p:nvSpPr>
          <p:spPr>
            <a:xfrm>
              <a:off x="6727672" y="3068295"/>
              <a:ext cx="3504896" cy="23734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场景</a:t>
              </a:r>
              <a:r>
                <a:rPr lang="en-US" altLang="zh-CN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-【</a:t>
              </a: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访问过行业</a:t>
              </a:r>
              <a:r>
                <a:rPr lang="en-US" altLang="zh-CN" sz="1000" b="1" dirty="0" err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url</a:t>
              </a: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人群</a:t>
              </a:r>
              <a:r>
                <a:rPr lang="en-US" altLang="zh-CN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】</a:t>
              </a:r>
              <a:endParaRPr lang="en-US" altLang="zh-CN" sz="10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华中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成都龙擎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展示广告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en-US" altLang="zh-CN" sz="1000" kern="100" dirty="0" err="1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url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人群包定制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en-US" altLang="zh-CN" sz="1000" b="0" i="0" dirty="0">
                  <a:solidFill>
                    <a:srgbClr val="606266"/>
                  </a:solidFill>
                  <a:effectLst/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84xxx192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+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区域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-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商务服务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-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展会</a:t>
              </a:r>
              <a:r>
                <a:rPr lang="zh-CN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endParaRPr lang="en-US" altLang="zh-CN" sz="1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endParaRPr lang="en-US" altLang="zh-CN" sz="1000" kern="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b="1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问题描述：</a:t>
              </a:r>
              <a:endParaRPr lang="en-US" altLang="zh-CN" sz="1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老师好，客户：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，投放业务：</a:t>
              </a:r>
              <a:r>
                <a:rPr lang="en-US" altLang="zh-CN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XXXX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，申请行业</a:t>
              </a:r>
              <a:r>
                <a:rPr lang="en-US" altLang="zh-CN" sz="1000" kern="100" dirty="0" err="1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url</a:t>
              </a: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人群包，烦请处理，谢谢</a:t>
              </a: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表格放正文，谢谢</a:t>
              </a: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471B56CF-0675-E346-CD9E-55A003027AEE}"/>
                </a:ext>
              </a:extLst>
            </p:cNvPr>
            <p:cNvSpPr/>
            <p:nvPr/>
          </p:nvSpPr>
          <p:spPr>
            <a:xfrm>
              <a:off x="6693093" y="2726154"/>
              <a:ext cx="3519478" cy="357293"/>
            </a:xfrm>
            <a:prstGeom prst="rect">
              <a:avLst/>
            </a:prstGeom>
            <a:solidFill>
              <a:srgbClr val="548B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工单详情</a:t>
              </a:r>
              <a:r>
                <a:rPr lang="en-US" altLang="zh-CN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人群包定制</a:t>
              </a:r>
            </a:p>
          </p:txBody>
        </p:sp>
      </p:grpSp>
      <p:graphicFrame>
        <p:nvGraphicFramePr>
          <p:cNvPr id="32" name="表格 31">
            <a:extLst>
              <a:ext uri="{FF2B5EF4-FFF2-40B4-BE49-F238E27FC236}">
                <a16:creationId xmlns:a16="http://schemas.microsoft.com/office/drawing/2014/main" id="{86584B06-6569-589A-A6E6-F74DE6C3A7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655382"/>
              </p:ext>
            </p:extLst>
          </p:nvPr>
        </p:nvGraphicFramePr>
        <p:xfrm>
          <a:off x="621254" y="4908096"/>
          <a:ext cx="3817905" cy="14444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5881">
                  <a:extLst>
                    <a:ext uri="{9D8B030D-6E8A-4147-A177-3AD203B41FA5}">
                      <a16:colId xmlns:a16="http://schemas.microsoft.com/office/drawing/2014/main" val="3713122194"/>
                    </a:ext>
                  </a:extLst>
                </a:gridCol>
                <a:gridCol w="533461">
                  <a:extLst>
                    <a:ext uri="{9D8B030D-6E8A-4147-A177-3AD203B41FA5}">
                      <a16:colId xmlns:a16="http://schemas.microsoft.com/office/drawing/2014/main" val="2488810781"/>
                    </a:ext>
                  </a:extLst>
                </a:gridCol>
                <a:gridCol w="1453942">
                  <a:extLst>
                    <a:ext uri="{9D8B030D-6E8A-4147-A177-3AD203B41FA5}">
                      <a16:colId xmlns:a16="http://schemas.microsoft.com/office/drawing/2014/main" val="3659700265"/>
                    </a:ext>
                  </a:extLst>
                </a:gridCol>
                <a:gridCol w="1014621">
                  <a:extLst>
                    <a:ext uri="{9D8B030D-6E8A-4147-A177-3AD203B41FA5}">
                      <a16:colId xmlns:a16="http://schemas.microsoft.com/office/drawing/2014/main" val="2687060032"/>
                    </a:ext>
                  </a:extLst>
                </a:gridCol>
              </a:tblGrid>
              <a:tr h="27350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老户</a:t>
                      </a:r>
                      <a:r>
                        <a:rPr 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人群</a:t>
                      </a:r>
                      <a:r>
                        <a:rPr 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人群名称</a:t>
                      </a:r>
                      <a:endParaRPr lang="zh-CN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新户</a:t>
                      </a:r>
                      <a:r>
                        <a:rPr 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208981"/>
                  </a:ext>
                </a:extLst>
              </a:tr>
              <a:tr h="184150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3XXXXX25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XXXXX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XXXXX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bg2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3SSSSS4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405935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DDDD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DDDD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bg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8684503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GGGGGG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GGGGGG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bg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4731801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YYYYYYY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YYYYYYY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bg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4203896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UUUUUU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UUUUUU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bg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961784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MMMMMM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MMMMMM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bg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122741"/>
                  </a:ext>
                </a:extLst>
              </a:tr>
            </a:tbl>
          </a:graphicData>
        </a:graphic>
      </p:graphicFrame>
      <p:graphicFrame>
        <p:nvGraphicFramePr>
          <p:cNvPr id="33" name="表格 32">
            <a:extLst>
              <a:ext uri="{FF2B5EF4-FFF2-40B4-BE49-F238E27FC236}">
                <a16:creationId xmlns:a16="http://schemas.microsoft.com/office/drawing/2014/main" id="{8C6FE207-8F1E-7737-AA1D-2F0443CFAA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6380145"/>
              </p:ext>
            </p:extLst>
          </p:nvPr>
        </p:nvGraphicFramePr>
        <p:xfrm>
          <a:off x="8336977" y="5502283"/>
          <a:ext cx="3136483" cy="6463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8166">
                  <a:extLst>
                    <a:ext uri="{9D8B030D-6E8A-4147-A177-3AD203B41FA5}">
                      <a16:colId xmlns:a16="http://schemas.microsoft.com/office/drawing/2014/main" val="126623758"/>
                    </a:ext>
                  </a:extLst>
                </a:gridCol>
                <a:gridCol w="1078166">
                  <a:extLst>
                    <a:ext uri="{9D8B030D-6E8A-4147-A177-3AD203B41FA5}">
                      <a16:colId xmlns:a16="http://schemas.microsoft.com/office/drawing/2014/main" val="3056415851"/>
                    </a:ext>
                  </a:extLst>
                </a:gridCol>
                <a:gridCol w="980151">
                  <a:extLst>
                    <a:ext uri="{9D8B030D-6E8A-4147-A177-3AD203B41FA5}">
                      <a16:colId xmlns:a16="http://schemas.microsoft.com/office/drawing/2014/main" val="3308572450"/>
                    </a:ext>
                  </a:extLst>
                </a:gridCol>
              </a:tblGrid>
              <a:tr h="27803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计划</a:t>
                      </a:r>
                      <a:r>
                        <a:rPr lang="en-US" sz="9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</a:t>
                      </a:r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媒体包名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787847"/>
                  </a:ext>
                </a:extLst>
              </a:tr>
              <a:tr h="18415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4367162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33907640</a:t>
                      </a:r>
                      <a:endParaRPr lang="en-US" altLang="zh-CN" sz="900" b="0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XXXX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0056811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33907628</a:t>
                      </a:r>
                      <a:endParaRPr lang="en-US" altLang="zh-CN" sz="900" b="0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095343"/>
                  </a:ext>
                </a:extLst>
              </a:tr>
            </a:tbl>
          </a:graphicData>
        </a:graphic>
      </p:graphicFrame>
      <p:graphicFrame>
        <p:nvGraphicFramePr>
          <p:cNvPr id="34" name="表格 33">
            <a:extLst>
              <a:ext uri="{FF2B5EF4-FFF2-40B4-BE49-F238E27FC236}">
                <a16:creationId xmlns:a16="http://schemas.microsoft.com/office/drawing/2014/main" id="{4478D92C-1694-AEB0-B598-302A1AA0B1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5579854"/>
              </p:ext>
            </p:extLst>
          </p:nvPr>
        </p:nvGraphicFramePr>
        <p:xfrm>
          <a:off x="4778820" y="5281322"/>
          <a:ext cx="3221870" cy="9002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4926">
                  <a:extLst>
                    <a:ext uri="{9D8B030D-6E8A-4147-A177-3AD203B41FA5}">
                      <a16:colId xmlns:a16="http://schemas.microsoft.com/office/drawing/2014/main" val="20450162"/>
                    </a:ext>
                  </a:extLst>
                </a:gridCol>
                <a:gridCol w="483583">
                  <a:extLst>
                    <a:ext uri="{9D8B030D-6E8A-4147-A177-3AD203B41FA5}">
                      <a16:colId xmlns:a16="http://schemas.microsoft.com/office/drawing/2014/main" val="2217840295"/>
                    </a:ext>
                  </a:extLst>
                </a:gridCol>
                <a:gridCol w="649814">
                  <a:extLst>
                    <a:ext uri="{9D8B030D-6E8A-4147-A177-3AD203B41FA5}">
                      <a16:colId xmlns:a16="http://schemas.microsoft.com/office/drawing/2014/main" val="979445122"/>
                    </a:ext>
                  </a:extLst>
                </a:gridCol>
                <a:gridCol w="683061">
                  <a:extLst>
                    <a:ext uri="{9D8B030D-6E8A-4147-A177-3AD203B41FA5}">
                      <a16:colId xmlns:a16="http://schemas.microsoft.com/office/drawing/2014/main" val="3257648524"/>
                    </a:ext>
                  </a:extLst>
                </a:gridCol>
                <a:gridCol w="380821">
                  <a:extLst>
                    <a:ext uri="{9D8B030D-6E8A-4147-A177-3AD203B41FA5}">
                      <a16:colId xmlns:a16="http://schemas.microsoft.com/office/drawing/2014/main" val="229416224"/>
                    </a:ext>
                  </a:extLst>
                </a:gridCol>
                <a:gridCol w="359665">
                  <a:extLst>
                    <a:ext uri="{9D8B030D-6E8A-4147-A177-3AD203B41FA5}">
                      <a16:colId xmlns:a16="http://schemas.microsoft.com/office/drawing/2014/main" val="1465929502"/>
                    </a:ext>
                  </a:extLst>
                </a:gridCol>
              </a:tblGrid>
              <a:tr h="263999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高级定制人群申请表（</a:t>
                      </a:r>
                      <a:r>
                        <a:rPr lang="en-US" altLang="zh-CN" sz="9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pc</a:t>
                      </a:r>
                      <a:r>
                        <a:rPr lang="zh-CN" altLang="en-US" sz="9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354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申请客户公司名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申请账户名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命名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申请账户</a:t>
                      </a:r>
                      <a:r>
                        <a:rPr lang="en-US" sz="9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所需</a:t>
                      </a:r>
                      <a:r>
                        <a:rPr lang="en-US" sz="900" b="1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url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所需访问时长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6374941"/>
                  </a:ext>
                </a:extLst>
              </a:tr>
              <a:tr h="1778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XXXX</a:t>
                      </a:r>
                      <a:r>
                        <a:rPr lang="zh-CN" alt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公司</a:t>
                      </a:r>
                      <a:endParaRPr lang="zh-CN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u="sng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xmlns="" val="tx"/>
                              </a:ext>
                            </a:extLst>
                          </a:hlinkClick>
                        </a:rPr>
                        <a:t>31XXX@qq.com</a:t>
                      </a:r>
                      <a:endParaRPr lang="en-US" sz="900" b="0" i="0" u="sng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XXXURL</a:t>
                      </a:r>
                      <a:r>
                        <a:rPr lang="zh-CN" alt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人群包</a:t>
                      </a:r>
                      <a:endParaRPr lang="zh-CN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3WWWWW82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url1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30/60/90</a:t>
                      </a:r>
                      <a:r>
                        <a:rPr lang="zh-CN" alt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天</a:t>
                      </a:r>
                      <a:endParaRPr lang="zh-CN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179632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url2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9310222"/>
                  </a:ext>
                </a:extLst>
              </a:tr>
            </a:tbl>
          </a:graphicData>
        </a:graphic>
      </p:graphicFrame>
      <p:sp>
        <p:nvSpPr>
          <p:cNvPr id="4" name="灯片编号占位符 7">
            <a:extLst>
              <a:ext uri="{FF2B5EF4-FFF2-40B4-BE49-F238E27FC236}">
                <a16:creationId xmlns:a16="http://schemas.microsoft.com/office/drawing/2014/main" id="{12321F4D-26DC-34DD-6836-B59EDA0F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668" y="362643"/>
            <a:ext cx="612347" cy="33855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>
              <a:defRPr lang="en-US" altLang="zh-CN" sz="3400" smtClean="0">
                <a:solidFill>
                  <a:schemeClr val="tx2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r>
              <a:rPr lang="en-US" altLang="zh-CN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198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1522721" y="407271"/>
            <a:ext cx="8166563" cy="249299"/>
          </a:xfrm>
        </p:spPr>
        <p:txBody>
          <a:bodyPr/>
          <a:lstStyle/>
          <a:p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Poppins Light"/>
              </a:rPr>
              <a:t>展示常规支持</a:t>
            </a:r>
            <a:r>
              <a:rPr kumimoji="1" lang="en-US" altLang="zh-CN" dirty="0"/>
              <a:t>—</a:t>
            </a:r>
            <a:r>
              <a:rPr kumimoji="1" lang="zh-CN" altLang="en-US" sz="1400" dirty="0"/>
              <a:t>模型复制</a:t>
            </a:r>
            <a:r>
              <a:rPr kumimoji="1" lang="en-US" altLang="zh-CN" sz="1400" dirty="0"/>
              <a:t>/</a:t>
            </a:r>
            <a:r>
              <a:rPr kumimoji="1" lang="en-US" altLang="zh-CN" sz="1400" dirty="0" err="1"/>
              <a:t>oCPX</a:t>
            </a:r>
            <a:r>
              <a:rPr kumimoji="1" lang="zh-CN" altLang="en-US" sz="1400" dirty="0"/>
              <a:t>数据清洗</a:t>
            </a:r>
            <a:endParaRPr kumimoji="1" lang="zh-CN" altLang="en-US" sz="14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B7A8C93-2F1C-D9BA-FE53-6F237D624291}"/>
              </a:ext>
            </a:extLst>
          </p:cNvPr>
          <p:cNvSpPr txBox="1"/>
          <p:nvPr/>
        </p:nvSpPr>
        <p:spPr>
          <a:xfrm>
            <a:off x="542665" y="1272359"/>
            <a:ext cx="1110474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工单分类：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需求支持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展示广告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投放问题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工单主题：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区域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【代理商】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展示广告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模型复制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200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ocpx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数据清洗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账户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ID+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一级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二级行业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示例：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华中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成都龙擎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展示广告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】+【</a:t>
            </a:r>
            <a:r>
              <a:rPr lang="en-US" altLang="zh-CN" sz="1200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ocpx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数据清洗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】+</a:t>
            </a:r>
            <a:r>
              <a:rPr lang="en-US" altLang="zh-CN" sz="1200" b="0" i="0" dirty="0">
                <a:solidFill>
                  <a:srgbClr val="6062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84xxx192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一级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二级行业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华中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成都龙擎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展示广告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】+【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模型复制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】+</a:t>
            </a:r>
            <a:r>
              <a:rPr lang="en-US" altLang="zh-CN" sz="1200" b="0" i="0" dirty="0">
                <a:solidFill>
                  <a:srgbClr val="6062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84xxx192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一级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二级行业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A0C02641-B501-D4CF-00C6-B32E15F4664C}"/>
              </a:ext>
            </a:extLst>
          </p:cNvPr>
          <p:cNvGrpSpPr/>
          <p:nvPr/>
        </p:nvGrpSpPr>
        <p:grpSpPr>
          <a:xfrm>
            <a:off x="515232" y="2728968"/>
            <a:ext cx="5096214" cy="3758008"/>
            <a:chOff x="6693093" y="2726154"/>
            <a:chExt cx="3539475" cy="3758008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841A689-3ACC-FE9D-D78B-367B8612841D}"/>
                </a:ext>
              </a:extLst>
            </p:cNvPr>
            <p:cNvSpPr/>
            <p:nvPr/>
          </p:nvSpPr>
          <p:spPr>
            <a:xfrm>
              <a:off x="6693093" y="3024751"/>
              <a:ext cx="3506818" cy="3459411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6350">
              <a:prstDash val="dash"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CB4FC86-5CD9-5D82-9C24-2DED144C7015}"/>
                </a:ext>
              </a:extLst>
            </p:cNvPr>
            <p:cNvSpPr txBox="1"/>
            <p:nvPr/>
          </p:nvSpPr>
          <p:spPr>
            <a:xfrm>
              <a:off x="6727672" y="3068295"/>
              <a:ext cx="3504896" cy="14501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场景</a:t>
              </a:r>
              <a:r>
                <a:rPr lang="en-US" altLang="zh-CN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-【</a:t>
              </a: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帮助新账号冷启动</a:t>
              </a:r>
              <a:r>
                <a:rPr lang="en-US" altLang="zh-CN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】</a:t>
              </a:r>
              <a:endParaRPr lang="en-US" altLang="zh-CN" sz="10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华中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】+【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成都龙擎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】+【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展示广告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】+【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模型复制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】+84xxx192+【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区域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-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商务服务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-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展会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endParaRPr lang="en-US" altLang="zh-CN" sz="1000" kern="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b="1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问题描述：</a:t>
              </a:r>
              <a:endParaRPr lang="en-US" altLang="zh-CN" sz="1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老师好，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如下账户申请展示模型复制，确认同主体，烦请处理，谢谢</a:t>
              </a: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0BE0143A-F552-A88E-4AD6-9AFB7AEFF939}"/>
                </a:ext>
              </a:extLst>
            </p:cNvPr>
            <p:cNvSpPr/>
            <p:nvPr/>
          </p:nvSpPr>
          <p:spPr>
            <a:xfrm>
              <a:off x="6693093" y="2726154"/>
              <a:ext cx="3519478" cy="357293"/>
            </a:xfrm>
            <a:prstGeom prst="rect">
              <a:avLst/>
            </a:prstGeom>
            <a:solidFill>
              <a:srgbClr val="538C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工单详情</a:t>
              </a:r>
              <a:r>
                <a:rPr lang="en-US" altLang="zh-CN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模型复制</a:t>
              </a:r>
            </a:p>
          </p:txBody>
        </p:sp>
      </p:grp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1328C2E9-7D32-1CA8-75A4-D277F2D2E8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066089"/>
              </p:ext>
            </p:extLst>
          </p:nvPr>
        </p:nvGraphicFramePr>
        <p:xfrm>
          <a:off x="1385550" y="4259198"/>
          <a:ext cx="4101696" cy="6188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1167">
                  <a:extLst>
                    <a:ext uri="{9D8B030D-6E8A-4147-A177-3AD203B41FA5}">
                      <a16:colId xmlns:a16="http://schemas.microsoft.com/office/drawing/2014/main" val="3683839588"/>
                    </a:ext>
                  </a:extLst>
                </a:gridCol>
                <a:gridCol w="581167">
                  <a:extLst>
                    <a:ext uri="{9D8B030D-6E8A-4147-A177-3AD203B41FA5}">
                      <a16:colId xmlns:a16="http://schemas.microsoft.com/office/drawing/2014/main" val="698792630"/>
                    </a:ext>
                  </a:extLst>
                </a:gridCol>
                <a:gridCol w="581167">
                  <a:extLst>
                    <a:ext uri="{9D8B030D-6E8A-4147-A177-3AD203B41FA5}">
                      <a16:colId xmlns:a16="http://schemas.microsoft.com/office/drawing/2014/main" val="2735939844"/>
                    </a:ext>
                  </a:extLst>
                </a:gridCol>
                <a:gridCol w="581167">
                  <a:extLst>
                    <a:ext uri="{9D8B030D-6E8A-4147-A177-3AD203B41FA5}">
                      <a16:colId xmlns:a16="http://schemas.microsoft.com/office/drawing/2014/main" val="680880478"/>
                    </a:ext>
                  </a:extLst>
                </a:gridCol>
                <a:gridCol w="903683">
                  <a:extLst>
                    <a:ext uri="{9D8B030D-6E8A-4147-A177-3AD203B41FA5}">
                      <a16:colId xmlns:a16="http://schemas.microsoft.com/office/drawing/2014/main" val="1623938717"/>
                    </a:ext>
                  </a:extLst>
                </a:gridCol>
                <a:gridCol w="873345">
                  <a:extLst>
                    <a:ext uri="{9D8B030D-6E8A-4147-A177-3AD203B41FA5}">
                      <a16:colId xmlns:a16="http://schemas.microsoft.com/office/drawing/2014/main" val="2077169076"/>
                    </a:ext>
                  </a:extLst>
                </a:gridCol>
              </a:tblGrid>
              <a:tr h="309437">
                <a:tc>
                  <a:txBody>
                    <a:bodyPr/>
                    <a:lstStyle/>
                    <a:p>
                      <a:pPr algn="l" fontAlgn="ctr"/>
                      <a:r>
                        <a:rPr lang="zh-CN" sz="9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公司主体</a:t>
                      </a:r>
                      <a:endParaRPr lang="zh-CN" sz="9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sz="9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一级行业</a:t>
                      </a:r>
                      <a:endParaRPr lang="zh-CN" sz="9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sz="9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二级行业</a:t>
                      </a:r>
                      <a:endParaRPr lang="zh-CN" sz="9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sz="900" b="1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旧账号</a:t>
                      </a:r>
                      <a:endParaRPr lang="zh-CN" sz="900" b="1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sz="9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需复制到的新账号</a:t>
                      </a:r>
                      <a:endParaRPr lang="zh-CN" sz="9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sz="9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投放业务</a:t>
                      </a:r>
                      <a:endParaRPr lang="zh-CN" sz="9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648155"/>
                  </a:ext>
                </a:extLst>
              </a:tr>
              <a:tr h="309437">
                <a:tc>
                  <a:txBody>
                    <a:bodyPr/>
                    <a:lstStyle/>
                    <a:p>
                      <a:pPr algn="l" fontAlgn="ctr"/>
                      <a:r>
                        <a:rPr lang="zh-CN" sz="900" u="none" strike="noStrike" dirty="0">
                          <a:effectLst/>
                        </a:rPr>
                        <a:t>　</a:t>
                      </a:r>
                      <a:endParaRPr 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sz="900" u="none" strike="noStrike" dirty="0">
                          <a:effectLst/>
                        </a:rPr>
                        <a:t>　</a:t>
                      </a:r>
                      <a:endParaRPr 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sz="900" u="none" strike="noStrike" dirty="0">
                          <a:effectLst/>
                        </a:rPr>
                        <a:t>　</a:t>
                      </a:r>
                      <a:endParaRPr 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sz="900" u="none" strike="noStrike" dirty="0">
                          <a:effectLst/>
                        </a:rPr>
                        <a:t>　</a:t>
                      </a:r>
                      <a:endParaRPr 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sz="900" u="none" strike="noStrike" dirty="0">
                          <a:effectLst/>
                        </a:rPr>
                        <a:t>　</a:t>
                      </a:r>
                      <a:endParaRPr 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sz="900" u="none" strike="noStrike" dirty="0">
                          <a:effectLst/>
                        </a:rPr>
                        <a:t>　</a:t>
                      </a:r>
                      <a:endParaRPr 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0744179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D85E9EB3-7C69-F745-1EF0-2AE6C36A0813}"/>
              </a:ext>
            </a:extLst>
          </p:cNvPr>
          <p:cNvSpPr txBox="1"/>
          <p:nvPr/>
        </p:nvSpPr>
        <p:spPr>
          <a:xfrm>
            <a:off x="530545" y="4923226"/>
            <a:ext cx="5121881" cy="1782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750"/>
              </a:spcBef>
            </a:pPr>
            <a:r>
              <a:rPr lang="zh-CN" altLang="en-US" sz="900" b="1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模型复制要求：</a:t>
            </a:r>
            <a:endParaRPr lang="en-US" altLang="zh-CN" sz="900" b="1" dirty="0">
              <a:solidFill>
                <a:srgbClr val="000000"/>
              </a:solidFill>
              <a:effectLst/>
              <a:latin typeface="等线" panose="02010600030101010101" pitchFamily="2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algn="l">
              <a:spcBef>
                <a:spcPts val="750"/>
              </a:spcBef>
            </a:pPr>
            <a:r>
              <a:rPr lang="zh-CN" altLang="zh-CN" sz="9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①模型复制仅支持旧账号模型复制给全新账号（非常重要），</a:t>
            </a:r>
            <a:endParaRPr lang="en-US" altLang="zh-CN" sz="900" dirty="0">
              <a:solidFill>
                <a:srgbClr val="000000"/>
              </a:solidFill>
              <a:effectLst/>
              <a:latin typeface="等线" panose="02010600030101010101" pitchFamily="2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algn="l">
              <a:spcBef>
                <a:spcPts val="750"/>
              </a:spcBef>
            </a:pPr>
            <a:r>
              <a:rPr lang="zh-CN" altLang="zh-CN" sz="9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且新旧账号必须投放业务</a:t>
            </a:r>
            <a:r>
              <a:rPr lang="en-US" altLang="zh-CN" sz="9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/</a:t>
            </a:r>
            <a:r>
              <a:rPr lang="zh-CN" altLang="zh-CN" sz="9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产品一致，投放资源一致。出价接近；</a:t>
            </a:r>
            <a:endParaRPr lang="zh-CN" altLang="zh-CN" sz="900" dirty="0">
              <a:effectLst/>
              <a:latin typeface="等线" panose="02010600030101010101" pitchFamily="2" charset="-122"/>
              <a:ea typeface="等线" panose="02010600030101010101" pitchFamily="2" charset="-122"/>
              <a:cs typeface="宋体" panose="02010600030101010101" pitchFamily="2" charset="-122"/>
            </a:endParaRPr>
          </a:p>
          <a:p>
            <a:pPr algn="l">
              <a:spcBef>
                <a:spcPts val="750"/>
              </a:spcBef>
            </a:pPr>
            <a:r>
              <a:rPr lang="zh-CN" altLang="zh-CN" sz="9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②模型复制仅用于帮助新账号冷启动，一周后将使用新自己账号的模型。</a:t>
            </a:r>
            <a:endParaRPr lang="zh-CN" altLang="zh-CN" sz="900" dirty="0">
              <a:effectLst/>
              <a:latin typeface="等线" panose="02010600030101010101" pitchFamily="2" charset="-122"/>
              <a:ea typeface="等线" panose="02010600030101010101" pitchFamily="2" charset="-122"/>
              <a:cs typeface="宋体" panose="02010600030101010101" pitchFamily="2" charset="-122"/>
            </a:endParaRPr>
          </a:p>
          <a:p>
            <a:pPr algn="l">
              <a:spcBef>
                <a:spcPts val="750"/>
              </a:spcBef>
            </a:pPr>
            <a:r>
              <a:rPr lang="zh-CN" altLang="zh-CN" sz="9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③模型复制</a:t>
            </a:r>
            <a:r>
              <a:rPr lang="en-US" altLang="zh-CN" sz="9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T+2</a:t>
            </a:r>
            <a:r>
              <a:rPr lang="zh-CN" altLang="zh-CN" sz="9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生效。需提前</a:t>
            </a:r>
            <a:r>
              <a:rPr lang="en-US" altLang="zh-CN" sz="9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2</a:t>
            </a:r>
            <a:r>
              <a:rPr lang="zh-CN" altLang="zh-CN" sz="9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天完成充值，创建</a:t>
            </a:r>
            <a:r>
              <a:rPr lang="zh-CN" altLang="en-US" sz="9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投放</a:t>
            </a:r>
            <a:r>
              <a:rPr lang="zh-CN" altLang="zh-CN" sz="9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，完成模型复制，第</a:t>
            </a:r>
            <a:r>
              <a:rPr lang="en-US" altLang="zh-CN" sz="9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3</a:t>
            </a:r>
            <a:r>
              <a:rPr lang="zh-CN" altLang="zh-CN" sz="9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天生效</a:t>
            </a:r>
            <a:r>
              <a:rPr lang="zh-CN" altLang="en-US" sz="9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；</a:t>
            </a:r>
            <a:endParaRPr lang="zh-CN" altLang="zh-CN" sz="900" dirty="0">
              <a:effectLst/>
              <a:latin typeface="等线" panose="02010600030101010101" pitchFamily="2" charset="-122"/>
              <a:ea typeface="等线" panose="02010600030101010101" pitchFamily="2" charset="-122"/>
              <a:cs typeface="宋体" panose="02010600030101010101" pitchFamily="2" charset="-122"/>
            </a:endParaRPr>
          </a:p>
          <a:p>
            <a:pPr algn="l">
              <a:spcBef>
                <a:spcPts val="750"/>
              </a:spcBef>
            </a:pPr>
            <a:r>
              <a:rPr lang="zh-CN" altLang="zh-CN" sz="9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④时效说明：</a:t>
            </a:r>
            <a:r>
              <a:rPr lang="en-US" altLang="zh-CN" sz="9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1</a:t>
            </a:r>
            <a:r>
              <a:rPr lang="zh-CN" altLang="zh-CN" sz="9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号添加，</a:t>
            </a:r>
            <a:r>
              <a:rPr lang="en-US" altLang="zh-CN" sz="9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2</a:t>
            </a:r>
            <a:r>
              <a:rPr lang="zh-CN" altLang="zh-CN" sz="9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号完成模型复制，</a:t>
            </a:r>
            <a:r>
              <a:rPr lang="en-US" altLang="zh-CN" sz="9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3</a:t>
            </a:r>
            <a:r>
              <a:rPr lang="zh-CN" altLang="zh-CN" sz="9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号起旧账号模型开始生效，直至</a:t>
            </a:r>
            <a:r>
              <a:rPr lang="en-US" altLang="zh-CN" sz="9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7</a:t>
            </a:r>
            <a:r>
              <a:rPr lang="zh-CN" altLang="zh-CN" sz="9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号</a:t>
            </a:r>
            <a:r>
              <a:rPr lang="en-US" altLang="zh-CN" sz="9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24</a:t>
            </a:r>
            <a:r>
              <a:rPr lang="zh-CN" altLang="zh-CN" sz="9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点（即</a:t>
            </a:r>
            <a:r>
              <a:rPr lang="en-US" altLang="zh-CN" sz="9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8</a:t>
            </a:r>
            <a:r>
              <a:rPr lang="zh-CN" altLang="zh-CN" sz="9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号</a:t>
            </a:r>
            <a:r>
              <a:rPr lang="en-US" altLang="zh-CN" sz="9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0</a:t>
            </a:r>
            <a:r>
              <a:rPr lang="zh-CN" altLang="zh-CN" sz="9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点）失效，</a:t>
            </a:r>
            <a:r>
              <a:rPr lang="en-US" altLang="zh-CN" sz="9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8</a:t>
            </a:r>
            <a:r>
              <a:rPr lang="zh-CN" altLang="zh-CN" sz="9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号起使用新账号自己的模型。</a:t>
            </a:r>
            <a:endParaRPr lang="zh-CN" altLang="zh-CN" sz="900" dirty="0">
              <a:effectLst/>
              <a:latin typeface="等线" panose="02010600030101010101" pitchFamily="2" charset="-122"/>
              <a:ea typeface="等线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7BE4C2FD-3482-94D7-713F-D32AAEBCDDC8}"/>
              </a:ext>
            </a:extLst>
          </p:cNvPr>
          <p:cNvGrpSpPr/>
          <p:nvPr/>
        </p:nvGrpSpPr>
        <p:grpSpPr>
          <a:xfrm>
            <a:off x="5702214" y="2726154"/>
            <a:ext cx="5988744" cy="3758008"/>
            <a:chOff x="6693093" y="2726154"/>
            <a:chExt cx="3539475" cy="3758008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B3A595DC-93B9-060D-C2FB-B152A29AF9BE}"/>
                </a:ext>
              </a:extLst>
            </p:cNvPr>
            <p:cNvSpPr/>
            <p:nvPr/>
          </p:nvSpPr>
          <p:spPr>
            <a:xfrm>
              <a:off x="6693093" y="3024751"/>
              <a:ext cx="3506818" cy="3459411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 w="6350">
              <a:prstDash val="dash"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265CB69F-24AE-62A1-AD0C-176AC142D159}"/>
                </a:ext>
              </a:extLst>
            </p:cNvPr>
            <p:cNvSpPr txBox="1"/>
            <p:nvPr/>
          </p:nvSpPr>
          <p:spPr>
            <a:xfrm>
              <a:off x="6727672" y="3068295"/>
              <a:ext cx="3504896" cy="30931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场景</a:t>
              </a:r>
              <a:r>
                <a:rPr lang="en-US" altLang="zh-CN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-【</a:t>
              </a:r>
              <a:r>
                <a:rPr lang="en-US" altLang="zh-CN" sz="1000" b="1" dirty="0" err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oCPX</a:t>
              </a:r>
              <a:r>
                <a:rPr lang="zh-CN" altLang="en-US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数据清洗</a:t>
              </a:r>
              <a:r>
                <a:rPr lang="en-US" altLang="zh-CN" sz="1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】</a:t>
              </a:r>
              <a:endParaRPr lang="en-US" altLang="zh-CN" sz="10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【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华中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】+【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成都龙擎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】+【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展示广告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】+【</a:t>
              </a:r>
              <a:r>
                <a:rPr lang="en-US" altLang="zh-CN" sz="1000" b="0" i="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1000" b="0" i="0" dirty="0" err="1"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oCPX</a:t>
              </a:r>
              <a:r>
                <a:rPr lang="zh-CN" altLang="en-US" sz="1000" b="0" i="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数据清洗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】+84xxx192+【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区域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-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商务服务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-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展会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】</a:t>
              </a:r>
              <a:endParaRPr lang="en-US" altLang="zh-CN" sz="1000" kern="1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b="1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问题描述：</a:t>
              </a:r>
              <a:endParaRPr lang="en-US" altLang="zh-CN" sz="10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老师好，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如下账户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计划</a:t>
              </a:r>
              <a:r>
                <a:rPr lang="en-US" altLang="zh-CN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)</a:t>
              </a:r>
              <a:r>
                <a:rPr lang="zh-CN" altLang="en-US" sz="1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申请展示模型清洗，烦请处理，谢谢</a:t>
              </a:r>
              <a:r>
                <a:rPr lang="en-US" altLang="zh-CN" sz="1000" b="1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</a:t>
              </a:r>
              <a:r>
                <a:rPr lang="zh-CN" altLang="en-US" sz="1000" b="1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展示可对计划层级模型清洗</a:t>
              </a:r>
              <a:r>
                <a:rPr lang="en-US" altLang="zh-CN" sz="1000" b="1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)</a:t>
              </a:r>
            </a:p>
            <a:p>
              <a:pPr>
                <a:lnSpc>
                  <a:spcPct val="150000"/>
                </a:lnSpc>
              </a:pPr>
              <a:endPara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endPara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endPara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endParaRPr lang="en-US" altLang="zh-CN" sz="1000" kern="1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endParaRPr lang="en-US" altLang="zh-CN" sz="1000" b="0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endParaRPr lang="en-US" altLang="zh-CN" sz="1000" b="0" i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en-US" altLang="zh-CN" sz="1000" b="0" i="0" dirty="0" err="1">
                  <a:solidFill>
                    <a:srgbClr val="FF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ps</a:t>
              </a:r>
              <a:r>
                <a:rPr lang="zh-CN" altLang="en-US" sz="1000" b="0" i="0" dirty="0">
                  <a:solidFill>
                    <a:srgbClr val="FF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：涉及数据清洗，</a:t>
              </a:r>
              <a:r>
                <a:rPr lang="zh-CN" altLang="en-US" sz="1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操作次日，如涉及</a:t>
              </a:r>
              <a:r>
                <a:rPr lang="en-US" altLang="zh-CN" sz="1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S2</a:t>
              </a:r>
              <a:r>
                <a:rPr lang="zh-CN" altLang="en-US" sz="1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超成本</a:t>
              </a:r>
              <a:r>
                <a:rPr lang="zh-CN" altLang="en-US" sz="1000" b="0" i="0" dirty="0">
                  <a:solidFill>
                    <a:srgbClr val="FF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不赔付</a:t>
              </a:r>
              <a:endParaRPr lang="en-US" altLang="zh-CN" sz="10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endParaRPr lang="en-US" altLang="zh-CN" sz="1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endParaRPr lang="en-US" altLang="zh-CN" sz="10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B9F8C68D-67E9-ABB8-903A-30ABA208B508}"/>
                </a:ext>
              </a:extLst>
            </p:cNvPr>
            <p:cNvSpPr/>
            <p:nvPr/>
          </p:nvSpPr>
          <p:spPr>
            <a:xfrm>
              <a:off x="6693093" y="2726154"/>
              <a:ext cx="3519478" cy="357293"/>
            </a:xfrm>
            <a:prstGeom prst="rect">
              <a:avLst/>
            </a:prstGeom>
            <a:solidFill>
              <a:srgbClr val="538C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工单详情</a:t>
              </a:r>
              <a:r>
                <a:rPr lang="en-US" altLang="zh-CN" sz="1200" b="1" dirty="0">
                  <a:solidFill>
                    <a:schemeClr val="bg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en-US" altLang="zh-CN" sz="1200" b="1" i="0" dirty="0">
                  <a:solidFill>
                    <a:schemeClr val="bg2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1200" b="1" i="0" dirty="0" err="1">
                  <a:solidFill>
                    <a:schemeClr val="bg2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oCPX</a:t>
              </a:r>
              <a:r>
                <a:rPr lang="zh-CN" altLang="en-US" sz="1200" b="1" i="0" dirty="0">
                  <a:solidFill>
                    <a:schemeClr val="bg2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数据清洗</a:t>
              </a:r>
              <a:endParaRPr lang="zh-CN" altLang="en-US" sz="12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8B491068-B198-176D-B596-1D32B7BE37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9906055"/>
              </p:ext>
            </p:extLst>
          </p:nvPr>
        </p:nvGraphicFramePr>
        <p:xfrm>
          <a:off x="5938566" y="4721557"/>
          <a:ext cx="5590719" cy="45693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63573">
                  <a:extLst>
                    <a:ext uri="{9D8B030D-6E8A-4147-A177-3AD203B41FA5}">
                      <a16:colId xmlns:a16="http://schemas.microsoft.com/office/drawing/2014/main" val="3084874946"/>
                    </a:ext>
                  </a:extLst>
                </a:gridCol>
                <a:gridCol w="1863573">
                  <a:extLst>
                    <a:ext uri="{9D8B030D-6E8A-4147-A177-3AD203B41FA5}">
                      <a16:colId xmlns:a16="http://schemas.microsoft.com/office/drawing/2014/main" val="2247481805"/>
                    </a:ext>
                  </a:extLst>
                </a:gridCol>
                <a:gridCol w="1863573">
                  <a:extLst>
                    <a:ext uri="{9D8B030D-6E8A-4147-A177-3AD203B41FA5}">
                      <a16:colId xmlns:a16="http://schemas.microsoft.com/office/drawing/2014/main" val="769657724"/>
                    </a:ext>
                  </a:extLst>
                </a:gridCol>
              </a:tblGrid>
              <a:tr h="240593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账户</a:t>
                      </a: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公司名称</a:t>
                      </a:r>
                    </a:p>
                  </a:txBody>
                  <a:tcPr marL="6350" marR="6350" marT="6350" marB="0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需要清洗的周期</a:t>
                      </a:r>
                      <a:endParaRPr lang="zh-CN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440261"/>
                  </a:ext>
                </a:extLst>
              </a:tr>
              <a:tr h="21634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 dirty="0">
                          <a:effectLst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 dirty="0">
                          <a:effectLst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 dirty="0">
                          <a:effectLst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992689"/>
                  </a:ext>
                </a:extLst>
              </a:tr>
            </a:tbl>
          </a:graphicData>
        </a:graphic>
      </p:graphicFrame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848EE141-828D-6F49-7763-E22B7F779D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554339"/>
              </p:ext>
            </p:extLst>
          </p:nvPr>
        </p:nvGraphicFramePr>
        <p:xfrm>
          <a:off x="5930479" y="4211299"/>
          <a:ext cx="5590719" cy="3750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63573">
                  <a:extLst>
                    <a:ext uri="{9D8B030D-6E8A-4147-A177-3AD203B41FA5}">
                      <a16:colId xmlns:a16="http://schemas.microsoft.com/office/drawing/2014/main" val="3084874946"/>
                    </a:ext>
                  </a:extLst>
                </a:gridCol>
                <a:gridCol w="1863573">
                  <a:extLst>
                    <a:ext uri="{9D8B030D-6E8A-4147-A177-3AD203B41FA5}">
                      <a16:colId xmlns:a16="http://schemas.microsoft.com/office/drawing/2014/main" val="2247481805"/>
                    </a:ext>
                  </a:extLst>
                </a:gridCol>
                <a:gridCol w="1863573">
                  <a:extLst>
                    <a:ext uri="{9D8B030D-6E8A-4147-A177-3AD203B41FA5}">
                      <a16:colId xmlns:a16="http://schemas.microsoft.com/office/drawing/2014/main" val="7696577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计划</a:t>
                      </a: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公司名称</a:t>
                      </a:r>
                    </a:p>
                  </a:txBody>
                  <a:tcPr marL="6350" marR="6350" marT="6350" marB="0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需要清洗的周期</a:t>
                      </a:r>
                      <a:endParaRPr lang="zh-CN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440261"/>
                  </a:ext>
                </a:extLst>
              </a:tr>
              <a:tr h="21634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 dirty="0">
                          <a:effectLst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 dirty="0">
                          <a:effectLst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 dirty="0">
                          <a:effectLst/>
                        </a:rPr>
                        <a:t>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992689"/>
                  </a:ext>
                </a:extLst>
              </a:tr>
            </a:tbl>
          </a:graphicData>
        </a:graphic>
      </p:graphicFrame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D33138C2-3E96-EBFF-7767-E29796AD7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668" y="362643"/>
            <a:ext cx="612347" cy="33855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>
              <a:defRPr lang="en-US" altLang="zh-CN" sz="3400" smtClean="0">
                <a:solidFill>
                  <a:schemeClr val="tx2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r>
              <a:rPr lang="en-US" altLang="zh-CN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5593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1522721" y="407271"/>
            <a:ext cx="8166563" cy="249299"/>
          </a:xfrm>
        </p:spPr>
        <p:txBody>
          <a:bodyPr/>
          <a:lstStyle/>
          <a:p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Poppins Light"/>
              </a:rPr>
              <a:t>展示效果问题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Poppins Light"/>
              </a:rPr>
              <a:t>---</a:t>
            </a:r>
            <a:r>
              <a:rPr kumimoji="1"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  <a:cs typeface="Poppins Light"/>
              </a:rPr>
              <a:t>oCPX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Poppins Light"/>
              </a:rPr>
              <a:t>二阶超目标成本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Poppins Light"/>
              </a:rPr>
              <a:t>1.5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Poppins Light"/>
              </a:rPr>
              <a:t>倍</a:t>
            </a:r>
            <a:endParaRPr kumimoji="1" lang="zh-CN" altLang="en-US" sz="14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B34C154-6940-F07B-2CBE-B44F0FF64D7E}"/>
              </a:ext>
            </a:extLst>
          </p:cNvPr>
          <p:cNvSpPr txBox="1"/>
          <p:nvPr/>
        </p:nvSpPr>
        <p:spPr>
          <a:xfrm>
            <a:off x="542665" y="1272359"/>
            <a:ext cx="11104748" cy="1090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工单分类：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系统问题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展示广告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效果问题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工单主题：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区域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【代理商】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展示广告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en-US" altLang="zh-CN" sz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</a:t>
            </a:r>
            <a:r>
              <a:rPr lang="en-US" altLang="zh-CN" sz="12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oCPX</a:t>
            </a:r>
            <a:r>
              <a:rPr lang="zh-CN" altLang="en-US" sz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二阶超目标成本</a:t>
            </a:r>
            <a:r>
              <a:rPr lang="en-US" altLang="zh-CN" sz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1.5</a:t>
            </a:r>
            <a:r>
              <a:rPr lang="zh-CN" altLang="en-US" sz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倍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账户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ID+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一级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二级行业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示例：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区域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【代理商】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展示广告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en-US" altLang="zh-CN" sz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</a:t>
            </a:r>
            <a:r>
              <a:rPr lang="en-US" altLang="zh-CN" sz="12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oCPX</a:t>
            </a:r>
            <a:r>
              <a:rPr lang="zh-CN" altLang="en-US" sz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二阶超目标成本</a:t>
            </a:r>
            <a:r>
              <a:rPr lang="en-US" altLang="zh-CN" sz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1.5</a:t>
            </a:r>
            <a:r>
              <a:rPr lang="zh-CN" altLang="en-US" sz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倍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账户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ID+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一级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二级行业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75F009F-6FB4-4CF7-9027-9D5FA56466B0}"/>
              </a:ext>
            </a:extLst>
          </p:cNvPr>
          <p:cNvSpPr txBox="1"/>
          <p:nvPr/>
        </p:nvSpPr>
        <p:spPr>
          <a:xfrm>
            <a:off x="542661" y="2314803"/>
            <a:ext cx="9112968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问题描述：老师好，客户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XXX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，投放业务：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XXXX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反馈效果异常，具体情况如下，烦请评估调优，谢谢；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E8B72A3-3CDB-DE81-77E8-64DB889708C0}"/>
              </a:ext>
            </a:extLst>
          </p:cNvPr>
          <p:cNvSpPr txBox="1"/>
          <p:nvPr/>
        </p:nvSpPr>
        <p:spPr>
          <a:xfrm>
            <a:off x="5368471" y="2701030"/>
            <a:ext cx="6137730" cy="246221"/>
          </a:xfrm>
          <a:prstGeom prst="rect">
            <a:avLst/>
          </a:prstGeom>
          <a:solidFill>
            <a:srgbClr val="538C5B"/>
          </a:solidFill>
        </p:spPr>
        <p:txBody>
          <a:bodyPr wrap="square">
            <a:spAutoFit/>
          </a:bodyPr>
          <a:lstStyle/>
          <a:p>
            <a:r>
              <a:rPr lang="zh-CN" altLang="en-US" sz="1000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自查结果表：请放正文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A11CE40-2352-1988-C8AD-83092C2C6E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437114"/>
              </p:ext>
            </p:extLst>
          </p:nvPr>
        </p:nvGraphicFramePr>
        <p:xfrm>
          <a:off x="542661" y="2774609"/>
          <a:ext cx="4374572" cy="1036320"/>
        </p:xfrm>
        <a:graphic>
          <a:graphicData uri="http://schemas.openxmlformats.org/drawingml/2006/table">
            <a:tbl>
              <a:tblPr/>
              <a:tblGrid>
                <a:gridCol w="773785">
                  <a:extLst>
                    <a:ext uri="{9D8B030D-6E8A-4147-A177-3AD203B41FA5}">
                      <a16:colId xmlns:a16="http://schemas.microsoft.com/office/drawing/2014/main" val="513778286"/>
                    </a:ext>
                  </a:extLst>
                </a:gridCol>
                <a:gridCol w="567164">
                  <a:extLst>
                    <a:ext uri="{9D8B030D-6E8A-4147-A177-3AD203B41FA5}">
                      <a16:colId xmlns:a16="http://schemas.microsoft.com/office/drawing/2014/main" val="3765325667"/>
                    </a:ext>
                  </a:extLst>
                </a:gridCol>
                <a:gridCol w="948152">
                  <a:extLst>
                    <a:ext uri="{9D8B030D-6E8A-4147-A177-3AD203B41FA5}">
                      <a16:colId xmlns:a16="http://schemas.microsoft.com/office/drawing/2014/main" val="1536639149"/>
                    </a:ext>
                  </a:extLst>
                </a:gridCol>
                <a:gridCol w="1128092">
                  <a:extLst>
                    <a:ext uri="{9D8B030D-6E8A-4147-A177-3AD203B41FA5}">
                      <a16:colId xmlns:a16="http://schemas.microsoft.com/office/drawing/2014/main" val="3002287980"/>
                    </a:ext>
                  </a:extLst>
                </a:gridCol>
                <a:gridCol w="957379">
                  <a:extLst>
                    <a:ext uri="{9D8B030D-6E8A-4147-A177-3AD203B41FA5}">
                      <a16:colId xmlns:a16="http://schemas.microsoft.com/office/drawing/2014/main" val="221234480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异常时间点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账户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计划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过去</a:t>
                      </a:r>
                      <a:r>
                        <a:rPr lang="en-US" altLang="zh-CN" sz="1000" b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天平均实际转化成本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 latinLnBrk="0"/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异常期间实际转化成本</a:t>
                      </a:r>
                    </a:p>
                  </a:txBody>
                  <a:tcPr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42437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endParaRPr lang="zh-CN" altLang="en-US" sz="1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799118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自查初步判定结论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通过自查初步判断问题关键点，以及后续排查方向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fontAlgn="ctr" latinLnBrk="0"/>
                      <a:endParaRPr lang="zh-CN" altLang="en-US" sz="10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fontAlgn="ctr" latinLnBrk="0"/>
                      <a:endParaRPr lang="zh-CN" altLang="en-US" sz="9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6118281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9334E21E-2107-85DE-5754-851E472E17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907984"/>
              </p:ext>
            </p:extLst>
          </p:nvPr>
        </p:nvGraphicFramePr>
        <p:xfrm>
          <a:off x="5379357" y="2947251"/>
          <a:ext cx="6126844" cy="3474720"/>
        </p:xfrm>
        <a:graphic>
          <a:graphicData uri="http://schemas.openxmlformats.org/drawingml/2006/table">
            <a:tbl>
              <a:tblPr/>
              <a:tblGrid>
                <a:gridCol w="1166463">
                  <a:extLst>
                    <a:ext uri="{9D8B030D-6E8A-4147-A177-3AD203B41FA5}">
                      <a16:colId xmlns:a16="http://schemas.microsoft.com/office/drawing/2014/main" val="1050185164"/>
                    </a:ext>
                  </a:extLst>
                </a:gridCol>
                <a:gridCol w="1317888">
                  <a:extLst>
                    <a:ext uri="{9D8B030D-6E8A-4147-A177-3AD203B41FA5}">
                      <a16:colId xmlns:a16="http://schemas.microsoft.com/office/drawing/2014/main" val="1112018676"/>
                    </a:ext>
                  </a:extLst>
                </a:gridCol>
                <a:gridCol w="1357823">
                  <a:extLst>
                    <a:ext uri="{9D8B030D-6E8A-4147-A177-3AD203B41FA5}">
                      <a16:colId xmlns:a16="http://schemas.microsoft.com/office/drawing/2014/main" val="195539910"/>
                    </a:ext>
                  </a:extLst>
                </a:gridCol>
                <a:gridCol w="1247999">
                  <a:extLst>
                    <a:ext uri="{9D8B030D-6E8A-4147-A177-3AD203B41FA5}">
                      <a16:colId xmlns:a16="http://schemas.microsoft.com/office/drawing/2014/main" val="2836531242"/>
                    </a:ext>
                  </a:extLst>
                </a:gridCol>
                <a:gridCol w="1036671">
                  <a:extLst>
                    <a:ext uri="{9D8B030D-6E8A-4147-A177-3AD203B41FA5}">
                      <a16:colId xmlns:a16="http://schemas.microsoft.com/office/drawing/2014/main" val="295307032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排查类型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检查字段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  <a:r>
                        <a:rPr lang="en-US" altLang="zh-CN" sz="1000" b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否变更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调整前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调整前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525447"/>
                  </a:ext>
                </a:extLst>
              </a:tr>
              <a:tr h="152400">
                <a:tc rowSpan="8"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投放基本信息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人群定向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487180"/>
                  </a:ext>
                </a:extLst>
              </a:tr>
              <a:tr h="1524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媒体定向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7888885"/>
                  </a:ext>
                </a:extLst>
              </a:tr>
              <a:tr h="1524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账户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计划预算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9601340"/>
                  </a:ext>
                </a:extLst>
              </a:tr>
              <a:tr h="1524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投放排期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577013"/>
                  </a:ext>
                </a:extLst>
              </a:tr>
              <a:tr h="1524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投放时段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6134113"/>
                  </a:ext>
                </a:extLst>
              </a:tr>
              <a:tr h="1524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创意调整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5423511"/>
                  </a:ext>
                </a:extLst>
              </a:tr>
              <a:tr h="1524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落地页调整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6673288"/>
                  </a:ext>
                </a:extLst>
              </a:tr>
              <a:tr h="1524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转化路径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359185"/>
                  </a:ext>
                </a:extLst>
              </a:tr>
              <a:tr h="152400">
                <a:tc rowSpan="3">
                  <a:txBody>
                    <a:bodyPr/>
                    <a:lstStyle/>
                    <a:p>
                      <a:pPr algn="l" fontAlgn="ctr" latinLnBrk="0"/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oCPC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zh-CN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oCPC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计划目标成本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065493"/>
                  </a:ext>
                </a:extLst>
              </a:tr>
              <a:tr h="1524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是否属于进入二阶段前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天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6640797"/>
                  </a:ext>
                </a:extLst>
              </a:tr>
              <a:tr h="1524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回传是否正常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334960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资源波动及竞价环境分析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分资源实时</a:t>
                      </a:r>
                      <a:r>
                        <a:rPr lang="en-US" altLang="zh-CN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历史数据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1366181"/>
                  </a:ext>
                </a:extLst>
              </a:tr>
            </a:tbl>
          </a:graphicData>
        </a:graphic>
      </p:graphicFrame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3C4028BC-3AB7-53EF-AA3C-95181B7F2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668" y="362643"/>
            <a:ext cx="612347" cy="33855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>
              <a:defRPr lang="en-US" altLang="zh-CN" sz="3400" smtClean="0">
                <a:solidFill>
                  <a:schemeClr val="tx2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003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969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1522721" y="407271"/>
            <a:ext cx="8166563" cy="249299"/>
          </a:xfrm>
        </p:spPr>
        <p:txBody>
          <a:bodyPr/>
          <a:lstStyle/>
          <a:p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Poppins Light"/>
              </a:rPr>
              <a:t>展示效果问题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Poppins Light"/>
              </a:rPr>
              <a:t>---</a:t>
            </a:r>
            <a:r>
              <a:rPr kumimoji="1"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  <a:cs typeface="Poppins Light"/>
              </a:rPr>
              <a:t>oCPX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Poppins Light"/>
              </a:rPr>
              <a:t>二阶展点消突升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Poppins Light"/>
              </a:rPr>
              <a:t>/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Poppins Light"/>
              </a:rPr>
              <a:t>突降</a:t>
            </a:r>
            <a:endParaRPr kumimoji="1" lang="zh-CN" altLang="en-US" sz="14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53A7329-B482-051D-A28E-277B5DB26F92}"/>
              </a:ext>
            </a:extLst>
          </p:cNvPr>
          <p:cNvSpPr txBox="1"/>
          <p:nvPr/>
        </p:nvSpPr>
        <p:spPr>
          <a:xfrm>
            <a:off x="542665" y="1272359"/>
            <a:ext cx="11104748" cy="1090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工单分类：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系统问题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展示广告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效果问题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工单主题：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区域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【代理商】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展示广告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en-US" altLang="zh-CN" sz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</a:t>
            </a:r>
            <a:r>
              <a:rPr lang="en-US" altLang="zh-CN" sz="12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oCPX</a:t>
            </a:r>
            <a:r>
              <a:rPr lang="zh-CN" altLang="en-US" sz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二阶展</a:t>
            </a:r>
            <a:r>
              <a:rPr lang="en-US" altLang="zh-CN" sz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/</a:t>
            </a:r>
            <a:r>
              <a:rPr lang="zh-CN" altLang="en-US" sz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点</a:t>
            </a:r>
            <a:r>
              <a:rPr lang="en-US" altLang="zh-CN" sz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/</a:t>
            </a:r>
            <a:r>
              <a:rPr lang="zh-CN" altLang="en-US" sz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消突升</a:t>
            </a:r>
            <a:r>
              <a:rPr lang="en-US" altLang="zh-CN" sz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/</a:t>
            </a:r>
            <a:r>
              <a:rPr lang="zh-CN" altLang="en-US" sz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突降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账户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ID+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一级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二级行业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示例：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区域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【代理商】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展示广告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+【</a:t>
            </a:r>
            <a:r>
              <a:rPr lang="en-US" altLang="zh-CN" sz="12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oCPX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二阶消费突升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账户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ID+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一级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二级行业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99043C5-A4E6-020C-8A21-CDEAA68939BF}"/>
              </a:ext>
            </a:extLst>
          </p:cNvPr>
          <p:cNvSpPr txBox="1"/>
          <p:nvPr/>
        </p:nvSpPr>
        <p:spPr>
          <a:xfrm>
            <a:off x="542661" y="2314803"/>
            <a:ext cx="9112968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问题描述：老师好，客户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XXX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，投放业务：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XXXX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反馈效果异常，具体情况如下，烦请评估调优，谢谢；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FD2AC5F-873C-0925-3ABC-D4BD23EA33BF}"/>
              </a:ext>
            </a:extLst>
          </p:cNvPr>
          <p:cNvSpPr txBox="1"/>
          <p:nvPr/>
        </p:nvSpPr>
        <p:spPr>
          <a:xfrm>
            <a:off x="5368471" y="2701030"/>
            <a:ext cx="6137730" cy="246221"/>
          </a:xfrm>
          <a:prstGeom prst="rect">
            <a:avLst/>
          </a:prstGeom>
          <a:solidFill>
            <a:srgbClr val="538C5B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00" b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自查结果表：请放正文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3A15246-FD56-7817-3E3E-7B04F274B8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8439442"/>
              </p:ext>
            </p:extLst>
          </p:nvPr>
        </p:nvGraphicFramePr>
        <p:xfrm>
          <a:off x="5379357" y="2947250"/>
          <a:ext cx="6126844" cy="3416224"/>
        </p:xfrm>
        <a:graphic>
          <a:graphicData uri="http://schemas.openxmlformats.org/drawingml/2006/table">
            <a:tbl>
              <a:tblPr/>
              <a:tblGrid>
                <a:gridCol w="1166463">
                  <a:extLst>
                    <a:ext uri="{9D8B030D-6E8A-4147-A177-3AD203B41FA5}">
                      <a16:colId xmlns:a16="http://schemas.microsoft.com/office/drawing/2014/main" val="1050185164"/>
                    </a:ext>
                  </a:extLst>
                </a:gridCol>
                <a:gridCol w="1317888">
                  <a:extLst>
                    <a:ext uri="{9D8B030D-6E8A-4147-A177-3AD203B41FA5}">
                      <a16:colId xmlns:a16="http://schemas.microsoft.com/office/drawing/2014/main" val="1112018676"/>
                    </a:ext>
                  </a:extLst>
                </a:gridCol>
                <a:gridCol w="1357823">
                  <a:extLst>
                    <a:ext uri="{9D8B030D-6E8A-4147-A177-3AD203B41FA5}">
                      <a16:colId xmlns:a16="http://schemas.microsoft.com/office/drawing/2014/main" val="195539910"/>
                    </a:ext>
                  </a:extLst>
                </a:gridCol>
                <a:gridCol w="1247999">
                  <a:extLst>
                    <a:ext uri="{9D8B030D-6E8A-4147-A177-3AD203B41FA5}">
                      <a16:colId xmlns:a16="http://schemas.microsoft.com/office/drawing/2014/main" val="2836531242"/>
                    </a:ext>
                  </a:extLst>
                </a:gridCol>
                <a:gridCol w="1036671">
                  <a:extLst>
                    <a:ext uri="{9D8B030D-6E8A-4147-A177-3AD203B41FA5}">
                      <a16:colId xmlns:a16="http://schemas.microsoft.com/office/drawing/2014/main" val="295307032"/>
                    </a:ext>
                  </a:extLst>
                </a:gridCol>
              </a:tblGrid>
              <a:tr h="270592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排查类型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检查字段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  <a:r>
                        <a:rPr lang="en-US" altLang="zh-CN" sz="1000" b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否变更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调整前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调整前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525447"/>
                  </a:ext>
                </a:extLst>
              </a:tr>
              <a:tr h="270592">
                <a:tc rowSpan="8"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投放基本信息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人群定向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487180"/>
                  </a:ext>
                </a:extLst>
              </a:tr>
              <a:tr h="27059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媒体定向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7888885"/>
                  </a:ext>
                </a:extLst>
              </a:tr>
              <a:tr h="27059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账户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计划预算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9601340"/>
                  </a:ext>
                </a:extLst>
              </a:tr>
              <a:tr h="27059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投放排期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577013"/>
                  </a:ext>
                </a:extLst>
              </a:tr>
              <a:tr h="27059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投放时段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6134113"/>
                  </a:ext>
                </a:extLst>
              </a:tr>
              <a:tr h="27059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创意调整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5423511"/>
                  </a:ext>
                </a:extLst>
              </a:tr>
              <a:tr h="27059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落地页调整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6673288"/>
                  </a:ext>
                </a:extLst>
              </a:tr>
              <a:tr h="27059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转化路径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359185"/>
                  </a:ext>
                </a:extLst>
              </a:tr>
              <a:tr h="270592">
                <a:tc rowSpan="3">
                  <a:txBody>
                    <a:bodyPr/>
                    <a:lstStyle/>
                    <a:p>
                      <a:pPr algn="l" fontAlgn="ctr" latinLnBrk="0"/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oCPC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zh-CN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oCPC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计划目标成本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065493"/>
                  </a:ext>
                </a:extLst>
              </a:tr>
              <a:tr h="43971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是否属于进入二阶段前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天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6640797"/>
                  </a:ext>
                </a:extLst>
              </a:tr>
              <a:tr h="27059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回传是否正常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3349603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132B466-88BC-A43A-5CBD-F6695A98F4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0832016"/>
              </p:ext>
            </p:extLst>
          </p:nvPr>
        </p:nvGraphicFramePr>
        <p:xfrm>
          <a:off x="542661" y="2928342"/>
          <a:ext cx="4468973" cy="883920"/>
        </p:xfrm>
        <a:graphic>
          <a:graphicData uri="http://schemas.openxmlformats.org/drawingml/2006/table">
            <a:tbl>
              <a:tblPr/>
              <a:tblGrid>
                <a:gridCol w="2141383">
                  <a:extLst>
                    <a:ext uri="{9D8B030D-6E8A-4147-A177-3AD203B41FA5}">
                      <a16:colId xmlns:a16="http://schemas.microsoft.com/office/drawing/2014/main" val="2642236779"/>
                    </a:ext>
                  </a:extLst>
                </a:gridCol>
                <a:gridCol w="2327590">
                  <a:extLst>
                    <a:ext uri="{9D8B030D-6E8A-4147-A177-3AD203B41FA5}">
                      <a16:colId xmlns:a16="http://schemas.microsoft.com/office/drawing/2014/main" val="276140877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对比时间段定义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请填写波动前、波动后时间段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50161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问题简述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27466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自查初步判定结论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通过自查初步判断问题关键点，以及后续排查方向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584532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B59CF32F-01BF-D837-2375-8A6C65C149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49045"/>
              </p:ext>
            </p:extLst>
          </p:nvPr>
        </p:nvGraphicFramePr>
        <p:xfrm>
          <a:off x="542660" y="4244521"/>
          <a:ext cx="4468973" cy="883920"/>
        </p:xfrm>
        <a:graphic>
          <a:graphicData uri="http://schemas.openxmlformats.org/drawingml/2006/table">
            <a:tbl>
              <a:tblPr/>
              <a:tblGrid>
                <a:gridCol w="489977">
                  <a:extLst>
                    <a:ext uri="{9D8B030D-6E8A-4147-A177-3AD203B41FA5}">
                      <a16:colId xmlns:a16="http://schemas.microsoft.com/office/drawing/2014/main" val="98294489"/>
                    </a:ext>
                  </a:extLst>
                </a:gridCol>
                <a:gridCol w="868707">
                  <a:extLst>
                    <a:ext uri="{9D8B030D-6E8A-4147-A177-3AD203B41FA5}">
                      <a16:colId xmlns:a16="http://schemas.microsoft.com/office/drawing/2014/main" val="281035597"/>
                    </a:ext>
                  </a:extLst>
                </a:gridCol>
                <a:gridCol w="511280">
                  <a:extLst>
                    <a:ext uri="{9D8B030D-6E8A-4147-A177-3AD203B41FA5}">
                      <a16:colId xmlns:a16="http://schemas.microsoft.com/office/drawing/2014/main" val="995015688"/>
                    </a:ext>
                  </a:extLst>
                </a:gridCol>
                <a:gridCol w="758400">
                  <a:extLst>
                    <a:ext uri="{9D8B030D-6E8A-4147-A177-3AD203B41FA5}">
                      <a16:colId xmlns:a16="http://schemas.microsoft.com/office/drawing/2014/main" val="2947367198"/>
                    </a:ext>
                  </a:extLst>
                </a:gridCol>
                <a:gridCol w="340853">
                  <a:extLst>
                    <a:ext uri="{9D8B030D-6E8A-4147-A177-3AD203B41FA5}">
                      <a16:colId xmlns:a16="http://schemas.microsoft.com/office/drawing/2014/main" val="3878191399"/>
                    </a:ext>
                  </a:extLst>
                </a:gridCol>
                <a:gridCol w="430328">
                  <a:extLst>
                    <a:ext uri="{9D8B030D-6E8A-4147-A177-3AD203B41FA5}">
                      <a16:colId xmlns:a16="http://schemas.microsoft.com/office/drawing/2014/main" val="2589143609"/>
                    </a:ext>
                  </a:extLst>
                </a:gridCol>
                <a:gridCol w="639100">
                  <a:extLst>
                    <a:ext uri="{9D8B030D-6E8A-4147-A177-3AD203B41FA5}">
                      <a16:colId xmlns:a16="http://schemas.microsoft.com/office/drawing/2014/main" val="1330042431"/>
                    </a:ext>
                  </a:extLst>
                </a:gridCol>
                <a:gridCol w="430328">
                  <a:extLst>
                    <a:ext uri="{9D8B030D-6E8A-4147-A177-3AD203B41FA5}">
                      <a16:colId xmlns:a16="http://schemas.microsoft.com/office/drawing/2014/main" val="3455514200"/>
                    </a:ext>
                  </a:extLst>
                </a:gridCol>
              </a:tblGrid>
              <a:tr h="152400">
                <a:tc gridSpan="2"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明细维度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波动前（日均）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波动后（日均）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93761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账户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计划</a:t>
                      </a:r>
                      <a:r>
                        <a:rPr lang="en-US" altLang="zh-CN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展示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点击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消费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展示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点击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消费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99745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314874"/>
                  </a:ext>
                </a:extLst>
              </a:tr>
            </a:tbl>
          </a:graphicData>
        </a:graphic>
      </p:graphicFrame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949A04BE-8D08-B540-E326-EEC3F8246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668" y="362643"/>
            <a:ext cx="612347" cy="33855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>
              <a:defRPr lang="en-US" altLang="zh-CN" sz="3400" smtClean="0">
                <a:solidFill>
                  <a:schemeClr val="tx2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003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8199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1522721" y="407271"/>
            <a:ext cx="8166563" cy="249299"/>
          </a:xfrm>
        </p:spPr>
        <p:txBody>
          <a:bodyPr/>
          <a:lstStyle/>
          <a:p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Poppins Light"/>
              </a:rPr>
              <a:t>展示效果问题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Poppins Light"/>
              </a:rPr>
              <a:t>---</a:t>
            </a:r>
            <a:r>
              <a:rPr kumimoji="1"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  <a:cs typeface="Poppins Light"/>
              </a:rPr>
              <a:t>oCPX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Poppins Light"/>
              </a:rPr>
              <a:t>二阶浅层转化正常，深层效果突降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Poppins Light"/>
              </a:rPr>
              <a:t>(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Poppins Light"/>
              </a:rPr>
              <a:t>如无效增多等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Poppins Light"/>
              </a:rPr>
              <a:t>)</a:t>
            </a:r>
            <a:endParaRPr kumimoji="1" lang="zh-CN" altLang="en-US" sz="14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4749238-D8F0-028F-BECD-355A9B1403EB}"/>
              </a:ext>
            </a:extLst>
          </p:cNvPr>
          <p:cNvSpPr txBox="1"/>
          <p:nvPr/>
        </p:nvSpPr>
        <p:spPr>
          <a:xfrm>
            <a:off x="542665" y="1272359"/>
            <a:ext cx="11104748" cy="1090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工单分类：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系统问题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展示广告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效果问题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工单主题：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区域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【代理商】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展示广告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浅层转化正常，深层效果突降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账户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ID+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一级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二级行业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示例：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区域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【代理商】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展示广告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浅层转化正常，深层效果突降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账户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ID+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一级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二级行业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6AF97A7-AED1-4444-E5B0-D14E40ADD702}"/>
              </a:ext>
            </a:extLst>
          </p:cNvPr>
          <p:cNvSpPr txBox="1"/>
          <p:nvPr/>
        </p:nvSpPr>
        <p:spPr>
          <a:xfrm>
            <a:off x="542661" y="2314803"/>
            <a:ext cx="9112968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问题描述：老师好，客户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XXX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，投放业务：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XXXX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反馈效果异常，具体情况如下，烦请评估调优，谢谢；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EAD7431-2BB1-2A96-7F4A-D141A3F7AB7A}"/>
              </a:ext>
            </a:extLst>
          </p:cNvPr>
          <p:cNvSpPr txBox="1"/>
          <p:nvPr/>
        </p:nvSpPr>
        <p:spPr>
          <a:xfrm>
            <a:off x="5368471" y="2701030"/>
            <a:ext cx="6137730" cy="246221"/>
          </a:xfrm>
          <a:prstGeom prst="rect">
            <a:avLst/>
          </a:prstGeom>
          <a:solidFill>
            <a:srgbClr val="538C5B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00" b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自查结果表：请放正文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BBEF3E01-652C-497D-1E8B-6548AB8433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9719066"/>
              </p:ext>
            </p:extLst>
          </p:nvPr>
        </p:nvGraphicFramePr>
        <p:xfrm>
          <a:off x="5379357" y="2947251"/>
          <a:ext cx="6126844" cy="3461346"/>
        </p:xfrm>
        <a:graphic>
          <a:graphicData uri="http://schemas.openxmlformats.org/drawingml/2006/table">
            <a:tbl>
              <a:tblPr/>
              <a:tblGrid>
                <a:gridCol w="1166463">
                  <a:extLst>
                    <a:ext uri="{9D8B030D-6E8A-4147-A177-3AD203B41FA5}">
                      <a16:colId xmlns:a16="http://schemas.microsoft.com/office/drawing/2014/main" val="1050185164"/>
                    </a:ext>
                  </a:extLst>
                </a:gridCol>
                <a:gridCol w="1317888">
                  <a:extLst>
                    <a:ext uri="{9D8B030D-6E8A-4147-A177-3AD203B41FA5}">
                      <a16:colId xmlns:a16="http://schemas.microsoft.com/office/drawing/2014/main" val="1112018676"/>
                    </a:ext>
                  </a:extLst>
                </a:gridCol>
                <a:gridCol w="1357823">
                  <a:extLst>
                    <a:ext uri="{9D8B030D-6E8A-4147-A177-3AD203B41FA5}">
                      <a16:colId xmlns:a16="http://schemas.microsoft.com/office/drawing/2014/main" val="195539910"/>
                    </a:ext>
                  </a:extLst>
                </a:gridCol>
                <a:gridCol w="1247999">
                  <a:extLst>
                    <a:ext uri="{9D8B030D-6E8A-4147-A177-3AD203B41FA5}">
                      <a16:colId xmlns:a16="http://schemas.microsoft.com/office/drawing/2014/main" val="2836531242"/>
                    </a:ext>
                  </a:extLst>
                </a:gridCol>
                <a:gridCol w="1036671">
                  <a:extLst>
                    <a:ext uri="{9D8B030D-6E8A-4147-A177-3AD203B41FA5}">
                      <a16:colId xmlns:a16="http://schemas.microsoft.com/office/drawing/2014/main" val="295307032"/>
                    </a:ext>
                  </a:extLst>
                </a:gridCol>
              </a:tblGrid>
              <a:tr h="274166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排查类型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检查字段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  <a:r>
                        <a:rPr lang="en-US" altLang="zh-CN" sz="1000" b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否变更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调整前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调整前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525447"/>
                  </a:ext>
                </a:extLst>
              </a:tr>
              <a:tr h="274166">
                <a:tc rowSpan="8"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投放基本信息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人群定向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487180"/>
                  </a:ext>
                </a:extLst>
              </a:tr>
              <a:tr h="27416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媒体定向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7888885"/>
                  </a:ext>
                </a:extLst>
              </a:tr>
              <a:tr h="27416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账户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计划预算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9601340"/>
                  </a:ext>
                </a:extLst>
              </a:tr>
              <a:tr h="27416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投放排期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577013"/>
                  </a:ext>
                </a:extLst>
              </a:tr>
              <a:tr h="27416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投放时段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6134113"/>
                  </a:ext>
                </a:extLst>
              </a:tr>
              <a:tr h="27416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创意调整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5423511"/>
                  </a:ext>
                </a:extLst>
              </a:tr>
              <a:tr h="27416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落地页调整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6673288"/>
                  </a:ext>
                </a:extLst>
              </a:tr>
              <a:tr h="27416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转化路径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359185"/>
                  </a:ext>
                </a:extLst>
              </a:tr>
              <a:tr h="274166">
                <a:tc rowSpan="3">
                  <a:txBody>
                    <a:bodyPr/>
                    <a:lstStyle/>
                    <a:p>
                      <a:pPr algn="l" fontAlgn="ctr" latinLnBrk="0"/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oCPC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zh-CN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oCPC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计划目标成本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065493"/>
                  </a:ext>
                </a:extLst>
              </a:tr>
              <a:tr h="44552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是否属于进入二阶段前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天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6640797"/>
                  </a:ext>
                </a:extLst>
              </a:tr>
              <a:tr h="27416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回传是否正常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3349603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DA691D1-1DA5-9D2B-3B6D-68DED02DDD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233433"/>
              </p:ext>
            </p:extLst>
          </p:nvPr>
        </p:nvGraphicFramePr>
        <p:xfrm>
          <a:off x="685799" y="2718185"/>
          <a:ext cx="4433534" cy="1615440"/>
        </p:xfrm>
        <a:graphic>
          <a:graphicData uri="http://schemas.openxmlformats.org/drawingml/2006/table">
            <a:tbl>
              <a:tblPr/>
              <a:tblGrid>
                <a:gridCol w="1793076">
                  <a:extLst>
                    <a:ext uri="{9D8B030D-6E8A-4147-A177-3AD203B41FA5}">
                      <a16:colId xmlns:a16="http://schemas.microsoft.com/office/drawing/2014/main" val="3784923053"/>
                    </a:ext>
                  </a:extLst>
                </a:gridCol>
                <a:gridCol w="2640458">
                  <a:extLst>
                    <a:ext uri="{9D8B030D-6E8A-4147-A177-3AD203B41FA5}">
                      <a16:colId xmlns:a16="http://schemas.microsoft.com/office/drawing/2014/main" val="2133936603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对比时间段定义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请填写波动前、波动后时间段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11146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浅层定义及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KPI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954871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深层定义及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KPI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970211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涉及账户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55666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问题简述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343012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自查初步判定结论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通过自查初步判断问题关键点，以及后续排查方向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9668822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88B3FF3F-14D0-0801-017A-1BBAAE64DB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355162"/>
              </p:ext>
            </p:extLst>
          </p:nvPr>
        </p:nvGraphicFramePr>
        <p:xfrm>
          <a:off x="685799" y="4762681"/>
          <a:ext cx="4296748" cy="1645920"/>
        </p:xfrm>
        <a:graphic>
          <a:graphicData uri="http://schemas.openxmlformats.org/drawingml/2006/table">
            <a:tbl>
              <a:tblPr/>
              <a:tblGrid>
                <a:gridCol w="446309">
                  <a:extLst>
                    <a:ext uri="{9D8B030D-6E8A-4147-A177-3AD203B41FA5}">
                      <a16:colId xmlns:a16="http://schemas.microsoft.com/office/drawing/2014/main" val="242101126"/>
                    </a:ext>
                  </a:extLst>
                </a:gridCol>
                <a:gridCol w="749185">
                  <a:extLst>
                    <a:ext uri="{9D8B030D-6E8A-4147-A177-3AD203B41FA5}">
                      <a16:colId xmlns:a16="http://schemas.microsoft.com/office/drawing/2014/main" val="3272029608"/>
                    </a:ext>
                  </a:extLst>
                </a:gridCol>
                <a:gridCol w="462910">
                  <a:extLst>
                    <a:ext uri="{9D8B030D-6E8A-4147-A177-3AD203B41FA5}">
                      <a16:colId xmlns:a16="http://schemas.microsoft.com/office/drawing/2014/main" val="2494900088"/>
                    </a:ext>
                  </a:extLst>
                </a:gridCol>
                <a:gridCol w="545996">
                  <a:extLst>
                    <a:ext uri="{9D8B030D-6E8A-4147-A177-3AD203B41FA5}">
                      <a16:colId xmlns:a16="http://schemas.microsoft.com/office/drawing/2014/main" val="1946834235"/>
                    </a:ext>
                  </a:extLst>
                </a:gridCol>
                <a:gridCol w="617212">
                  <a:extLst>
                    <a:ext uri="{9D8B030D-6E8A-4147-A177-3AD203B41FA5}">
                      <a16:colId xmlns:a16="http://schemas.microsoft.com/office/drawing/2014/main" val="934399519"/>
                    </a:ext>
                  </a:extLst>
                </a:gridCol>
                <a:gridCol w="501018">
                  <a:extLst>
                    <a:ext uri="{9D8B030D-6E8A-4147-A177-3AD203B41FA5}">
                      <a16:colId xmlns:a16="http://schemas.microsoft.com/office/drawing/2014/main" val="1189320824"/>
                    </a:ext>
                  </a:extLst>
                </a:gridCol>
                <a:gridCol w="329845">
                  <a:extLst>
                    <a:ext uri="{9D8B030D-6E8A-4147-A177-3AD203B41FA5}">
                      <a16:colId xmlns:a16="http://schemas.microsoft.com/office/drawing/2014/main" val="3215827618"/>
                    </a:ext>
                  </a:extLst>
                </a:gridCol>
                <a:gridCol w="644273">
                  <a:extLst>
                    <a:ext uri="{9D8B030D-6E8A-4147-A177-3AD203B41FA5}">
                      <a16:colId xmlns:a16="http://schemas.microsoft.com/office/drawing/2014/main" val="3006861712"/>
                    </a:ext>
                  </a:extLst>
                </a:gridCol>
              </a:tblGrid>
              <a:tr h="152400">
                <a:tc gridSpan="2"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明细维度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波动前（日均）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波动后（日均）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07309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账户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计划</a:t>
                      </a:r>
                      <a:r>
                        <a:rPr lang="en-US" altLang="zh-CN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消费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深层转化数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深层转化率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消费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深层转化数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深层转化率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800643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zh-CN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可自定义，如</a:t>
                      </a:r>
                      <a:r>
                        <a:rPr lang="en-US" altLang="zh-CN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ROI)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zh-CN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可自定义，如</a:t>
                      </a:r>
                      <a:r>
                        <a:rPr lang="en-US" altLang="zh-CN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ROI)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5496520"/>
                  </a:ext>
                </a:extLst>
              </a:tr>
            </a:tbl>
          </a:graphicData>
        </a:graphic>
      </p:graphicFrame>
      <p:sp>
        <p:nvSpPr>
          <p:cNvPr id="11" name="灯片编号占位符 7">
            <a:extLst>
              <a:ext uri="{FF2B5EF4-FFF2-40B4-BE49-F238E27FC236}">
                <a16:creationId xmlns:a16="http://schemas.microsoft.com/office/drawing/2014/main" id="{0D3EC204-2621-8CE7-4B2B-591907DA5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668" y="362643"/>
            <a:ext cx="612347" cy="33855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>
              <a:defRPr lang="en-US" altLang="zh-CN" sz="3400" smtClean="0">
                <a:solidFill>
                  <a:schemeClr val="tx2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003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47673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1522721" y="407271"/>
            <a:ext cx="8166563" cy="249299"/>
          </a:xfrm>
        </p:spPr>
        <p:txBody>
          <a:bodyPr/>
          <a:lstStyle/>
          <a:p>
            <a:r>
              <a:rPr kumimoji="1"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Poppins Light"/>
              </a:rPr>
              <a:t>展示效果问题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Poppins Light"/>
              </a:rPr>
              <a:t>---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Poppins Light"/>
              </a:rPr>
              <a:t>展示广告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Poppins Light"/>
              </a:rPr>
              <a:t>-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Poppins Light"/>
              </a:rPr>
              <a:t>非</a:t>
            </a:r>
            <a:r>
              <a:rPr kumimoji="1"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  <a:cs typeface="Poppins Light"/>
              </a:rPr>
              <a:t>oCPX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Poppins Light"/>
              </a:rPr>
              <a:t>（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Poppins Light"/>
              </a:rPr>
              <a:t>CPM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Poppins Light"/>
              </a:rPr>
              <a:t>投放）效果突降</a:t>
            </a:r>
            <a:endParaRPr kumimoji="1" lang="zh-CN" altLang="en-US" sz="14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B8EB4B0-5330-9949-FD26-0C5CBBEF0FFE}"/>
              </a:ext>
            </a:extLst>
          </p:cNvPr>
          <p:cNvSpPr txBox="1"/>
          <p:nvPr/>
        </p:nvSpPr>
        <p:spPr>
          <a:xfrm>
            <a:off x="542665" y="1272359"/>
            <a:ext cx="11104748" cy="1090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工单分类：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系统问题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展示广告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效果问题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zh-CN" altLang="zh-CN" sz="12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工单主题：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区域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【代理商】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展示广告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非</a:t>
            </a:r>
            <a:r>
              <a:rPr lang="en-US" altLang="zh-CN" sz="12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oCPX</a:t>
            </a:r>
            <a:r>
              <a:rPr lang="zh-CN" altLang="en-US" sz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（</a:t>
            </a:r>
            <a:r>
              <a:rPr lang="en-US" altLang="zh-CN" sz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CPM</a:t>
            </a:r>
            <a:r>
              <a:rPr lang="zh-CN" altLang="en-US" sz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投放）效果突降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账户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ID+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一级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二级行业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示例：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区域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【代理商】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展示广告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+【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非</a:t>
            </a:r>
            <a:r>
              <a:rPr lang="en-US" altLang="zh-CN" sz="12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oCPX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CPM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投放）效果突降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账户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ID+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一级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二级行业</a:t>
            </a:r>
            <a:r>
              <a:rPr lang="zh-CN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000"/>
              </a:lnSpc>
            </a:pP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3C0303B-93EA-EAC6-9E62-C2544E464B2C}"/>
              </a:ext>
            </a:extLst>
          </p:cNvPr>
          <p:cNvSpPr txBox="1"/>
          <p:nvPr/>
        </p:nvSpPr>
        <p:spPr>
          <a:xfrm>
            <a:off x="542661" y="2314803"/>
            <a:ext cx="9112968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问题描述：老师好，客户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XXX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，投放业务：</a:t>
            </a:r>
            <a:r>
              <a:rPr lang="en-US" altLang="zh-CN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XXXX</a:t>
            </a:r>
            <a:r>
              <a:rPr lang="zh-CN" altLang="en-US" sz="12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反馈效果异常，具体情况如下，烦请评估调优，谢谢；</a:t>
            </a:r>
            <a:endParaRPr lang="en-US" altLang="zh-CN" sz="12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CA2B594-CF98-879C-8087-AB8D7B7375AB}"/>
              </a:ext>
            </a:extLst>
          </p:cNvPr>
          <p:cNvSpPr txBox="1"/>
          <p:nvPr/>
        </p:nvSpPr>
        <p:spPr>
          <a:xfrm>
            <a:off x="5368471" y="2701030"/>
            <a:ext cx="6137730" cy="246221"/>
          </a:xfrm>
          <a:prstGeom prst="rect">
            <a:avLst/>
          </a:prstGeom>
          <a:solidFill>
            <a:srgbClr val="538C5B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00" b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自查结果表：请放正文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AF16A5C-A4F0-484D-BB6A-F6F43BF723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1319322"/>
              </p:ext>
            </p:extLst>
          </p:nvPr>
        </p:nvGraphicFramePr>
        <p:xfrm>
          <a:off x="5379357" y="2947250"/>
          <a:ext cx="6126844" cy="3154968"/>
        </p:xfrm>
        <a:graphic>
          <a:graphicData uri="http://schemas.openxmlformats.org/drawingml/2006/table">
            <a:tbl>
              <a:tblPr/>
              <a:tblGrid>
                <a:gridCol w="1166463">
                  <a:extLst>
                    <a:ext uri="{9D8B030D-6E8A-4147-A177-3AD203B41FA5}">
                      <a16:colId xmlns:a16="http://schemas.microsoft.com/office/drawing/2014/main" val="1050185164"/>
                    </a:ext>
                  </a:extLst>
                </a:gridCol>
                <a:gridCol w="1317888">
                  <a:extLst>
                    <a:ext uri="{9D8B030D-6E8A-4147-A177-3AD203B41FA5}">
                      <a16:colId xmlns:a16="http://schemas.microsoft.com/office/drawing/2014/main" val="1112018676"/>
                    </a:ext>
                  </a:extLst>
                </a:gridCol>
                <a:gridCol w="1357823">
                  <a:extLst>
                    <a:ext uri="{9D8B030D-6E8A-4147-A177-3AD203B41FA5}">
                      <a16:colId xmlns:a16="http://schemas.microsoft.com/office/drawing/2014/main" val="195539910"/>
                    </a:ext>
                  </a:extLst>
                </a:gridCol>
                <a:gridCol w="1247999">
                  <a:extLst>
                    <a:ext uri="{9D8B030D-6E8A-4147-A177-3AD203B41FA5}">
                      <a16:colId xmlns:a16="http://schemas.microsoft.com/office/drawing/2014/main" val="2836531242"/>
                    </a:ext>
                  </a:extLst>
                </a:gridCol>
                <a:gridCol w="1036671">
                  <a:extLst>
                    <a:ext uri="{9D8B030D-6E8A-4147-A177-3AD203B41FA5}">
                      <a16:colId xmlns:a16="http://schemas.microsoft.com/office/drawing/2014/main" val="295307032"/>
                    </a:ext>
                  </a:extLst>
                </a:gridCol>
              </a:tblGrid>
              <a:tr h="350552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排查类型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检查字段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  <a:r>
                        <a:rPr lang="en-US" altLang="zh-CN" sz="1000" b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否变更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调整前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b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调整前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525447"/>
                  </a:ext>
                </a:extLst>
              </a:tr>
              <a:tr h="350552">
                <a:tc rowSpan="8"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投放基本信息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人群定向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487180"/>
                  </a:ext>
                </a:extLst>
              </a:tr>
              <a:tr h="35055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媒体定向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7888885"/>
                  </a:ext>
                </a:extLst>
              </a:tr>
              <a:tr h="35055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账户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计划预算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9601340"/>
                  </a:ext>
                </a:extLst>
              </a:tr>
              <a:tr h="35055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投放排期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577013"/>
                  </a:ext>
                </a:extLst>
              </a:tr>
              <a:tr h="35055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投放时段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6134113"/>
                  </a:ext>
                </a:extLst>
              </a:tr>
              <a:tr h="35055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创意调整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5423511"/>
                  </a:ext>
                </a:extLst>
              </a:tr>
              <a:tr h="35055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落地页调整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6673288"/>
                  </a:ext>
                </a:extLst>
              </a:tr>
              <a:tr h="35055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转化路径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zh-CN" altLang="en-US" sz="10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35918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D0F57EE-4083-0830-703E-D0737E1E80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8794678"/>
              </p:ext>
            </p:extLst>
          </p:nvPr>
        </p:nvGraphicFramePr>
        <p:xfrm>
          <a:off x="542661" y="2928341"/>
          <a:ext cx="4468973" cy="1336762"/>
        </p:xfrm>
        <a:graphic>
          <a:graphicData uri="http://schemas.openxmlformats.org/drawingml/2006/table">
            <a:tbl>
              <a:tblPr/>
              <a:tblGrid>
                <a:gridCol w="2141383">
                  <a:extLst>
                    <a:ext uri="{9D8B030D-6E8A-4147-A177-3AD203B41FA5}">
                      <a16:colId xmlns:a16="http://schemas.microsoft.com/office/drawing/2014/main" val="2642236779"/>
                    </a:ext>
                  </a:extLst>
                </a:gridCol>
                <a:gridCol w="2327590">
                  <a:extLst>
                    <a:ext uri="{9D8B030D-6E8A-4147-A177-3AD203B41FA5}">
                      <a16:colId xmlns:a16="http://schemas.microsoft.com/office/drawing/2014/main" val="2761408770"/>
                    </a:ext>
                  </a:extLst>
                </a:gridCol>
              </a:tblGrid>
              <a:tr h="368762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对比时间段定义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请填写波动前、波动后时间段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501611"/>
                  </a:ext>
                </a:extLst>
              </a:tr>
              <a:tr h="368762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问题简述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274662"/>
                  </a:ext>
                </a:extLst>
              </a:tr>
              <a:tr h="599238"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自查初步判定结论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0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通过自查初步判断问题关键点，以及后续排查方向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584532"/>
                  </a:ext>
                </a:extLst>
              </a:tr>
            </a:tbl>
          </a:graphicData>
        </a:graphic>
      </p:graphicFrame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571C1786-5A3C-AAFE-65FD-E5D1E93E1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668" y="362643"/>
            <a:ext cx="612347" cy="33855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>
              <a:defRPr lang="en-US" altLang="zh-CN" sz="3400" smtClean="0">
                <a:solidFill>
                  <a:schemeClr val="tx2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003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54721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152" y="1072692"/>
            <a:ext cx="7559695" cy="471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3623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_图片 480">
            <a:extLst>
              <a:ext uri="{FF2B5EF4-FFF2-40B4-BE49-F238E27FC236}">
                <a16:creationId xmlns:a16="http://schemas.microsoft.com/office/drawing/2014/main" id="{A5463A26-AA92-444A-2B64-4A2E0F2E3B6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699789" y="1082315"/>
            <a:ext cx="5597214" cy="24552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69FDB36-A8B2-9CF2-5633-6FEDF81148F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807"/>
          <a:stretch/>
        </p:blipFill>
        <p:spPr>
          <a:xfrm>
            <a:off x="583060" y="1157506"/>
            <a:ext cx="5500688" cy="2657046"/>
          </a:xfrm>
          <a:prstGeom prst="rect">
            <a:avLst/>
          </a:prstGeom>
          <a:ln>
            <a:solidFill>
              <a:srgbClr val="13C172"/>
            </a:solidFill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9C265EE-559E-826A-DA37-DF912291AD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060" y="3919747"/>
            <a:ext cx="10707775" cy="2657046"/>
          </a:xfrm>
          <a:prstGeom prst="rect">
            <a:avLst/>
          </a:prstGeom>
          <a:ln>
            <a:solidFill>
              <a:srgbClr val="13C172"/>
            </a:solidFill>
          </a:ln>
        </p:spPr>
      </p:pic>
      <p:sp>
        <p:nvSpPr>
          <p:cNvPr id="10" name="双波形 9">
            <a:extLst>
              <a:ext uri="{FF2B5EF4-FFF2-40B4-BE49-F238E27FC236}">
                <a16:creationId xmlns:a16="http://schemas.microsoft.com/office/drawing/2014/main" id="{8384EC9D-317B-8801-632A-C375075F1F6E}"/>
              </a:ext>
            </a:extLst>
          </p:cNvPr>
          <p:cNvSpPr/>
          <p:nvPr/>
        </p:nvSpPr>
        <p:spPr>
          <a:xfrm>
            <a:off x="4060272" y="204835"/>
            <a:ext cx="3238150" cy="638077"/>
          </a:xfrm>
          <a:prstGeom prst="doubleWave">
            <a:avLst>
              <a:gd name="adj1" fmla="val 6250"/>
              <a:gd name="adj2" fmla="val 25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TextBox 2">
            <a:extLst>
              <a:ext uri="{FF2B5EF4-FFF2-40B4-BE49-F238E27FC236}">
                <a16:creationId xmlns:a16="http://schemas.microsoft.com/office/drawing/2014/main" id="{0DA0B429-5B54-495C-4679-F2ADD8056487}"/>
              </a:ext>
            </a:extLst>
          </p:cNvPr>
          <p:cNvSpPr txBox="1"/>
          <p:nvPr/>
        </p:nvSpPr>
        <p:spPr>
          <a:xfrm>
            <a:off x="4290969" y="247651"/>
            <a:ext cx="2776756" cy="55399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ctr" defTabSz="456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3000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rPr>
              <a:t>错误案例示范</a:t>
            </a:r>
            <a:endParaRPr kumimoji="1" lang="zh-CN" altLang="en-US" sz="3000" b="0" i="0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B469E8B-3C9B-6EB2-F650-64753F2BB274}"/>
              </a:ext>
            </a:extLst>
          </p:cNvPr>
          <p:cNvSpPr/>
          <p:nvPr/>
        </p:nvSpPr>
        <p:spPr>
          <a:xfrm>
            <a:off x="713064" y="4236440"/>
            <a:ext cx="10419127" cy="46978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93610E4-F49E-CC34-EF0C-952A6B0DC2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6865" y="985431"/>
            <a:ext cx="5244601" cy="2866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792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_图片 480">
            <a:extLst>
              <a:ext uri="{FF2B5EF4-FFF2-40B4-BE49-F238E27FC236}">
                <a16:creationId xmlns:a16="http://schemas.microsoft.com/office/drawing/2014/main" id="{A5463A26-AA92-444A-2B64-4A2E0F2E3B6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699789" y="1082315"/>
            <a:ext cx="5597214" cy="245524"/>
          </a:xfrm>
          <a:prstGeom prst="rect">
            <a:avLst/>
          </a:prstGeom>
        </p:spPr>
      </p:pic>
      <p:pic>
        <p:nvPicPr>
          <p:cNvPr id="10" name="PA_图片 480">
            <a:extLst>
              <a:ext uri="{FF2B5EF4-FFF2-40B4-BE49-F238E27FC236}">
                <a16:creationId xmlns:a16="http://schemas.microsoft.com/office/drawing/2014/main" id="{A5A5C9E6-E930-F855-AA24-3FA8BC282E4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699789" y="1082315"/>
            <a:ext cx="5597214" cy="245524"/>
          </a:xfrm>
          <a:prstGeom prst="rect">
            <a:avLst/>
          </a:prstGeom>
        </p:spPr>
      </p:pic>
      <p:sp>
        <p:nvSpPr>
          <p:cNvPr id="11" name="双波形 10">
            <a:extLst>
              <a:ext uri="{FF2B5EF4-FFF2-40B4-BE49-F238E27FC236}">
                <a16:creationId xmlns:a16="http://schemas.microsoft.com/office/drawing/2014/main" id="{7F2E966B-B6FE-B08E-7CB2-22E10436BAF4}"/>
              </a:ext>
            </a:extLst>
          </p:cNvPr>
          <p:cNvSpPr/>
          <p:nvPr/>
        </p:nvSpPr>
        <p:spPr>
          <a:xfrm>
            <a:off x="4060272" y="204835"/>
            <a:ext cx="3238150" cy="638077"/>
          </a:xfrm>
          <a:prstGeom prst="doubleWave">
            <a:avLst>
              <a:gd name="adj1" fmla="val 6250"/>
              <a:gd name="adj2" fmla="val 25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9B58FF73-0ABA-294C-0D69-69A4F5258F7E}"/>
              </a:ext>
            </a:extLst>
          </p:cNvPr>
          <p:cNvSpPr txBox="1"/>
          <p:nvPr/>
        </p:nvSpPr>
        <p:spPr>
          <a:xfrm>
            <a:off x="4290969" y="247651"/>
            <a:ext cx="2776756" cy="55399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ctr" defTabSz="456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3000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rPr>
              <a:t>错误案例示范</a:t>
            </a:r>
            <a:endParaRPr kumimoji="1" lang="zh-CN" altLang="en-US" sz="3000" b="0" i="0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A918E4D-6795-DE4E-7500-3216EC4EEA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425" y="3510013"/>
            <a:ext cx="7791450" cy="328612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BAAF55D3-AA5C-50D0-FB91-F4B66B2653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739" y="801649"/>
            <a:ext cx="9700241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5422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2166395" y="1851950"/>
            <a:ext cx="785921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8000" b="1" dirty="0" smtClean="0">
                <a:latin typeface="360 守护体" panose="02000500000000000000" pitchFamily="50" charset="-122"/>
                <a:ea typeface="360 守护体" panose="02000500000000000000" pitchFamily="50" charset="-122"/>
              </a:rPr>
              <a:t>THANKS</a:t>
            </a:r>
          </a:p>
          <a:p>
            <a:pPr algn="ctr">
              <a:lnSpc>
                <a:spcPct val="150000"/>
              </a:lnSpc>
            </a:pPr>
            <a:r>
              <a:rPr lang="en-US" altLang="zh-CN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360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初级认证系列课程</a:t>
            </a:r>
            <a:endParaRPr lang="en-US" altLang="zh-CN" sz="3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6720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主题2">
  <a:themeElements>
    <a:clrScheme name="自定义 10">
      <a:dk1>
        <a:srgbClr val="101010"/>
      </a:dk1>
      <a:lt1>
        <a:srgbClr val="313131"/>
      </a:lt1>
      <a:dk2>
        <a:srgbClr val="FFFFFF"/>
      </a:dk2>
      <a:lt2>
        <a:srgbClr val="F2F5F6"/>
      </a:lt2>
      <a:accent1>
        <a:srgbClr val="122C86"/>
      </a:accent1>
      <a:accent2>
        <a:srgbClr val="274DA7"/>
      </a:accent2>
      <a:accent3>
        <a:srgbClr val="538C5B"/>
      </a:accent3>
      <a:accent4>
        <a:srgbClr val="4E81B6"/>
      </a:accent4>
      <a:accent5>
        <a:srgbClr val="FCD215"/>
      </a:accent5>
      <a:accent6>
        <a:srgbClr val="6F6F6F"/>
      </a:accent6>
      <a:hlink>
        <a:srgbClr val="9A9A9A"/>
      </a:hlink>
      <a:folHlink>
        <a:srgbClr val="BFBFBF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主题2" id="{801749B2-8974-BA48-B686-C0FD8AF8B896}" vid="{95F6C399-86C2-4F4C-8AD7-1C65633838BC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3xtgojfi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主题2</Template>
  <TotalTime>14462</TotalTime>
  <Words>7930</Words>
  <Application>Microsoft Office PowerPoint</Application>
  <PresentationFormat>宽屏</PresentationFormat>
  <Paragraphs>1145</Paragraphs>
  <Slides>33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50" baseType="lpstr">
      <vt:lpstr>360 守护体</vt:lpstr>
      <vt:lpstr>Microsoft Yahei</vt:lpstr>
      <vt:lpstr>OPPOSans B</vt:lpstr>
      <vt:lpstr>OPPOSans H</vt:lpstr>
      <vt:lpstr>OPPOSans M</vt:lpstr>
      <vt:lpstr>Poppins Light</vt:lpstr>
      <vt:lpstr>等线</vt:lpstr>
      <vt:lpstr>方正兰亭粗黑简体</vt:lpstr>
      <vt:lpstr>宋体</vt:lpstr>
      <vt:lpstr>微软雅黑</vt:lpstr>
      <vt:lpstr>Arial</vt:lpstr>
      <vt:lpstr>Calibri</vt:lpstr>
      <vt:lpstr>Tahoma</vt:lpstr>
      <vt:lpstr>Times New Roman</vt:lpstr>
      <vt:lpstr>Wingdings</vt:lpstr>
      <vt:lpstr>主题2</vt:lpstr>
      <vt:lpstr>1_Office 主题​​</vt:lpstr>
      <vt:lpstr>PowerPoint 演示文稿</vt:lpstr>
      <vt:lpstr>PowerPoint 演示文稿</vt:lpstr>
      <vt:lpstr>PowerPoint 演示文稿</vt:lpstr>
      <vt:lpstr>非常规需求  行业热词/高转化词</vt:lpstr>
      <vt:lpstr>非常规需求—360分析/API支持/其他</vt:lpstr>
      <vt:lpstr>开通类—常规开通—超级账户</vt:lpstr>
      <vt:lpstr>下线类—常规样式下线—智能子链/标题扩展/问答样式</vt:lpstr>
      <vt:lpstr>下线类—特殊样式下线</vt:lpstr>
      <vt:lpstr>PowerPoint 演示文稿</vt:lpstr>
      <vt:lpstr>PowerPoint 演示文稿</vt:lpstr>
      <vt:lpstr>数据异常—展现异常/点击异常/匹配异常/报表异常/消费超投/非投放地域异常</vt:lpstr>
      <vt:lpstr>数据异常—展现异常/点击异常/匹配异常/报表异常/消费超投/非投放地域异常</vt:lpstr>
      <vt:lpstr>数据异常—IP异常/CPC异常</vt:lpstr>
      <vt:lpstr>搜索CPC-效果问题 ---CPC投放关键词效果突降</vt:lpstr>
      <vt:lpstr>搜索oCPC-数据清洗/转化数据不一致/强制学习成功/ocpc扩触发</vt:lpstr>
      <vt:lpstr>搜索oCPC-数据清洗/转化数据不一致/强制学习成功/ocpc扩触发</vt:lpstr>
      <vt:lpstr>搜索oCPC-效果问题 --- oCPC学习成功阶段展点消突增/突降</vt:lpstr>
      <vt:lpstr>搜索oCPC-效果问题 oCPC学习成功阶段超目标成本1.2倍</vt:lpstr>
      <vt:lpstr>搜索oCPC-效果问题 --- oCPC学习成功阶段浅层转化正常，深层效果突降（如后端无效多）</vt:lpstr>
      <vt:lpstr>PowerPoint 演示文稿</vt:lpstr>
      <vt:lpstr>PowerPoint 演示文稿</vt:lpstr>
      <vt:lpstr>消费异常—消费慢/无消费/消费快/超投问题</vt:lpstr>
      <vt:lpstr>展示常规支持—解除熔断/账户专属人群包</vt:lpstr>
      <vt:lpstr>展示常规支持—人群包共享/人群包定制/媒体包</vt:lpstr>
      <vt:lpstr>展示常规支持—模型复制/oCPX数据清洗</vt:lpstr>
      <vt:lpstr>展示效果问题---oCPX二阶超目标成本1.5倍</vt:lpstr>
      <vt:lpstr>展示效果问题---oCPX二阶展点消突升/突降</vt:lpstr>
      <vt:lpstr>展示效果问题---oCPX二阶浅层转化正常，深层效果突降(如无效增多等)</vt:lpstr>
      <vt:lpstr>展示效果问题---展示广告-非oCPX（CPM投放）效果突降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芝士PPT</dc:creator>
  <cp:keywords/>
  <dc:description/>
  <cp:lastModifiedBy>刘佳文</cp:lastModifiedBy>
  <cp:revision>456</cp:revision>
  <dcterms:created xsi:type="dcterms:W3CDTF">2023-11-19T03:41:19Z</dcterms:created>
  <dcterms:modified xsi:type="dcterms:W3CDTF">2025-06-11T02:40:54Z</dcterms:modified>
  <cp:category/>
</cp:coreProperties>
</file>